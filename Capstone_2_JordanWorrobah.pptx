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70" r:id="rId6"/>
    <p:sldId id="262" r:id="rId7"/>
    <p:sldId id="269" r:id="rId8"/>
    <p:sldId id="268" r:id="rId9"/>
    <p:sldId id="263" r:id="rId10"/>
    <p:sldId id="271" r:id="rId11"/>
    <p:sldId id="266" r:id="rId12"/>
    <p:sldId id="261" r:id="rId13"/>
    <p:sldId id="265" r:id="rId14"/>
    <p:sldId id="272"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D4BF"/>
    <a:srgbClr val="F6C343"/>
    <a:srgbClr val="0B1730"/>
    <a:srgbClr val="141E30"/>
    <a:srgbClr val="5B9BD5"/>
    <a:srgbClr val="70AD47"/>
    <a:srgbClr val="22C5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6" autoAdjust="0"/>
  </p:normalViewPr>
  <p:slideViewPr>
    <p:cSldViewPr snapToGrid="0">
      <p:cViewPr varScale="1">
        <p:scale>
          <a:sx n="139" d="100"/>
          <a:sy n="139" d="100"/>
        </p:scale>
        <p:origin x="84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strCache>
            </c:strRef>
          </c:tx>
          <c:spPr>
            <a:effectLst/>
          </c:spPr>
          <c:dPt>
            <c:idx val="0"/>
            <c:bubble3D val="0"/>
            <c:spPr>
              <a:solidFill>
                <a:schemeClr val="accent6"/>
              </a:solidFill>
              <a:ln>
                <a:noFill/>
              </a:ln>
              <a:effectLst/>
            </c:spPr>
            <c:extLst>
              <c:ext xmlns:c16="http://schemas.microsoft.com/office/drawing/2014/chart" uri="{C3380CC4-5D6E-409C-BE32-E72D297353CC}">
                <c16:uniqueId val="{00000001-E49F-4744-84AB-71D0BB4F59FA}"/>
              </c:ext>
            </c:extLst>
          </c:dPt>
          <c:dPt>
            <c:idx val="1"/>
            <c:bubble3D val="0"/>
            <c:spPr>
              <a:solidFill>
                <a:schemeClr val="accent5"/>
              </a:solidFill>
              <a:ln>
                <a:noFill/>
              </a:ln>
              <a:effectLst/>
            </c:spPr>
            <c:extLst>
              <c:ext xmlns:c16="http://schemas.microsoft.com/office/drawing/2014/chart" uri="{C3380CC4-5D6E-409C-BE32-E72D297353CC}">
                <c16:uniqueId val="{00000003-E49F-4744-84AB-71D0BB4F59FA}"/>
              </c:ext>
            </c:extLst>
          </c:dPt>
          <c:cat>
            <c:strRef>
              <c:f>Sheet1!$A$2:$A$3</c:f>
              <c:strCache>
                <c:ptCount val="2"/>
                <c:pt idx="0">
                  <c:v>Non-Rewards Customer</c:v>
                </c:pt>
                <c:pt idx="1">
                  <c:v>Rewards Customer</c:v>
                </c:pt>
              </c:strCache>
            </c:strRef>
          </c:cat>
          <c:val>
            <c:numRef>
              <c:f>Sheet1!$B$2:$B$3</c:f>
              <c:numCache>
                <c:formatCode>General</c:formatCode>
                <c:ptCount val="2"/>
                <c:pt idx="0">
                  <c:v>311172</c:v>
                </c:pt>
                <c:pt idx="1">
                  <c:v>36192</c:v>
                </c:pt>
              </c:numCache>
            </c:numRef>
          </c:val>
          <c:extLst>
            <c:ext xmlns:c16="http://schemas.microsoft.com/office/drawing/2014/chart" uri="{C3380CC4-5D6E-409C-BE32-E72D297353CC}">
              <c16:uniqueId val="{00000004-E49F-4744-84AB-71D0BB4F59FA}"/>
            </c:ext>
          </c:extLst>
        </c:ser>
        <c:dLbls>
          <c:showLegendKey val="0"/>
          <c:showVal val="0"/>
          <c:showCatName val="0"/>
          <c:showSerName val="0"/>
          <c:showPercent val="0"/>
          <c:showBubbleSize val="0"/>
          <c:showLeaderLines val="1"/>
        </c:dLbls>
        <c:firstSliceAng val="0"/>
        <c:holeSize val="50"/>
      </c:doughnutChart>
      <c:spPr>
        <a:solidFill>
          <a:srgbClr val="1E2D44"/>
        </a:solidFill>
        <a:ln>
          <a:noFill/>
        </a:ln>
        <a:effectLst/>
      </c:spPr>
    </c:plotArea>
    <c:legend>
      <c:legendPos val="r"/>
      <c:legendEntry>
        <c:idx val="0"/>
        <c:txPr>
          <a:bodyPr rot="0" spcFirstLastPara="1" vertOverflow="ellipsis" vert="horz" wrap="square" anchor="ctr" anchorCtr="1"/>
          <a:lstStyle/>
          <a:p>
            <a:pPr>
              <a:defRPr sz="1000" b="0" i="0" u="none" strike="noStrike" kern="1200" baseline="0">
                <a:solidFill>
                  <a:srgbClr val="70AD47"/>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ln>
                  <a:noFill/>
                </a:ln>
                <a:solidFill>
                  <a:srgbClr val="5B9BD5"/>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span"/>
    <c:showDLblsOverMax val="1"/>
  </c:chart>
  <c:spPr>
    <a:solidFill>
      <a:srgbClr val="1E2D44"/>
    </a:solidFill>
    <a:ln w="6350" cap="flat" cmpd="sng" algn="ctr">
      <a:noFill/>
      <a:prstDash val="solid"/>
      <a:miter lim="800000"/>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baseline="0">
                <a:solidFill>
                  <a:srgbClr val="CBD5E1"/>
                </a:solidFill>
                <a:latin typeface="Arial"/>
                <a:ea typeface="+mn-ea"/>
                <a:cs typeface="+mn-cs"/>
              </a:defRPr>
            </a:pPr>
            <a:r>
              <a:rPr lang="en-US" sz="1100" b="0" i="0" u="none" strike="noStrike" baseline="0" dirty="0"/>
              <a:t>Rewards Participation</a:t>
            </a:r>
            <a:endParaRPr lang="en-US" sz="1100" b="0" i="0" u="none" strike="noStrike" dirty="0">
              <a:solidFill>
                <a:srgbClr val="CBD5E1"/>
              </a:solidFill>
              <a:latin typeface="Arial"/>
            </a:endParaRPr>
          </a:p>
        </c:rich>
      </c:tx>
      <c:overlay val="0"/>
      <c:spPr>
        <a:noFill/>
        <a:ln>
          <a:noFill/>
        </a:ln>
        <a:effectLst/>
      </c:spPr>
      <c:txPr>
        <a:bodyPr rot="0" spcFirstLastPara="1" vertOverflow="ellipsis" vert="horz" wrap="square" anchor="ctr" anchorCtr="1"/>
        <a:lstStyle/>
        <a:p>
          <a:pPr>
            <a:defRPr sz="1100" b="0" i="0" u="none" strike="noStrike" kern="1200" baseline="0">
              <a:solidFill>
                <a:srgbClr val="CBD5E1"/>
              </a:solidFill>
              <a:latin typeface="Arial"/>
              <a:ea typeface="+mn-ea"/>
              <a:cs typeface="+mn-cs"/>
            </a:defRPr>
          </a:pPr>
          <a:endParaRPr lang="en-US"/>
        </a:p>
      </c:txPr>
    </c:title>
    <c:autoTitleDeleted val="0"/>
    <c:plotArea>
      <c:layout/>
      <c:doughnutChart>
        <c:varyColors val="1"/>
        <c:ser>
          <c:idx val="0"/>
          <c:order val="0"/>
          <c:tx>
            <c:strRef>
              <c:f>Sheet1!$B$1</c:f>
              <c:strCache>
                <c:ptCount val="1"/>
              </c:strCache>
            </c:strRef>
          </c:tx>
          <c:spPr>
            <a:effectLst/>
          </c:spPr>
          <c:dPt>
            <c:idx val="0"/>
            <c:bubble3D val="0"/>
            <c:spPr>
              <a:solidFill>
                <a:schemeClr val="accent6"/>
              </a:solidFill>
              <a:ln>
                <a:noFill/>
              </a:ln>
              <a:effectLst/>
            </c:spPr>
            <c:extLst>
              <c:ext xmlns:c16="http://schemas.microsoft.com/office/drawing/2014/chart" uri="{C3380CC4-5D6E-409C-BE32-E72D297353CC}">
                <c16:uniqueId val="{00000001-9B1D-42A1-A17F-AE7817B418C5}"/>
              </c:ext>
            </c:extLst>
          </c:dPt>
          <c:dPt>
            <c:idx val="1"/>
            <c:bubble3D val="0"/>
            <c:spPr>
              <a:solidFill>
                <a:schemeClr val="accent5"/>
              </a:solidFill>
              <a:ln>
                <a:noFill/>
              </a:ln>
              <a:effectLst/>
            </c:spPr>
            <c:extLst>
              <c:ext xmlns:c16="http://schemas.microsoft.com/office/drawing/2014/chart" uri="{C3380CC4-5D6E-409C-BE32-E72D297353CC}">
                <c16:uniqueId val="{00000003-9B1D-42A1-A17F-AE7817B418C5}"/>
              </c:ext>
            </c:extLst>
          </c:dPt>
          <c:cat>
            <c:strRef>
              <c:f>Sheet1!$A$2:$A$3</c:f>
              <c:strCache>
                <c:ptCount val="2"/>
                <c:pt idx="0">
                  <c:v>Non-Rewards Customer</c:v>
                </c:pt>
                <c:pt idx="1">
                  <c:v>Rewards Customer</c:v>
                </c:pt>
              </c:strCache>
            </c:strRef>
          </c:cat>
          <c:val>
            <c:numRef>
              <c:f>Sheet1!$B$2:$B$3</c:f>
              <c:numCache>
                <c:formatCode>General</c:formatCode>
                <c:ptCount val="2"/>
                <c:pt idx="0">
                  <c:v>311172</c:v>
                </c:pt>
                <c:pt idx="1">
                  <c:v>36192</c:v>
                </c:pt>
              </c:numCache>
            </c:numRef>
          </c:val>
          <c:extLst>
            <c:ext xmlns:c16="http://schemas.microsoft.com/office/drawing/2014/chart" uri="{C3380CC4-5D6E-409C-BE32-E72D297353CC}">
              <c16:uniqueId val="{00000004-9B1D-42A1-A17F-AE7817B418C5}"/>
            </c:ext>
          </c:extLst>
        </c:ser>
        <c:dLbls>
          <c:showLegendKey val="0"/>
          <c:showVal val="0"/>
          <c:showCatName val="0"/>
          <c:showSerName val="0"/>
          <c:showPercent val="0"/>
          <c:showBubbleSize val="0"/>
          <c:showLeaderLines val="1"/>
        </c:dLbls>
        <c:firstSliceAng val="0"/>
        <c:holeSize val="50"/>
      </c:doughnutChart>
      <c:spPr>
        <a:solidFill>
          <a:srgbClr val="1E2D44"/>
        </a:solidFill>
        <a:ln>
          <a:noFill/>
        </a:ln>
        <a:effectLst/>
      </c:spPr>
    </c:plotArea>
    <c:legend>
      <c:legendPos val="r"/>
      <c:legendEntry>
        <c:idx val="0"/>
        <c:txPr>
          <a:bodyPr rot="0" spcFirstLastPara="1" vertOverflow="ellipsis" vert="horz" wrap="square" anchor="ctr" anchorCtr="1"/>
          <a:lstStyle/>
          <a:p>
            <a:pPr>
              <a:defRPr sz="1000" b="0" i="0" u="none" strike="noStrike" kern="1200" baseline="0">
                <a:solidFill>
                  <a:srgbClr val="70AD47"/>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ln>
                  <a:noFill/>
                </a:ln>
                <a:solidFill>
                  <a:srgbClr val="5B9BD5"/>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span"/>
    <c:showDLblsOverMax val="1"/>
  </c:chart>
  <c:spPr>
    <a:solidFill>
      <a:srgbClr val="1E2D44"/>
    </a:solidFill>
    <a:ln w="6350" cap="flat" cmpd="sng" algn="ctr">
      <a:noFill/>
      <a:prstDash val="solid"/>
      <a:miter lim="800000"/>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Good afternoon everyone. My name is Jordan Worrobah, and today I'll be presenting my </a:t>
            </a:r>
            <a:r>
              <a:rPr lang="en-US" dirty="0" err="1"/>
              <a:t>EmporiUm</a:t>
            </a:r>
            <a:r>
              <a:rPr lang="en-US" dirty="0"/>
              <a:t> Sales Analysis project. The goal of this analysis was to evaluate sales performance, customer behavior, and product trends across the Colorado and Florida territories to identify marketing opportunities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I'll briefly cover the project overview, data preparation, key sales insights, customer and product analysis, my dashboard, and finally my marketing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For this project, I analyzed five datasets including customer, product, store, and sales information. Using Python, Pandas, NumPy, and Matplotlib, I combined these datasets to identify trends in revenue, customer behavior, and product performance. The two territories analyzed were Colorado and Florida.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Before analysis, the data needed to be cleaned and integrated. I removed duplicates, checked for missing values, standardized formats, converted date fields, and merged multiple datasets into a single analytical dataset. This allowed me to create revenue trends, customer insights, and product performance reports.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Colorado outperformed Florida in total revenue, generating $6.4 million compared to Florida's $3.9 million. Technology and Accessories was the top category in both territories. Colorado's highest-performing store generated $900,000 in revenue, while Florida's top store generated $623,000. These results suggest stronger overall performance in Colorado while both territories benefited from strong technology sales.</a:t>
            </a:r>
          </a:p>
        </p:txBody>
      </p:sp>
      <p:sp>
        <p:nvSpPr>
          <p:cNvPr id="4" name="Slide Number Placeholder 3"/>
          <p:cNvSpPr>
            <a:spLocks noGrp="1"/>
          </p:cNvSpPr>
          <p:nvPr>
            <p:ph type="sldNum" sz="quarter" idx="5"/>
          </p:nvPr>
        </p:nvSpPr>
        <p:spPr/>
        <p:txBody>
          <a:bodyPr/>
          <a:lstStyle/>
          <a:p>
            <a:fld id="{CE5E9CC1-C706-0F49-92D6-E571CC5EEA8F}" type="slidenum">
              <a:rPr lang="en-US" smtClean="0"/>
              <a:t>5</a:t>
            </a:fld>
            <a:endParaRPr lang="en-US"/>
          </a:p>
        </p:txBody>
      </p:sp>
    </p:spTree>
    <p:extLst>
      <p:ext uri="{BB962C8B-B14F-4D97-AF65-F5344CB8AC3E}">
        <p14:creationId xmlns:p14="http://schemas.microsoft.com/office/powerpoint/2010/main" val="1929127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Looking at revenue trends over time, both territories showed consistent growth from 2022 through 2025. The most significant spikes occurred during the holiday shopping season, particularly in October through December. This suggests that seasonal demand plays a major role in driving revenue and supports the need for earlier holiday marketing campaigns.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F4BE1-22C2-7370-6E05-F3CF4B62D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AA760-A3AE-C0EA-1DDB-10F0D5132C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A61B886-D54D-05FF-FDF8-18704535D799}"/>
              </a:ext>
            </a:extLst>
          </p:cNvPr>
          <p:cNvSpPr>
            <a:spLocks noGrp="1"/>
          </p:cNvSpPr>
          <p:nvPr>
            <p:ph type="body" idx="1"/>
          </p:nvPr>
        </p:nvSpPr>
        <p:spPr/>
        <p:txBody>
          <a:bodyPr/>
          <a:lstStyle/>
          <a:p>
            <a:r>
              <a:rPr lang="en-US" dirty="0"/>
              <a:t>Looking at revenue trends over time, both territories showed consistent growth from 2022 through 2025. The most significant spikes occurred during the holiday shopping season, particularly in October through December. This suggests that seasonal demand plays a major role in driving revenue and supports the need for earlier holiday marketing campaigns.</a:t>
            </a:r>
          </a:p>
        </p:txBody>
      </p:sp>
      <p:sp>
        <p:nvSpPr>
          <p:cNvPr id="4" name="Slide Number Placeholder 3">
            <a:extLst>
              <a:ext uri="{FF2B5EF4-FFF2-40B4-BE49-F238E27FC236}">
                <a16:creationId xmlns:a16="http://schemas.microsoft.com/office/drawing/2014/main" id="{149463B8-20BD-5262-A9A2-DAF10C66A14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08727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ranking stores by revenue, Denver was the top-performing store overall. Colorado contained two of the top three stores in the analysis. Florida remained competitive with multiple high-performing locations, but Colorado generated stronger overall territory performance.</a:t>
            </a:r>
          </a:p>
        </p:txBody>
      </p:sp>
      <p:sp>
        <p:nvSpPr>
          <p:cNvPr id="4" name="Slide Number Placeholder 3"/>
          <p:cNvSpPr>
            <a:spLocks noGrp="1"/>
          </p:cNvSpPr>
          <p:nvPr>
            <p:ph type="sldNum" sz="quarter" idx="5"/>
          </p:nvPr>
        </p:nvSpPr>
        <p:spPr/>
        <p:txBody>
          <a:bodyPr/>
          <a:lstStyle/>
          <a:p>
            <a:fld id="{CE5E9CC1-C706-0F49-92D6-E571CC5EEA8F}" type="slidenum">
              <a:rPr lang="en-US" smtClean="0"/>
              <a:t>8</a:t>
            </a:fld>
            <a:endParaRPr lang="en-US"/>
          </a:p>
        </p:txBody>
      </p:sp>
    </p:spTree>
    <p:extLst>
      <p:ext uri="{BB962C8B-B14F-4D97-AF65-F5344CB8AC3E}">
        <p14:creationId xmlns:p14="http://schemas.microsoft.com/office/powerpoint/2010/main" val="4290919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Technology and Accessories was the dominant product category, generating more than $31.9 million in revenue. Lower-performing categories such as Stationery, Books, and Art Supplies contributed significantly less revenue. This creates an opportunity to use promotions, bundles, and rewards incentives to increase sales in those categories.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analysis revealed that only 10.4% of transactions were tied to rewards members. Interestingly, rewards customers and non-rewards customers spent almost the same amount per transaction, around $133 and $131 respectively. This suggests the biggest opportunity is not increasing spending per purchase, but increasing rewards program participation.</a:t>
            </a:r>
          </a:p>
        </p:txBody>
      </p:sp>
      <p:sp>
        <p:nvSpPr>
          <p:cNvPr id="4" name="Slide Number Placeholder 3"/>
          <p:cNvSpPr>
            <a:spLocks noGrp="1"/>
          </p:cNvSpPr>
          <p:nvPr>
            <p:ph type="sldNum" sz="quarter" idx="5"/>
          </p:nvPr>
        </p:nvSpPr>
        <p:spPr/>
        <p:txBody>
          <a:bodyPr/>
          <a:lstStyle/>
          <a:p>
            <a:fld id="{CE5E9CC1-C706-0F49-92D6-E571CC5EEA8F}" type="slidenum">
              <a:rPr lang="en-US" smtClean="0"/>
              <a:t>10</a:t>
            </a:fld>
            <a:endParaRPr lang="en-US"/>
          </a:p>
        </p:txBody>
      </p:sp>
    </p:spTree>
    <p:extLst>
      <p:ext uri="{BB962C8B-B14F-4D97-AF65-F5344CB8AC3E}">
        <p14:creationId xmlns:p14="http://schemas.microsoft.com/office/powerpoint/2010/main" val="428358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summarizes the key findings from the analysis. It highlights total revenue of $45.2 million, more than 347,000 transactions, Colorado as the top territory, Technology and Accessories as the leading category, and the opportunity to expand rewards enrollment</a:t>
            </a:r>
          </a:p>
        </p:txBody>
      </p:sp>
      <p:sp>
        <p:nvSpPr>
          <p:cNvPr id="4" name="Slide Number Placeholder 3"/>
          <p:cNvSpPr>
            <a:spLocks noGrp="1"/>
          </p:cNvSpPr>
          <p:nvPr>
            <p:ph type="sldNum" sz="quarter" idx="5"/>
          </p:nvPr>
        </p:nvSpPr>
        <p:spPr/>
        <p:txBody>
          <a:bodyPr/>
          <a:lstStyle/>
          <a:p>
            <a:fld id="{CE5E9CC1-C706-0F49-92D6-E571CC5EEA8F}" type="slidenum">
              <a:rPr lang="en-US" smtClean="0"/>
              <a:t>11</a:t>
            </a:fld>
            <a:endParaRPr lang="en-US"/>
          </a:p>
        </p:txBody>
      </p:sp>
    </p:spTree>
    <p:extLst>
      <p:ext uri="{BB962C8B-B14F-4D97-AF65-F5344CB8AC3E}">
        <p14:creationId xmlns:p14="http://schemas.microsoft.com/office/powerpoint/2010/main" val="1448781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Based on the analysis, I recommend focusing on four areas. First, promote Technology and Accessories before holiday shopping periods. Second, expand rewards enrollment to improve customer retention. Third, use customer data to target high-value shoppers with personalized offers. Finally, support lower-performing categories through promotions, bundles, and rewards incentives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conclude, the analysis showed that Colorado led overall revenue performance, Technology and Accessories dominated sales, holiday periods generated the strongest revenue growth, and the rewards program presents a significant opportunity for expansion. By focusing marketing efforts in these areas, </a:t>
            </a:r>
            <a:r>
              <a:rPr lang="en-US" dirty="0" err="1"/>
              <a:t>EmporiUm</a:t>
            </a:r>
            <a:r>
              <a:rPr lang="en-US" dirty="0"/>
              <a:t> can improve both customer retention and future revenue growth. Thank you, and I'm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6.pn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7.png"/><Relationship Id="rId7"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8.png"/><Relationship Id="rId7" Type="http://schemas.openxmlformats.org/officeDocument/2006/relationships/image" Target="../media/image12.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15.svg"/></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9.png"/><Relationship Id="rId7" Type="http://schemas.openxmlformats.org/officeDocument/2006/relationships/image" Target="../media/image5.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10.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chart" Target="../charts/chart1.xml"/><Relationship Id="rId7" Type="http://schemas.openxmlformats.org/officeDocument/2006/relationships/image" Target="../media/image12.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1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0.png"/><Relationship Id="rId7" Type="http://schemas.openxmlformats.org/officeDocument/2006/relationships/image" Target="../media/image11.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svg"/><Relationship Id="rId4" Type="http://schemas.openxmlformats.org/officeDocument/2006/relationships/chart" Target="../charts/chart2.xml"/><Relationship Id="rId9" Type="http://schemas.openxmlformats.org/officeDocument/2006/relationships/image" Target="../media/image13.svg"/></Relationships>
</file>

<file path=ppt/slides/_rels/slide12.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15.svg"/><Relationship Id="rId3" Type="http://schemas.openxmlformats.org/officeDocument/2006/relationships/image" Target="../media/image21.svg"/><Relationship Id="rId7" Type="http://schemas.openxmlformats.org/officeDocument/2006/relationships/image" Target="../media/image9.svg"/><Relationship Id="rId12" Type="http://schemas.openxmlformats.org/officeDocument/2006/relationships/image" Target="../media/image14.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svg"/><Relationship Id="rId11" Type="http://schemas.openxmlformats.org/officeDocument/2006/relationships/image" Target="../media/image13.svg"/><Relationship Id="rId5" Type="http://schemas.openxmlformats.org/officeDocument/2006/relationships/image" Target="../media/image23.png"/><Relationship Id="rId10" Type="http://schemas.openxmlformats.org/officeDocument/2006/relationships/image" Target="../media/image12.svg"/><Relationship Id="rId4" Type="http://schemas.openxmlformats.org/officeDocument/2006/relationships/image" Target="../media/image22.png"/><Relationship Id="rId9" Type="http://schemas.openxmlformats.org/officeDocument/2006/relationships/image" Target="../media/image11.svg"/></Relationships>
</file>

<file path=ppt/slides/_rels/slide1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25.png"/><Relationship Id="rId7" Type="http://schemas.openxmlformats.org/officeDocument/2006/relationships/image" Target="../media/image12.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2.svg"/><Relationship Id="rId9" Type="http://schemas.openxmlformats.org/officeDocument/2006/relationships/image" Target="../media/image14.svg"/></Relationships>
</file>

<file path=ppt/slides/_rels/slide14.xml.rels><?xml version="1.0" encoding="UTF-8" standalone="yes"?>
<Relationships xmlns="http://schemas.openxmlformats.org/package/2006/relationships"><Relationship Id="rId2" Type="http://schemas.openxmlformats.org/officeDocument/2006/relationships/hyperlink" Target="https://www.linkedin.com/in/jordan-worrobah-462786223/"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E30"/>
        </a:solidFill>
        <a:effectLst/>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2DD4BF">
              <a:alpha val="8000"/>
            </a:srgbClr>
          </a:solidFill>
          <a:ln/>
        </p:spPr>
        <p:txBody>
          <a:bodyPr/>
          <a:lstStyle/>
          <a:p>
            <a:endParaRPr lang="en-US"/>
          </a:p>
        </p:txBody>
      </p:sp>
      <p:sp>
        <p:nvSpPr>
          <p:cNvPr id="3" name="Shape 1"/>
          <p:cNvSpPr/>
          <p:nvPr/>
        </p:nvSpPr>
        <p:spPr>
          <a:xfrm>
            <a:off x="6858000" y="2286000"/>
            <a:ext cx="3657600" cy="3657600"/>
          </a:xfrm>
          <a:prstGeom prst="ellipse">
            <a:avLst/>
          </a:prstGeom>
          <a:solidFill>
            <a:srgbClr val="F6C343">
              <a:alpha val="6000"/>
            </a:srgbClr>
          </a:solidFill>
          <a:ln/>
        </p:spPr>
        <p:txBody>
          <a:bodyPr/>
          <a:lstStyle/>
          <a:p>
            <a:endParaRPr lang="en-US"/>
          </a:p>
        </p:txBody>
      </p:sp>
      <p:sp>
        <p:nvSpPr>
          <p:cNvPr id="4" name="Text 2"/>
          <p:cNvSpPr/>
          <p:nvPr/>
        </p:nvSpPr>
        <p:spPr>
          <a:xfrm>
            <a:off x="731520" y="914400"/>
            <a:ext cx="6400800" cy="2011680"/>
          </a:xfrm>
          <a:prstGeom prst="rect">
            <a:avLst/>
          </a:prstGeom>
          <a:noFill/>
          <a:ln/>
        </p:spPr>
        <p:txBody>
          <a:bodyPr wrap="square" lIns="0" tIns="0" rIns="0" bIns="0" rtlCol="0" anchor="ctr"/>
          <a:lstStyle/>
          <a:p>
            <a:pPr marL="0" indent="0">
              <a:lnSpc>
                <a:spcPct val="110000"/>
              </a:lnSpc>
              <a:buNone/>
            </a:pPr>
            <a:r>
              <a:rPr lang="en-US" sz="4400" b="1" dirty="0" err="1">
                <a:solidFill>
                  <a:srgbClr val="FFFFFF"/>
                </a:solidFill>
                <a:latin typeface="Trebuchet MS" pitchFamily="34" charset="0"/>
                <a:ea typeface="Trebuchet MS" pitchFamily="34" charset="-122"/>
                <a:cs typeface="Trebuchet MS" pitchFamily="34" charset="-120"/>
              </a:rPr>
              <a:t>EmporiUm</a:t>
            </a:r>
            <a:r>
              <a:rPr lang="en-US" sz="4400" b="1" dirty="0">
                <a:solidFill>
                  <a:srgbClr val="FFFFFF"/>
                </a:solidFill>
                <a:latin typeface="Trebuchet MS" pitchFamily="34" charset="0"/>
                <a:ea typeface="Trebuchet MS" pitchFamily="34" charset="-122"/>
                <a:cs typeface="Trebuchet MS" pitchFamily="34" charset="-120"/>
              </a:rPr>
              <a:t> </a:t>
            </a:r>
          </a:p>
          <a:p>
            <a:pPr marL="0" indent="0">
              <a:lnSpc>
                <a:spcPct val="110000"/>
              </a:lnSpc>
              <a:buNone/>
            </a:pPr>
            <a:r>
              <a:rPr lang="en-US" sz="4400" b="1" dirty="0">
                <a:solidFill>
                  <a:srgbClr val="FFFFFF"/>
                </a:solidFill>
                <a:latin typeface="Trebuchet MS" pitchFamily="34" charset="0"/>
                <a:ea typeface="Trebuchet MS" pitchFamily="34" charset="-122"/>
                <a:cs typeface="Trebuchet MS" pitchFamily="34" charset="-120"/>
              </a:rPr>
              <a:t>Analysis</a:t>
            </a:r>
            <a:endParaRPr lang="en-US" sz="4400" dirty="0"/>
          </a:p>
        </p:txBody>
      </p:sp>
      <p:sp>
        <p:nvSpPr>
          <p:cNvPr id="5" name="Text 3"/>
          <p:cNvSpPr/>
          <p:nvPr/>
        </p:nvSpPr>
        <p:spPr>
          <a:xfrm>
            <a:off x="731520" y="2926080"/>
            <a:ext cx="5943600" cy="457200"/>
          </a:xfrm>
          <a:prstGeom prst="rect">
            <a:avLst/>
          </a:prstGeom>
          <a:noFill/>
          <a:ln/>
        </p:spPr>
        <p:txBody>
          <a:bodyPr wrap="square" lIns="0" tIns="0" rIns="0" bIns="0" rtlCol="0" anchor="ctr"/>
          <a:lstStyle/>
          <a:p>
            <a:pPr marL="0" indent="0">
              <a:buNone/>
            </a:pPr>
            <a:r>
              <a:rPr lang="en-US" sz="1600" b="1" dirty="0">
                <a:solidFill>
                  <a:srgbClr val="2DD4BF"/>
                </a:solidFill>
                <a:latin typeface="Calibri" pitchFamily="34" charset="0"/>
                <a:ea typeface="Calibri" pitchFamily="34" charset="-122"/>
                <a:cs typeface="Calibri" pitchFamily="34" charset="-120"/>
              </a:rPr>
              <a:t>By Jordan Worrobah</a:t>
            </a:r>
          </a:p>
          <a:p>
            <a:pPr marL="0" indent="0">
              <a:buNone/>
            </a:pPr>
            <a:r>
              <a:rPr lang="en-US" sz="1200" dirty="0">
                <a:solidFill>
                  <a:srgbClr val="2DD4BF"/>
                </a:solidFill>
              </a:rPr>
              <a:t>Year Up United Data Analytics Academy</a:t>
            </a:r>
          </a:p>
        </p:txBody>
      </p:sp>
      <p:sp>
        <p:nvSpPr>
          <p:cNvPr id="6" name="Shape 4"/>
          <p:cNvSpPr/>
          <p:nvPr/>
        </p:nvSpPr>
        <p:spPr>
          <a:xfrm>
            <a:off x="731520" y="3520440"/>
            <a:ext cx="2286000" cy="36576"/>
          </a:xfrm>
          <a:prstGeom prst="rect">
            <a:avLst/>
          </a:prstGeom>
          <a:solidFill>
            <a:srgbClr val="2DD4BF"/>
          </a:solidFill>
          <a:ln/>
        </p:spPr>
        <p:txBody>
          <a:bodyPr/>
          <a:lstStyle/>
          <a:p>
            <a:endParaRPr lang="en-US"/>
          </a:p>
        </p:txBody>
      </p:sp>
      <p:sp>
        <p:nvSpPr>
          <p:cNvPr id="7" name="Text 5"/>
          <p:cNvSpPr/>
          <p:nvPr/>
        </p:nvSpPr>
        <p:spPr>
          <a:xfrm>
            <a:off x="731520" y="3749040"/>
            <a:ext cx="4572000" cy="365760"/>
          </a:xfrm>
          <a:prstGeom prst="rect">
            <a:avLst/>
          </a:prstGeom>
          <a:noFill/>
          <a:ln/>
        </p:spPr>
        <p:txBody>
          <a:bodyPr wrap="square" lIns="0" tIns="0" rIns="0" bIns="0" rtlCol="0" anchor="ctr"/>
          <a:lstStyle/>
          <a:p>
            <a:pPr marL="0" indent="0">
              <a:buNone/>
            </a:pPr>
            <a:r>
              <a:rPr lang="en-US" sz="1200" dirty="0">
                <a:solidFill>
                  <a:srgbClr val="8B9CB6"/>
                </a:solidFill>
                <a:latin typeface="Calibri" pitchFamily="34" charset="0"/>
                <a:ea typeface="Calibri" pitchFamily="34" charset="-122"/>
                <a:cs typeface="Calibri" pitchFamily="34" charset="-120"/>
              </a:rPr>
              <a:t>May 2026  |  Internal Sales Analysis</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6977906" y="2916381"/>
            <a:ext cx="1680428"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Trebuchet MS" pitchFamily="34" charset="0"/>
                <a:ea typeface="Trebuchet MS" pitchFamily="34" charset="-122"/>
                <a:cs typeface="Trebuchet MS" pitchFamily="34" charset="-120"/>
              </a:rPr>
              <a:t>Agenda</a:t>
            </a:r>
            <a:endParaRPr lang="en-US" sz="3600" dirty="0"/>
          </a:p>
        </p:txBody>
      </p:sp>
      <p:sp>
        <p:nvSpPr>
          <p:cNvPr id="3" name="Text 1"/>
          <p:cNvSpPr/>
          <p:nvPr/>
        </p:nvSpPr>
        <p:spPr>
          <a:xfrm>
            <a:off x="731520" y="628996"/>
            <a:ext cx="640080" cy="548640"/>
          </a:xfrm>
          <a:prstGeom prst="rect">
            <a:avLst/>
          </a:prstGeom>
          <a:noFill/>
          <a:ln/>
        </p:spPr>
        <p:txBody>
          <a:bodyPr wrap="square" lIns="0" tIns="0" rIns="0" bIns="0" rtlCol="0" anchor="ctr"/>
          <a:lstStyle/>
          <a:p>
            <a:pPr marL="0" indent="0">
              <a:buNone/>
            </a:pPr>
            <a:r>
              <a:rPr lang="en-US" sz="2200" b="1" dirty="0">
                <a:solidFill>
                  <a:srgbClr val="2DD4BF"/>
                </a:solidFill>
                <a:latin typeface="Trebuchet MS" pitchFamily="34" charset="0"/>
                <a:ea typeface="Trebuchet MS" pitchFamily="34" charset="-122"/>
                <a:cs typeface="Trebuchet MS" pitchFamily="34" charset="-120"/>
              </a:rPr>
              <a:t>01</a:t>
            </a:r>
            <a:endParaRPr lang="en-US" sz="2200" dirty="0"/>
          </a:p>
        </p:txBody>
      </p:sp>
      <p:sp>
        <p:nvSpPr>
          <p:cNvPr id="4" name="Text 2"/>
          <p:cNvSpPr/>
          <p:nvPr/>
        </p:nvSpPr>
        <p:spPr>
          <a:xfrm>
            <a:off x="1463040" y="628996"/>
            <a:ext cx="36576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Project Overview</a:t>
            </a:r>
            <a:endParaRPr lang="en-US" sz="1600" dirty="0"/>
          </a:p>
        </p:txBody>
      </p:sp>
      <p:sp>
        <p:nvSpPr>
          <p:cNvPr id="5" name="Text 3"/>
          <p:cNvSpPr/>
          <p:nvPr/>
        </p:nvSpPr>
        <p:spPr>
          <a:xfrm>
            <a:off x="1463040" y="903316"/>
            <a:ext cx="4572000" cy="274320"/>
          </a:xfrm>
          <a:prstGeom prst="rect">
            <a:avLst/>
          </a:prstGeom>
          <a:noFill/>
          <a:ln/>
        </p:spPr>
        <p:txBody>
          <a:bodyPr wrap="square" lIns="0" tIns="0" rIns="0" bIns="0" rtlCol="0" anchor="t"/>
          <a:lstStyle/>
          <a:p>
            <a:pPr marL="0" indent="0">
              <a:buNone/>
            </a:pPr>
            <a:r>
              <a:rPr lang="en-US" sz="1100" dirty="0">
                <a:solidFill>
                  <a:srgbClr val="8B9CB6"/>
                </a:solidFill>
                <a:latin typeface="Calibri" pitchFamily="34" charset="0"/>
                <a:ea typeface="Calibri" pitchFamily="34" charset="-122"/>
                <a:cs typeface="Calibri" pitchFamily="34" charset="-120"/>
              </a:rPr>
              <a:t>Business performance &amp; market position</a:t>
            </a:r>
            <a:endParaRPr lang="en-US" sz="1100" dirty="0"/>
          </a:p>
        </p:txBody>
      </p:sp>
      <p:sp>
        <p:nvSpPr>
          <p:cNvPr id="6" name="Shape 4"/>
          <p:cNvSpPr/>
          <p:nvPr/>
        </p:nvSpPr>
        <p:spPr>
          <a:xfrm>
            <a:off x="1463040" y="1195924"/>
            <a:ext cx="5029200" cy="9144"/>
          </a:xfrm>
          <a:prstGeom prst="rect">
            <a:avLst/>
          </a:prstGeom>
          <a:solidFill>
            <a:srgbClr val="2D3748"/>
          </a:solidFill>
          <a:ln/>
        </p:spPr>
        <p:txBody>
          <a:bodyPr/>
          <a:lstStyle/>
          <a:p>
            <a:endParaRPr lang="en-US"/>
          </a:p>
        </p:txBody>
      </p:sp>
      <p:sp>
        <p:nvSpPr>
          <p:cNvPr id="7" name="Text 5"/>
          <p:cNvSpPr/>
          <p:nvPr/>
        </p:nvSpPr>
        <p:spPr>
          <a:xfrm>
            <a:off x="731520" y="1269076"/>
            <a:ext cx="640080" cy="548640"/>
          </a:xfrm>
          <a:prstGeom prst="rect">
            <a:avLst/>
          </a:prstGeom>
          <a:noFill/>
          <a:ln/>
        </p:spPr>
        <p:txBody>
          <a:bodyPr wrap="square" lIns="0" tIns="0" rIns="0" bIns="0" rtlCol="0" anchor="ctr"/>
          <a:lstStyle/>
          <a:p>
            <a:pPr marL="0" indent="0">
              <a:buNone/>
            </a:pPr>
            <a:r>
              <a:rPr lang="en-US" sz="2200" b="1" dirty="0">
                <a:solidFill>
                  <a:srgbClr val="2DD4BF"/>
                </a:solidFill>
                <a:latin typeface="Trebuchet MS" pitchFamily="34" charset="0"/>
                <a:ea typeface="Trebuchet MS" pitchFamily="34" charset="-122"/>
                <a:cs typeface="Trebuchet MS" pitchFamily="34" charset="-120"/>
              </a:rPr>
              <a:t>02</a:t>
            </a:r>
            <a:endParaRPr lang="en-US" sz="2200" dirty="0"/>
          </a:p>
        </p:txBody>
      </p:sp>
      <p:sp>
        <p:nvSpPr>
          <p:cNvPr id="8" name="Text 6"/>
          <p:cNvSpPr/>
          <p:nvPr/>
        </p:nvSpPr>
        <p:spPr>
          <a:xfrm>
            <a:off x="1463040" y="1269076"/>
            <a:ext cx="36576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Data Cleaning &amp; Preparation</a:t>
            </a:r>
            <a:endParaRPr lang="en-US" sz="1600" dirty="0"/>
          </a:p>
        </p:txBody>
      </p:sp>
      <p:sp>
        <p:nvSpPr>
          <p:cNvPr id="9" name="Text 7"/>
          <p:cNvSpPr/>
          <p:nvPr/>
        </p:nvSpPr>
        <p:spPr>
          <a:xfrm>
            <a:off x="1463040" y="1543396"/>
            <a:ext cx="4572000" cy="274320"/>
          </a:xfrm>
          <a:prstGeom prst="rect">
            <a:avLst/>
          </a:prstGeom>
          <a:noFill/>
          <a:ln/>
        </p:spPr>
        <p:txBody>
          <a:bodyPr wrap="square" lIns="0" tIns="0" rIns="0" bIns="0" rtlCol="0" anchor="t"/>
          <a:lstStyle/>
          <a:p>
            <a:pPr marL="0" indent="0">
              <a:buNone/>
            </a:pPr>
            <a:r>
              <a:rPr lang="en-US" sz="1100" dirty="0">
                <a:solidFill>
                  <a:srgbClr val="8B9CB6"/>
                </a:solidFill>
                <a:latin typeface="Calibri" pitchFamily="34" charset="0"/>
                <a:ea typeface="Calibri" pitchFamily="34" charset="-122"/>
                <a:cs typeface="Calibri" pitchFamily="34" charset="-120"/>
              </a:rPr>
              <a:t>Strengths, weaknesses, opportunities &amp; threats</a:t>
            </a:r>
            <a:endParaRPr lang="en-US" sz="1100" dirty="0"/>
          </a:p>
        </p:txBody>
      </p:sp>
      <p:sp>
        <p:nvSpPr>
          <p:cNvPr id="10" name="Shape 8"/>
          <p:cNvSpPr/>
          <p:nvPr/>
        </p:nvSpPr>
        <p:spPr>
          <a:xfrm>
            <a:off x="1463040" y="1836004"/>
            <a:ext cx="5029200" cy="9144"/>
          </a:xfrm>
          <a:prstGeom prst="rect">
            <a:avLst/>
          </a:prstGeom>
          <a:solidFill>
            <a:srgbClr val="2D3748"/>
          </a:solidFill>
          <a:ln/>
        </p:spPr>
        <p:txBody>
          <a:bodyPr/>
          <a:lstStyle/>
          <a:p>
            <a:endParaRPr lang="en-US"/>
          </a:p>
        </p:txBody>
      </p:sp>
      <p:sp>
        <p:nvSpPr>
          <p:cNvPr id="11" name="Text 9"/>
          <p:cNvSpPr/>
          <p:nvPr/>
        </p:nvSpPr>
        <p:spPr>
          <a:xfrm>
            <a:off x="731520" y="1909156"/>
            <a:ext cx="640080" cy="548640"/>
          </a:xfrm>
          <a:prstGeom prst="rect">
            <a:avLst/>
          </a:prstGeom>
          <a:noFill/>
          <a:ln/>
        </p:spPr>
        <p:txBody>
          <a:bodyPr wrap="square" lIns="0" tIns="0" rIns="0" bIns="0" rtlCol="0" anchor="ctr"/>
          <a:lstStyle/>
          <a:p>
            <a:pPr marL="0" indent="0">
              <a:buNone/>
            </a:pPr>
            <a:r>
              <a:rPr lang="en-US" sz="2200" b="1" dirty="0">
                <a:solidFill>
                  <a:srgbClr val="2DD4BF"/>
                </a:solidFill>
                <a:latin typeface="Trebuchet MS" pitchFamily="34" charset="0"/>
                <a:ea typeface="Trebuchet MS" pitchFamily="34" charset="-122"/>
                <a:cs typeface="Trebuchet MS" pitchFamily="34" charset="-120"/>
              </a:rPr>
              <a:t>03</a:t>
            </a:r>
            <a:endParaRPr lang="en-US" sz="2200" dirty="0"/>
          </a:p>
        </p:txBody>
      </p:sp>
      <p:sp>
        <p:nvSpPr>
          <p:cNvPr id="12" name="Text 10"/>
          <p:cNvSpPr/>
          <p:nvPr/>
        </p:nvSpPr>
        <p:spPr>
          <a:xfrm>
            <a:off x="1463040" y="1909156"/>
            <a:ext cx="36576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Territory Revenue Trends</a:t>
            </a:r>
            <a:endParaRPr lang="en-US" sz="1600" dirty="0"/>
          </a:p>
        </p:txBody>
      </p:sp>
      <p:sp>
        <p:nvSpPr>
          <p:cNvPr id="13" name="Text 11"/>
          <p:cNvSpPr/>
          <p:nvPr/>
        </p:nvSpPr>
        <p:spPr>
          <a:xfrm>
            <a:off x="1463040" y="2183476"/>
            <a:ext cx="4572000" cy="274320"/>
          </a:xfrm>
          <a:prstGeom prst="rect">
            <a:avLst/>
          </a:prstGeom>
          <a:noFill/>
          <a:ln/>
        </p:spPr>
        <p:txBody>
          <a:bodyPr wrap="square" lIns="0" tIns="0" rIns="0" bIns="0" rtlCol="0" anchor="t"/>
          <a:lstStyle/>
          <a:p>
            <a:pPr marL="0" indent="0">
              <a:buNone/>
            </a:pPr>
            <a:r>
              <a:rPr lang="en-US" sz="1100" dirty="0">
                <a:solidFill>
                  <a:srgbClr val="8B9CB6"/>
                </a:solidFill>
                <a:latin typeface="Calibri" pitchFamily="34" charset="0"/>
                <a:ea typeface="Calibri" pitchFamily="34" charset="-122"/>
                <a:cs typeface="Calibri" pitchFamily="34" charset="-120"/>
              </a:rPr>
              <a:t>Growth segments &amp; competitive landscape</a:t>
            </a:r>
            <a:endParaRPr lang="en-US" sz="1100" dirty="0"/>
          </a:p>
        </p:txBody>
      </p:sp>
      <p:sp>
        <p:nvSpPr>
          <p:cNvPr id="14" name="Shape 12"/>
          <p:cNvSpPr/>
          <p:nvPr/>
        </p:nvSpPr>
        <p:spPr>
          <a:xfrm>
            <a:off x="1463040" y="2476084"/>
            <a:ext cx="5029200" cy="9144"/>
          </a:xfrm>
          <a:prstGeom prst="rect">
            <a:avLst/>
          </a:prstGeom>
          <a:solidFill>
            <a:srgbClr val="2D3748"/>
          </a:solidFill>
          <a:ln/>
        </p:spPr>
        <p:txBody>
          <a:bodyPr/>
          <a:lstStyle/>
          <a:p>
            <a:endParaRPr lang="en-US"/>
          </a:p>
        </p:txBody>
      </p:sp>
      <p:sp>
        <p:nvSpPr>
          <p:cNvPr id="15" name="Text 13"/>
          <p:cNvSpPr/>
          <p:nvPr/>
        </p:nvSpPr>
        <p:spPr>
          <a:xfrm>
            <a:off x="731520" y="2549236"/>
            <a:ext cx="640080" cy="548640"/>
          </a:xfrm>
          <a:prstGeom prst="rect">
            <a:avLst/>
          </a:prstGeom>
          <a:noFill/>
          <a:ln/>
        </p:spPr>
        <p:txBody>
          <a:bodyPr wrap="square" lIns="0" tIns="0" rIns="0" bIns="0" rtlCol="0" anchor="ctr"/>
          <a:lstStyle/>
          <a:p>
            <a:pPr marL="0" indent="0">
              <a:buNone/>
            </a:pPr>
            <a:r>
              <a:rPr lang="en-US" sz="2200" b="1" dirty="0">
                <a:solidFill>
                  <a:srgbClr val="2DD4BF"/>
                </a:solidFill>
                <a:latin typeface="Trebuchet MS" pitchFamily="34" charset="0"/>
                <a:ea typeface="Trebuchet MS" pitchFamily="34" charset="-122"/>
                <a:cs typeface="Trebuchet MS" pitchFamily="34" charset="-120"/>
              </a:rPr>
              <a:t>04</a:t>
            </a:r>
            <a:endParaRPr lang="en-US" sz="2200" dirty="0"/>
          </a:p>
        </p:txBody>
      </p:sp>
      <p:sp>
        <p:nvSpPr>
          <p:cNvPr id="16" name="Text 14"/>
          <p:cNvSpPr/>
          <p:nvPr/>
        </p:nvSpPr>
        <p:spPr>
          <a:xfrm>
            <a:off x="1463040" y="2549236"/>
            <a:ext cx="36576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Product Performance Analysis</a:t>
            </a:r>
            <a:endParaRPr lang="en-US" sz="1600" dirty="0"/>
          </a:p>
        </p:txBody>
      </p:sp>
      <p:sp>
        <p:nvSpPr>
          <p:cNvPr id="17" name="Text 15"/>
          <p:cNvSpPr/>
          <p:nvPr/>
        </p:nvSpPr>
        <p:spPr>
          <a:xfrm>
            <a:off x="1463040" y="2823556"/>
            <a:ext cx="4572000" cy="274320"/>
          </a:xfrm>
          <a:prstGeom prst="rect">
            <a:avLst/>
          </a:prstGeom>
          <a:noFill/>
          <a:ln/>
        </p:spPr>
        <p:txBody>
          <a:bodyPr wrap="square" lIns="0" tIns="0" rIns="0" bIns="0" rtlCol="0" anchor="t"/>
          <a:lstStyle/>
          <a:p>
            <a:pPr marL="0" indent="0">
              <a:buNone/>
            </a:pPr>
            <a:r>
              <a:rPr lang="en-US" sz="1100" dirty="0">
                <a:solidFill>
                  <a:srgbClr val="8B9CB6"/>
                </a:solidFill>
                <a:latin typeface="Calibri" pitchFamily="34" charset="0"/>
                <a:ea typeface="Calibri" pitchFamily="34" charset="-122"/>
                <a:cs typeface="Calibri" pitchFamily="34" charset="-120"/>
              </a:rPr>
              <a:t>Key projects &amp; implementation roadmap</a:t>
            </a:r>
            <a:endParaRPr lang="en-US" sz="1100" dirty="0"/>
          </a:p>
        </p:txBody>
      </p:sp>
      <p:sp>
        <p:nvSpPr>
          <p:cNvPr id="18" name="Shape 16"/>
          <p:cNvSpPr/>
          <p:nvPr/>
        </p:nvSpPr>
        <p:spPr>
          <a:xfrm>
            <a:off x="1463040" y="3116164"/>
            <a:ext cx="5029200" cy="9144"/>
          </a:xfrm>
          <a:prstGeom prst="rect">
            <a:avLst/>
          </a:prstGeom>
          <a:solidFill>
            <a:srgbClr val="2D3748"/>
          </a:solidFill>
          <a:ln/>
        </p:spPr>
        <p:txBody>
          <a:bodyPr/>
          <a:lstStyle/>
          <a:p>
            <a:endParaRPr lang="en-US"/>
          </a:p>
        </p:txBody>
      </p:sp>
      <p:sp>
        <p:nvSpPr>
          <p:cNvPr id="19" name="Text 17"/>
          <p:cNvSpPr/>
          <p:nvPr/>
        </p:nvSpPr>
        <p:spPr>
          <a:xfrm>
            <a:off x="731520" y="3189316"/>
            <a:ext cx="640080" cy="548640"/>
          </a:xfrm>
          <a:prstGeom prst="rect">
            <a:avLst/>
          </a:prstGeom>
          <a:noFill/>
          <a:ln/>
        </p:spPr>
        <p:txBody>
          <a:bodyPr wrap="square" lIns="0" tIns="0" rIns="0" bIns="0" rtlCol="0" anchor="ctr"/>
          <a:lstStyle/>
          <a:p>
            <a:pPr marL="0" indent="0">
              <a:buNone/>
            </a:pPr>
            <a:r>
              <a:rPr lang="en-US" sz="2200" b="1" dirty="0">
                <a:solidFill>
                  <a:srgbClr val="2DD4BF"/>
                </a:solidFill>
                <a:latin typeface="Trebuchet MS" pitchFamily="34" charset="0"/>
                <a:ea typeface="Trebuchet MS" pitchFamily="34" charset="-122"/>
                <a:cs typeface="Trebuchet MS" pitchFamily="34" charset="-120"/>
              </a:rPr>
              <a:t>05</a:t>
            </a:r>
            <a:endParaRPr lang="en-US" sz="2200" dirty="0"/>
          </a:p>
        </p:txBody>
      </p:sp>
      <p:sp>
        <p:nvSpPr>
          <p:cNvPr id="20" name="Text 18"/>
          <p:cNvSpPr/>
          <p:nvPr/>
        </p:nvSpPr>
        <p:spPr>
          <a:xfrm>
            <a:off x="1463040" y="3189316"/>
            <a:ext cx="36576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Rewards Program Opportunity</a:t>
            </a:r>
            <a:endParaRPr lang="en-US" sz="1600" dirty="0"/>
          </a:p>
        </p:txBody>
      </p:sp>
      <p:sp>
        <p:nvSpPr>
          <p:cNvPr id="21" name="Text 19"/>
          <p:cNvSpPr/>
          <p:nvPr/>
        </p:nvSpPr>
        <p:spPr>
          <a:xfrm>
            <a:off x="1463040" y="3463636"/>
            <a:ext cx="4572000" cy="274320"/>
          </a:xfrm>
          <a:prstGeom prst="rect">
            <a:avLst/>
          </a:prstGeom>
          <a:noFill/>
          <a:ln/>
        </p:spPr>
        <p:txBody>
          <a:bodyPr wrap="square" lIns="0" tIns="0" rIns="0" bIns="0" rtlCol="0" anchor="t"/>
          <a:lstStyle/>
          <a:p>
            <a:pPr marL="0" indent="0">
              <a:buNone/>
            </a:pPr>
            <a:r>
              <a:rPr lang="en-US" sz="1100" dirty="0">
                <a:solidFill>
                  <a:srgbClr val="8B9CB6"/>
                </a:solidFill>
                <a:latin typeface="Calibri" pitchFamily="34" charset="0"/>
                <a:ea typeface="Calibri" pitchFamily="34" charset="-122"/>
                <a:cs typeface="Calibri" pitchFamily="34" charset="-120"/>
              </a:rPr>
              <a:t>Revenue forecasts &amp; investment requirements</a:t>
            </a:r>
            <a:endParaRPr lang="en-US" sz="1100" dirty="0"/>
          </a:p>
        </p:txBody>
      </p:sp>
      <p:sp>
        <p:nvSpPr>
          <p:cNvPr id="22" name="Shape 20"/>
          <p:cNvSpPr/>
          <p:nvPr/>
        </p:nvSpPr>
        <p:spPr>
          <a:xfrm>
            <a:off x="1463040" y="3756244"/>
            <a:ext cx="5029200" cy="9144"/>
          </a:xfrm>
          <a:prstGeom prst="rect">
            <a:avLst/>
          </a:prstGeom>
          <a:solidFill>
            <a:srgbClr val="2D3748"/>
          </a:solidFill>
          <a:ln/>
        </p:spPr>
        <p:txBody>
          <a:bodyPr/>
          <a:lstStyle/>
          <a:p>
            <a:endParaRPr lang="en-US"/>
          </a:p>
        </p:txBody>
      </p:sp>
      <p:sp>
        <p:nvSpPr>
          <p:cNvPr id="23" name="Text 21"/>
          <p:cNvSpPr/>
          <p:nvPr/>
        </p:nvSpPr>
        <p:spPr>
          <a:xfrm>
            <a:off x="731520" y="3829396"/>
            <a:ext cx="640080" cy="548640"/>
          </a:xfrm>
          <a:prstGeom prst="rect">
            <a:avLst/>
          </a:prstGeom>
          <a:noFill/>
          <a:ln/>
        </p:spPr>
        <p:txBody>
          <a:bodyPr wrap="square" lIns="0" tIns="0" rIns="0" bIns="0" rtlCol="0" anchor="ctr"/>
          <a:lstStyle/>
          <a:p>
            <a:pPr marL="0" indent="0">
              <a:buNone/>
            </a:pPr>
            <a:r>
              <a:rPr lang="en-US" sz="2200" b="1" dirty="0">
                <a:solidFill>
                  <a:srgbClr val="2DD4BF"/>
                </a:solidFill>
                <a:latin typeface="Trebuchet MS" pitchFamily="34" charset="0"/>
                <a:ea typeface="Trebuchet MS" pitchFamily="34" charset="-122"/>
                <a:cs typeface="Trebuchet MS" pitchFamily="34" charset="-120"/>
              </a:rPr>
              <a:t>06</a:t>
            </a:r>
            <a:endParaRPr lang="en-US" sz="2200" dirty="0"/>
          </a:p>
        </p:txBody>
      </p:sp>
      <p:sp>
        <p:nvSpPr>
          <p:cNvPr id="24" name="Text 22"/>
          <p:cNvSpPr/>
          <p:nvPr/>
        </p:nvSpPr>
        <p:spPr>
          <a:xfrm>
            <a:off x="1463040" y="3829396"/>
            <a:ext cx="36576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Marketing Recommendation</a:t>
            </a:r>
            <a:endParaRPr lang="en-US" sz="1600" dirty="0"/>
          </a:p>
        </p:txBody>
      </p:sp>
      <p:sp>
        <p:nvSpPr>
          <p:cNvPr id="25" name="Text 23"/>
          <p:cNvSpPr/>
          <p:nvPr/>
        </p:nvSpPr>
        <p:spPr>
          <a:xfrm>
            <a:off x="1463040" y="4103716"/>
            <a:ext cx="4572000" cy="274320"/>
          </a:xfrm>
          <a:prstGeom prst="rect">
            <a:avLst/>
          </a:prstGeom>
          <a:noFill/>
          <a:ln/>
        </p:spPr>
        <p:txBody>
          <a:bodyPr wrap="square" lIns="0" tIns="0" rIns="0" bIns="0" rtlCol="0" anchor="t"/>
          <a:lstStyle/>
          <a:p>
            <a:pPr marL="0" indent="0">
              <a:buNone/>
            </a:pPr>
            <a:r>
              <a:rPr lang="en-US" sz="1100" dirty="0">
                <a:solidFill>
                  <a:srgbClr val="8B9CB6"/>
                </a:solidFill>
                <a:latin typeface="Calibri" pitchFamily="34" charset="0"/>
                <a:ea typeface="Calibri" pitchFamily="34" charset="-122"/>
                <a:cs typeface="Calibri" pitchFamily="34" charset="-120"/>
              </a:rPr>
              <a:t>Risk factors &amp; mitigation strategies</a:t>
            </a:r>
            <a:endParaRPr lang="en-US" sz="1100" dirty="0"/>
          </a:p>
        </p:txBody>
      </p:sp>
      <p:pic>
        <p:nvPicPr>
          <p:cNvPr id="26" name="Image 0" descr="preencoded.png"/>
          <p:cNvPicPr>
            <a:picLocks noChangeAspect="1"/>
          </p:cNvPicPr>
          <p:nvPr/>
        </p:nvPicPr>
        <p:blipFill>
          <a:blip r:embed="rId3"/>
          <a:stretch>
            <a:fillRect/>
          </a:stretch>
        </p:blipFill>
        <p:spPr>
          <a:xfrm>
            <a:off x="7132320" y="1371600"/>
            <a:ext cx="1371600" cy="1371600"/>
          </a:xfrm>
          <a:prstGeom prst="rect">
            <a:avLst/>
          </a:prstGeom>
        </p:spPr>
      </p:pic>
      <p:sp>
        <p:nvSpPr>
          <p:cNvPr id="27" name="Text 21">
            <a:extLst>
              <a:ext uri="{FF2B5EF4-FFF2-40B4-BE49-F238E27FC236}">
                <a16:creationId xmlns:a16="http://schemas.microsoft.com/office/drawing/2014/main" id="{4E5388ED-2175-EC47-86E1-9251934D3C51}"/>
              </a:ext>
            </a:extLst>
          </p:cNvPr>
          <p:cNvSpPr/>
          <p:nvPr/>
        </p:nvSpPr>
        <p:spPr>
          <a:xfrm>
            <a:off x="731520" y="4378036"/>
            <a:ext cx="640080" cy="548640"/>
          </a:xfrm>
          <a:prstGeom prst="rect">
            <a:avLst/>
          </a:prstGeom>
          <a:noFill/>
          <a:ln/>
        </p:spPr>
        <p:txBody>
          <a:bodyPr wrap="square" lIns="0" tIns="0" rIns="0" bIns="0" rtlCol="0" anchor="ctr"/>
          <a:lstStyle/>
          <a:p>
            <a:pPr marL="0" indent="0">
              <a:buNone/>
            </a:pPr>
            <a:r>
              <a:rPr lang="en-US" sz="2200" b="1" dirty="0">
                <a:solidFill>
                  <a:srgbClr val="2DD4BF"/>
                </a:solidFill>
                <a:latin typeface="Trebuchet MS" pitchFamily="34" charset="0"/>
                <a:ea typeface="Trebuchet MS" pitchFamily="34" charset="-122"/>
                <a:cs typeface="Trebuchet MS" pitchFamily="34" charset="-120"/>
              </a:rPr>
              <a:t>07</a:t>
            </a:r>
            <a:endParaRPr lang="en-US" sz="2200" dirty="0"/>
          </a:p>
        </p:txBody>
      </p:sp>
      <p:sp>
        <p:nvSpPr>
          <p:cNvPr id="28" name="Text 18">
            <a:extLst>
              <a:ext uri="{FF2B5EF4-FFF2-40B4-BE49-F238E27FC236}">
                <a16:creationId xmlns:a16="http://schemas.microsoft.com/office/drawing/2014/main" id="{FB1AEF51-FD56-C17A-4F1E-809516D72658}"/>
              </a:ext>
            </a:extLst>
          </p:cNvPr>
          <p:cNvSpPr/>
          <p:nvPr/>
        </p:nvSpPr>
        <p:spPr>
          <a:xfrm>
            <a:off x="1463040" y="4378036"/>
            <a:ext cx="36576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Conclusion &amp; Next Steps</a:t>
            </a:r>
            <a:endParaRPr lang="en-US" sz="1600" dirty="0"/>
          </a:p>
        </p:txBody>
      </p:sp>
      <p:sp>
        <p:nvSpPr>
          <p:cNvPr id="29" name="Text 19">
            <a:extLst>
              <a:ext uri="{FF2B5EF4-FFF2-40B4-BE49-F238E27FC236}">
                <a16:creationId xmlns:a16="http://schemas.microsoft.com/office/drawing/2014/main" id="{94998BB2-C20D-89D4-BB28-BBA39CFF3FAB}"/>
              </a:ext>
            </a:extLst>
          </p:cNvPr>
          <p:cNvSpPr/>
          <p:nvPr/>
        </p:nvSpPr>
        <p:spPr>
          <a:xfrm>
            <a:off x="1463040" y="4652356"/>
            <a:ext cx="4572000" cy="274320"/>
          </a:xfrm>
          <a:prstGeom prst="rect">
            <a:avLst/>
          </a:prstGeom>
          <a:noFill/>
          <a:ln/>
        </p:spPr>
        <p:txBody>
          <a:bodyPr wrap="square" lIns="0" tIns="0" rIns="0" bIns="0" rtlCol="0" anchor="t"/>
          <a:lstStyle/>
          <a:p>
            <a:pPr marL="0" indent="0">
              <a:buNone/>
            </a:pPr>
            <a:r>
              <a:rPr lang="en-US" sz="1100" dirty="0">
                <a:solidFill>
                  <a:srgbClr val="8B9CB6"/>
                </a:solidFill>
                <a:latin typeface="Calibri" pitchFamily="34" charset="0"/>
                <a:ea typeface="Calibri" pitchFamily="34" charset="-122"/>
                <a:cs typeface="Calibri" pitchFamily="34" charset="-120"/>
              </a:rPr>
              <a:t>Revenue forecasts &amp; investment requirements</a:t>
            </a:r>
            <a:endParaRPr lang="en-US" sz="1100" dirty="0"/>
          </a:p>
        </p:txBody>
      </p:sp>
      <p:sp>
        <p:nvSpPr>
          <p:cNvPr id="30" name="Shape 20">
            <a:extLst>
              <a:ext uri="{FF2B5EF4-FFF2-40B4-BE49-F238E27FC236}">
                <a16:creationId xmlns:a16="http://schemas.microsoft.com/office/drawing/2014/main" id="{54363785-DB53-7E92-3D1F-514E335AB53D}"/>
              </a:ext>
            </a:extLst>
          </p:cNvPr>
          <p:cNvSpPr/>
          <p:nvPr/>
        </p:nvSpPr>
        <p:spPr>
          <a:xfrm>
            <a:off x="1463040" y="4347001"/>
            <a:ext cx="5029200" cy="9144"/>
          </a:xfrm>
          <a:prstGeom prst="rect">
            <a:avLst/>
          </a:prstGeom>
          <a:solidFill>
            <a:srgbClr val="2D3748"/>
          </a:solidFill>
          <a:ln/>
        </p:spPr>
        <p:txBody>
          <a:bodyPr/>
          <a:lstStyle/>
          <a:p>
            <a:endParaRPr lang="en-US"/>
          </a:p>
        </p:txBody>
      </p:sp>
      <p:pic>
        <p:nvPicPr>
          <p:cNvPr id="32" name="Graphic 31" descr="Footprints with solid fill">
            <a:extLst>
              <a:ext uri="{FF2B5EF4-FFF2-40B4-BE49-F238E27FC236}">
                <a16:creationId xmlns:a16="http://schemas.microsoft.com/office/drawing/2014/main" id="{E6089EAB-B5BB-5657-5184-8E2BCAEB20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4464683"/>
            <a:ext cx="437903" cy="375345"/>
          </a:xfrm>
          <a:prstGeom prst="rect">
            <a:avLst/>
          </a:prstGeom>
        </p:spPr>
      </p:pic>
      <p:pic>
        <p:nvPicPr>
          <p:cNvPr id="34" name="Graphic 33" descr="Upward trend with solid fill">
            <a:extLst>
              <a:ext uri="{FF2B5EF4-FFF2-40B4-BE49-F238E27FC236}">
                <a16:creationId xmlns:a16="http://schemas.microsoft.com/office/drawing/2014/main" id="{1B54D6F8-87D4-6020-13C8-B83FC4E728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8" y="3914601"/>
            <a:ext cx="437903" cy="375345"/>
          </a:xfrm>
          <a:prstGeom prst="rect">
            <a:avLst/>
          </a:prstGeom>
        </p:spPr>
      </p:pic>
      <p:pic>
        <p:nvPicPr>
          <p:cNvPr id="36" name="Graphic 35" descr="Trophy with solid fill">
            <a:extLst>
              <a:ext uri="{FF2B5EF4-FFF2-40B4-BE49-F238E27FC236}">
                <a16:creationId xmlns:a16="http://schemas.microsoft.com/office/drawing/2014/main" id="{9CCA32A8-48CB-FA7F-0FB0-89560CAF6F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59" y="3275963"/>
            <a:ext cx="437903" cy="375345"/>
          </a:xfrm>
          <a:prstGeom prst="rect">
            <a:avLst/>
          </a:prstGeom>
        </p:spPr>
      </p:pic>
      <p:pic>
        <p:nvPicPr>
          <p:cNvPr id="38" name="Graphic 37" descr="Inventory with solid fill">
            <a:extLst>
              <a:ext uri="{FF2B5EF4-FFF2-40B4-BE49-F238E27FC236}">
                <a16:creationId xmlns:a16="http://schemas.microsoft.com/office/drawing/2014/main" id="{A4DA6561-DEEB-7344-EA03-D0D30BCAA5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60" y="2636553"/>
            <a:ext cx="437903" cy="375345"/>
          </a:xfrm>
          <a:prstGeom prst="rect">
            <a:avLst/>
          </a:prstGeom>
        </p:spPr>
      </p:pic>
      <p:pic>
        <p:nvPicPr>
          <p:cNvPr id="40" name="Graphic 39" descr="Topography Map with solid fill">
            <a:extLst>
              <a:ext uri="{FF2B5EF4-FFF2-40B4-BE49-F238E27FC236}">
                <a16:creationId xmlns:a16="http://schemas.microsoft.com/office/drawing/2014/main" id="{D5CB2224-0DF6-AD77-55C5-13F07AB4D4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992919"/>
            <a:ext cx="437903" cy="375345"/>
          </a:xfrm>
          <a:prstGeom prst="rect">
            <a:avLst/>
          </a:prstGeom>
        </p:spPr>
      </p:pic>
      <p:pic>
        <p:nvPicPr>
          <p:cNvPr id="42" name="Graphic 41" descr="Soap with solid fill">
            <a:extLst>
              <a:ext uri="{FF2B5EF4-FFF2-40B4-BE49-F238E27FC236}">
                <a16:creationId xmlns:a16="http://schemas.microsoft.com/office/drawing/2014/main" id="{DEED907C-B526-F338-D4ED-A016451C566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7" y="1354281"/>
            <a:ext cx="437903" cy="375345"/>
          </a:xfrm>
          <a:prstGeom prst="rect">
            <a:avLst/>
          </a:prstGeom>
        </p:spPr>
      </p:pic>
      <p:pic>
        <p:nvPicPr>
          <p:cNvPr id="44" name="Graphic 43" descr="List with solid fill">
            <a:extLst>
              <a:ext uri="{FF2B5EF4-FFF2-40B4-BE49-F238E27FC236}">
                <a16:creationId xmlns:a16="http://schemas.microsoft.com/office/drawing/2014/main" id="{46218D01-3655-130B-110A-45AC9B5A4A7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E30"/>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Project Overview</a:t>
            </a:r>
            <a:endParaRPr lang="en-US" sz="3600" dirty="0"/>
          </a:p>
        </p:txBody>
      </p:sp>
      <p:sp>
        <p:nvSpPr>
          <p:cNvPr id="3" name="Text 1"/>
          <p:cNvSpPr/>
          <p:nvPr/>
        </p:nvSpPr>
        <p:spPr>
          <a:xfrm>
            <a:off x="731520" y="960120"/>
            <a:ext cx="7315200" cy="320040"/>
          </a:xfrm>
          <a:prstGeom prst="rect">
            <a:avLst/>
          </a:prstGeom>
          <a:noFill/>
          <a:ln/>
        </p:spPr>
        <p:txBody>
          <a:bodyPr wrap="square" lIns="0" tIns="0" rIns="0" bIns="0" rtlCol="0" anchor="ctr"/>
          <a:lstStyle/>
          <a:p>
            <a:pPr marL="0" indent="0">
              <a:buNone/>
            </a:pPr>
            <a:r>
              <a:rPr lang="en-US" sz="1200" dirty="0">
                <a:solidFill>
                  <a:srgbClr val="8B9CB6"/>
                </a:solidFill>
                <a:latin typeface="Calibri" pitchFamily="34" charset="0"/>
                <a:ea typeface="Calibri" pitchFamily="34" charset="-122"/>
                <a:cs typeface="Calibri" pitchFamily="34" charset="-120"/>
              </a:rPr>
              <a:t>Key performance indicators and business health metrics</a:t>
            </a:r>
            <a:endParaRPr lang="en-US" sz="1200" dirty="0"/>
          </a:p>
        </p:txBody>
      </p:sp>
      <p:sp>
        <p:nvSpPr>
          <p:cNvPr id="34" name="Shape 6">
            <a:extLst>
              <a:ext uri="{FF2B5EF4-FFF2-40B4-BE49-F238E27FC236}">
                <a16:creationId xmlns:a16="http://schemas.microsoft.com/office/drawing/2014/main" id="{BEAC9368-BF42-F11B-A20A-E4AD38EDA107}"/>
              </a:ext>
            </a:extLst>
          </p:cNvPr>
          <p:cNvSpPr/>
          <p:nvPr/>
        </p:nvSpPr>
        <p:spPr>
          <a:xfrm>
            <a:off x="731520" y="3108960"/>
            <a:ext cx="3886200" cy="1645920"/>
          </a:xfrm>
          <a:prstGeom prst="rect">
            <a:avLst/>
          </a:prstGeom>
          <a:solidFill>
            <a:srgbClr val="1E2D44"/>
          </a:solidFill>
          <a:ln/>
          <a:effectLst>
            <a:outerShdw blurRad="76200" dist="25400" dir="8100000" algn="bl" rotWithShape="0">
              <a:srgbClr val="000000">
                <a:alpha val="20000"/>
              </a:srgbClr>
            </a:outerShdw>
          </a:effectLst>
        </p:spPr>
        <p:txBody>
          <a:bodyPr anchor="ctr"/>
          <a:lstStyle/>
          <a:p>
            <a:pPr algn="ctr"/>
            <a:r>
              <a:rPr lang="en-US" b="1" dirty="0">
                <a:solidFill>
                  <a:schemeClr val="bg1"/>
                </a:solidFill>
              </a:rPr>
              <a:t>Datasets Used</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customer_list </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ProductCategories </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Products </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StoreDetail </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StoreSales</a:t>
            </a:r>
          </a:p>
        </p:txBody>
      </p:sp>
      <p:sp>
        <p:nvSpPr>
          <p:cNvPr id="36" name="Shape 6">
            <a:extLst>
              <a:ext uri="{FF2B5EF4-FFF2-40B4-BE49-F238E27FC236}">
                <a16:creationId xmlns:a16="http://schemas.microsoft.com/office/drawing/2014/main" id="{0B9BAD66-061A-EBBA-455D-A25BE896CF5E}"/>
              </a:ext>
            </a:extLst>
          </p:cNvPr>
          <p:cNvSpPr/>
          <p:nvPr/>
        </p:nvSpPr>
        <p:spPr>
          <a:xfrm>
            <a:off x="4770120" y="3108960"/>
            <a:ext cx="3886200" cy="1645920"/>
          </a:xfrm>
          <a:prstGeom prst="rect">
            <a:avLst/>
          </a:prstGeom>
          <a:solidFill>
            <a:srgbClr val="1E2D44"/>
          </a:solidFill>
          <a:ln/>
          <a:effectLst>
            <a:outerShdw blurRad="76200" dist="25400" dir="8100000" algn="bl" rotWithShape="0">
              <a:srgbClr val="000000">
                <a:alpha val="20000"/>
              </a:srgbClr>
            </a:outerShdw>
          </a:effectLst>
        </p:spPr>
        <p:txBody>
          <a:bodyPr anchor="ctr"/>
          <a:lstStyle/>
          <a:p>
            <a:pPr algn="ctr"/>
            <a:r>
              <a:rPr lang="en-US" b="1" dirty="0">
                <a:solidFill>
                  <a:schemeClr val="bg1"/>
                </a:solidFill>
              </a:rPr>
              <a:t>Tools Used</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Python </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Pandas </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NumPy </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Matplotlib </a:t>
            </a:r>
          </a:p>
          <a:p>
            <a:pPr marL="285750" indent="-285750">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Jupyter Notebook</a:t>
            </a:r>
          </a:p>
        </p:txBody>
      </p:sp>
      <p:sp>
        <p:nvSpPr>
          <p:cNvPr id="37" name="Shape 6">
            <a:extLst>
              <a:ext uri="{FF2B5EF4-FFF2-40B4-BE49-F238E27FC236}">
                <a16:creationId xmlns:a16="http://schemas.microsoft.com/office/drawing/2014/main" id="{11E56973-587F-587E-E645-4693A4CDCC11}"/>
              </a:ext>
            </a:extLst>
          </p:cNvPr>
          <p:cNvSpPr/>
          <p:nvPr/>
        </p:nvSpPr>
        <p:spPr>
          <a:xfrm>
            <a:off x="4770120" y="1313098"/>
            <a:ext cx="3886200" cy="1645920"/>
          </a:xfrm>
          <a:prstGeom prst="rect">
            <a:avLst/>
          </a:prstGeom>
          <a:solidFill>
            <a:srgbClr val="1E2D44"/>
          </a:solidFill>
          <a:ln/>
          <a:effectLst>
            <a:outerShdw blurRad="76200" dist="25400" dir="8100000" algn="bl" rotWithShape="0">
              <a:srgbClr val="000000">
                <a:alpha val="20000"/>
              </a:srgbClr>
            </a:outerShdw>
          </a:effectLst>
        </p:spPr>
        <p:txBody>
          <a:bodyPr anchor="ctr"/>
          <a:lstStyle/>
          <a:p>
            <a:pPr algn="ctr"/>
            <a:r>
              <a:rPr lang="en-US" dirty="0">
                <a:solidFill>
                  <a:schemeClr val="bg1"/>
                </a:solidFill>
              </a:rPr>
              <a:t>Territories Analyzed</a:t>
            </a:r>
          </a:p>
          <a:p>
            <a:pPr marL="285750" indent="-285750" algn="ctr">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Colorado </a:t>
            </a:r>
          </a:p>
          <a:p>
            <a:pPr marL="285750" indent="-285750" algn="ctr">
              <a:buFont typeface="Arial" panose="020B0604020202020204" pitchFamily="34" charset="0"/>
              <a:buChar char="•"/>
            </a:pPr>
            <a:r>
              <a:rPr lang="en-US" sz="1400" dirty="0">
                <a:solidFill>
                  <a:schemeClr val="bg1"/>
                </a:solidFill>
                <a:effectLst>
                  <a:outerShdw blurRad="38100" dist="38100" dir="2700000" algn="tl">
                    <a:srgbClr val="000000">
                      <a:alpha val="43137"/>
                    </a:srgbClr>
                  </a:outerShdw>
                </a:effectLst>
              </a:rPr>
              <a:t>Florida</a:t>
            </a:r>
          </a:p>
        </p:txBody>
      </p:sp>
      <p:sp>
        <p:nvSpPr>
          <p:cNvPr id="38" name="Shape 6">
            <a:extLst>
              <a:ext uri="{FF2B5EF4-FFF2-40B4-BE49-F238E27FC236}">
                <a16:creationId xmlns:a16="http://schemas.microsoft.com/office/drawing/2014/main" id="{771F9E73-8CE6-6EEA-44B0-9D438C530710}"/>
              </a:ext>
            </a:extLst>
          </p:cNvPr>
          <p:cNvSpPr/>
          <p:nvPr/>
        </p:nvSpPr>
        <p:spPr>
          <a:xfrm>
            <a:off x="731520" y="1313098"/>
            <a:ext cx="3886200" cy="1645920"/>
          </a:xfrm>
          <a:prstGeom prst="rect">
            <a:avLst/>
          </a:prstGeom>
          <a:solidFill>
            <a:srgbClr val="1E2D44"/>
          </a:solidFill>
          <a:ln/>
          <a:effectLst>
            <a:outerShdw blurRad="76200" dist="25400" dir="8100000" algn="bl" rotWithShape="0">
              <a:srgbClr val="000000">
                <a:alpha val="20000"/>
              </a:srgbClr>
            </a:outerShdw>
          </a:effectLst>
        </p:spPr>
        <p:txBody>
          <a:bodyPr anchor="ctr"/>
          <a:lstStyle/>
          <a:p>
            <a:pPr algn="ctr"/>
            <a:r>
              <a:rPr lang="en-US" b="1" dirty="0">
                <a:solidFill>
                  <a:schemeClr val="bg1"/>
                </a:solidFill>
              </a:rPr>
              <a:t>Project Goal</a:t>
            </a:r>
          </a:p>
          <a:p>
            <a:pPr>
              <a:lnSpc>
                <a:spcPct val="150000"/>
              </a:lnSpc>
            </a:pPr>
            <a:r>
              <a:rPr lang="en-US" sz="1400" dirty="0">
                <a:solidFill>
                  <a:schemeClr val="bg1"/>
                </a:solidFill>
                <a:effectLst>
                  <a:outerShdw blurRad="38100" dist="38100" dir="2700000" algn="tl">
                    <a:srgbClr val="000000">
                      <a:alpha val="43137"/>
                    </a:srgbClr>
                  </a:outerShdw>
                </a:effectLst>
              </a:rPr>
              <a:t>Analyze sales performance, customer purchasing behavior, and product trends to identify marketing opportunities for </a:t>
            </a:r>
            <a:r>
              <a:rPr lang="en-US" sz="1400" dirty="0" err="1">
                <a:solidFill>
                  <a:schemeClr val="bg1"/>
                </a:solidFill>
                <a:effectLst>
                  <a:outerShdw blurRad="38100" dist="38100" dir="2700000" algn="tl">
                    <a:srgbClr val="000000">
                      <a:alpha val="43137"/>
                    </a:srgbClr>
                  </a:outerShdw>
                </a:effectLst>
              </a:rPr>
              <a:t>EmporiUm</a:t>
            </a:r>
            <a:r>
              <a:rPr lang="en-US" sz="1400" dirty="0">
                <a:solidFill>
                  <a:schemeClr val="bg1"/>
                </a:solidFill>
                <a:effectLst>
                  <a:outerShdw blurRad="38100" dist="38100" dir="2700000" algn="tl">
                    <a:srgbClr val="000000">
                      <a:alpha val="43137"/>
                    </a:srgbClr>
                  </a:outerShdw>
                </a:effectLst>
              </a:rPr>
              <a:t>.</a:t>
            </a:r>
          </a:p>
        </p:txBody>
      </p:sp>
      <p:pic>
        <p:nvPicPr>
          <p:cNvPr id="47" name="Graphic 46" descr="Footprints with solid fill">
            <a:extLst>
              <a:ext uri="{FF2B5EF4-FFF2-40B4-BE49-F238E27FC236}">
                <a16:creationId xmlns:a16="http://schemas.microsoft.com/office/drawing/2014/main" id="{D6926171-7F1C-27F7-4092-6CFCC438E5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58" y="4464683"/>
            <a:ext cx="437903" cy="375345"/>
          </a:xfrm>
          <a:prstGeom prst="rect">
            <a:avLst/>
          </a:prstGeom>
        </p:spPr>
      </p:pic>
      <p:pic>
        <p:nvPicPr>
          <p:cNvPr id="48" name="Graphic 47" descr="Upward trend with solid fill">
            <a:extLst>
              <a:ext uri="{FF2B5EF4-FFF2-40B4-BE49-F238E27FC236}">
                <a16:creationId xmlns:a16="http://schemas.microsoft.com/office/drawing/2014/main" id="{E2E37041-9C3F-8106-5A37-E90BD795CD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3914601"/>
            <a:ext cx="437903" cy="375345"/>
          </a:xfrm>
          <a:prstGeom prst="rect">
            <a:avLst/>
          </a:prstGeom>
        </p:spPr>
      </p:pic>
      <p:pic>
        <p:nvPicPr>
          <p:cNvPr id="49" name="Graphic 48" descr="Trophy with solid fill">
            <a:extLst>
              <a:ext uri="{FF2B5EF4-FFF2-40B4-BE49-F238E27FC236}">
                <a16:creationId xmlns:a16="http://schemas.microsoft.com/office/drawing/2014/main" id="{DC1D1FCA-F5DC-D178-E220-5C7F1CCFEB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9" y="3275963"/>
            <a:ext cx="437903" cy="375345"/>
          </a:xfrm>
          <a:prstGeom prst="rect">
            <a:avLst/>
          </a:prstGeom>
        </p:spPr>
      </p:pic>
      <p:pic>
        <p:nvPicPr>
          <p:cNvPr id="50" name="Graphic 49" descr="Inventory with solid fill">
            <a:extLst>
              <a:ext uri="{FF2B5EF4-FFF2-40B4-BE49-F238E27FC236}">
                <a16:creationId xmlns:a16="http://schemas.microsoft.com/office/drawing/2014/main" id="{36F45EA9-F4B1-3510-022A-756DB5231E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60" y="2636553"/>
            <a:ext cx="437903" cy="375345"/>
          </a:xfrm>
          <a:prstGeom prst="rect">
            <a:avLst/>
          </a:prstGeom>
        </p:spPr>
      </p:pic>
      <p:pic>
        <p:nvPicPr>
          <p:cNvPr id="51" name="Graphic 50" descr="Topography Map with solid fill">
            <a:extLst>
              <a:ext uri="{FF2B5EF4-FFF2-40B4-BE49-F238E27FC236}">
                <a16:creationId xmlns:a16="http://schemas.microsoft.com/office/drawing/2014/main" id="{B37E7403-2979-D8B0-C461-0B3477E81CD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57" y="1992919"/>
            <a:ext cx="437903" cy="375345"/>
          </a:xfrm>
          <a:prstGeom prst="rect">
            <a:avLst/>
          </a:prstGeom>
        </p:spPr>
      </p:pic>
      <p:pic>
        <p:nvPicPr>
          <p:cNvPr id="52" name="Graphic 51" descr="Soap with solid fill">
            <a:extLst>
              <a:ext uri="{FF2B5EF4-FFF2-40B4-BE49-F238E27FC236}">
                <a16:creationId xmlns:a16="http://schemas.microsoft.com/office/drawing/2014/main" id="{18E28C26-8721-65EB-7EA3-B708F5AC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354281"/>
            <a:ext cx="437903" cy="375345"/>
          </a:xfrm>
          <a:prstGeom prst="rect">
            <a:avLst/>
          </a:prstGeom>
        </p:spPr>
      </p:pic>
      <p:pic>
        <p:nvPicPr>
          <p:cNvPr id="53" name="Graphic 52" descr="List with solid fill">
            <a:extLst>
              <a:ext uri="{FF2B5EF4-FFF2-40B4-BE49-F238E27FC236}">
                <a16:creationId xmlns:a16="http://schemas.microsoft.com/office/drawing/2014/main" id="{B88F4FE3-1F58-683F-B2EE-3ABC253A76F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E30"/>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buNone/>
            </a:pPr>
            <a:r>
              <a:rPr lang="en-US" sz="3600" dirty="0">
                <a:solidFill>
                  <a:srgbClr val="FFFFFF"/>
                </a:solidFill>
                <a:latin typeface="Trebuchet MS" pitchFamily="34" charset="0"/>
                <a:ea typeface="Trebuchet MS" pitchFamily="34" charset="-122"/>
                <a:cs typeface="Trebuchet MS" pitchFamily="34" charset="-120"/>
              </a:rPr>
              <a:t>DATA CLEANING &amp; PREPARATION</a:t>
            </a:r>
            <a:endParaRPr lang="en-US" sz="3600" dirty="0"/>
          </a:p>
        </p:txBody>
      </p:sp>
      <p:sp>
        <p:nvSpPr>
          <p:cNvPr id="3" name="Shape 1"/>
          <p:cNvSpPr/>
          <p:nvPr/>
        </p:nvSpPr>
        <p:spPr>
          <a:xfrm>
            <a:off x="731520" y="1179576"/>
            <a:ext cx="3749040" cy="1783080"/>
          </a:xfrm>
          <a:prstGeom prst="rect">
            <a:avLst/>
          </a:prstGeom>
          <a:solidFill>
            <a:srgbClr val="0D3320"/>
          </a:solidFill>
          <a:ln/>
        </p:spPr>
        <p:txBody>
          <a:bodyPr/>
          <a:lstStyle/>
          <a:p>
            <a:endParaRPr lang="en-US"/>
          </a:p>
        </p:txBody>
      </p:sp>
      <p:sp>
        <p:nvSpPr>
          <p:cNvPr id="4" name="Text 2"/>
          <p:cNvSpPr/>
          <p:nvPr/>
        </p:nvSpPr>
        <p:spPr>
          <a:xfrm>
            <a:off x="960120" y="1298448"/>
            <a:ext cx="3200400" cy="365760"/>
          </a:xfrm>
          <a:prstGeom prst="rect">
            <a:avLst/>
          </a:prstGeom>
          <a:noFill/>
          <a:ln/>
        </p:spPr>
        <p:txBody>
          <a:bodyPr wrap="square" lIns="0" tIns="0" rIns="0" bIns="0" rtlCol="0" anchor="ctr"/>
          <a:lstStyle/>
          <a:p>
            <a:r>
              <a:rPr lang="en-US" sz="1600" b="1" dirty="0">
                <a:solidFill>
                  <a:schemeClr val="bg1"/>
                </a:solidFill>
              </a:rPr>
              <a:t>Data Cleaning</a:t>
            </a:r>
          </a:p>
        </p:txBody>
      </p:sp>
      <p:sp>
        <p:nvSpPr>
          <p:cNvPr id="7" name="Text 5"/>
          <p:cNvSpPr/>
          <p:nvPr/>
        </p:nvSpPr>
        <p:spPr>
          <a:xfrm>
            <a:off x="960120" y="1633232"/>
            <a:ext cx="3383280" cy="1261907"/>
          </a:xfrm>
          <a:prstGeom prst="rect">
            <a:avLst/>
          </a:prstGeom>
          <a:noFill/>
          <a:ln/>
        </p:spPr>
        <p:txBody>
          <a:bodyPr wrap="square" lIns="0" tIns="0" rIns="0" bIns="0" rtlCol="0" anchor="ctr"/>
          <a:lstStyle/>
          <a:p>
            <a:pPr>
              <a:lnSpc>
                <a:spcPct val="200000"/>
              </a:lnSpc>
            </a:pPr>
            <a:r>
              <a:rPr lang="en-US" sz="1050" dirty="0">
                <a:solidFill>
                  <a:schemeClr val="bg1"/>
                </a:solidFill>
                <a:effectLst>
                  <a:outerShdw blurRad="38100" dist="38100" dir="2700000" algn="tl">
                    <a:srgbClr val="000000">
                      <a:alpha val="43137"/>
                    </a:srgbClr>
                  </a:outerShdw>
                </a:effectLst>
              </a:rPr>
              <a:t>• Removed duplicate records</a:t>
            </a:r>
          </a:p>
          <a:p>
            <a:pPr>
              <a:lnSpc>
                <a:spcPct val="200000"/>
              </a:lnSpc>
            </a:pPr>
            <a:r>
              <a:rPr lang="en-US" sz="1050" dirty="0">
                <a:solidFill>
                  <a:schemeClr val="bg1"/>
                </a:solidFill>
                <a:effectLst>
                  <a:outerShdw blurRad="38100" dist="38100" dir="2700000" algn="tl">
                    <a:srgbClr val="000000">
                      <a:alpha val="43137"/>
                    </a:srgbClr>
                  </a:outerShdw>
                </a:effectLst>
              </a:rPr>
              <a:t>• Checked for missing values</a:t>
            </a:r>
          </a:p>
          <a:p>
            <a:pPr>
              <a:lnSpc>
                <a:spcPct val="200000"/>
              </a:lnSpc>
            </a:pPr>
            <a:r>
              <a:rPr lang="en-US" sz="1050" dirty="0">
                <a:solidFill>
                  <a:schemeClr val="bg1"/>
                </a:solidFill>
                <a:effectLst>
                  <a:outerShdw blurRad="38100" dist="38100" dir="2700000" algn="tl">
                    <a:srgbClr val="000000">
                      <a:alpha val="43137"/>
                    </a:srgbClr>
                  </a:outerShdw>
                </a:effectLst>
              </a:rPr>
              <a:t>• Standardized column formatting</a:t>
            </a:r>
          </a:p>
          <a:p>
            <a:pPr>
              <a:lnSpc>
                <a:spcPct val="200000"/>
              </a:lnSpc>
            </a:pPr>
            <a:r>
              <a:rPr lang="en-US" sz="1050" dirty="0">
                <a:solidFill>
                  <a:schemeClr val="bg1"/>
                </a:solidFill>
                <a:effectLst>
                  <a:outerShdw blurRad="38100" dist="38100" dir="2700000" algn="tl">
                    <a:srgbClr val="000000">
                      <a:alpha val="43137"/>
                    </a:srgbClr>
                  </a:outerShdw>
                </a:effectLst>
              </a:rPr>
              <a:t>• Converted date columns to datetime</a:t>
            </a:r>
          </a:p>
        </p:txBody>
      </p:sp>
      <p:sp>
        <p:nvSpPr>
          <p:cNvPr id="8" name="Shape 6"/>
          <p:cNvSpPr/>
          <p:nvPr/>
        </p:nvSpPr>
        <p:spPr>
          <a:xfrm>
            <a:off x="4754880" y="1188720"/>
            <a:ext cx="3749040" cy="1783080"/>
          </a:xfrm>
          <a:prstGeom prst="rect">
            <a:avLst/>
          </a:prstGeom>
          <a:solidFill>
            <a:srgbClr val="3B1010"/>
          </a:solidFill>
          <a:ln/>
        </p:spPr>
        <p:txBody>
          <a:bodyPr/>
          <a:lstStyle/>
          <a:p>
            <a:endParaRPr lang="en-US"/>
          </a:p>
        </p:txBody>
      </p:sp>
      <p:sp>
        <p:nvSpPr>
          <p:cNvPr id="9" name="Text 7"/>
          <p:cNvSpPr/>
          <p:nvPr/>
        </p:nvSpPr>
        <p:spPr>
          <a:xfrm>
            <a:off x="4983480" y="1298448"/>
            <a:ext cx="32004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Dataset Integration</a:t>
            </a:r>
            <a:endParaRPr lang="en-US" sz="1600" dirty="0"/>
          </a:p>
        </p:txBody>
      </p:sp>
      <p:sp>
        <p:nvSpPr>
          <p:cNvPr id="10" name="Text 8"/>
          <p:cNvSpPr/>
          <p:nvPr/>
        </p:nvSpPr>
        <p:spPr>
          <a:xfrm>
            <a:off x="4983480" y="1641383"/>
            <a:ext cx="3383280" cy="1271016"/>
          </a:xfrm>
          <a:prstGeom prst="rect">
            <a:avLst/>
          </a:prstGeom>
          <a:noFill/>
          <a:ln/>
        </p:spPr>
        <p:txBody>
          <a:bodyPr wrap="square" lIns="0" tIns="0" rIns="0" bIns="0" rtlCol="0" anchor="ctr"/>
          <a:lstStyle/>
          <a:p>
            <a:pPr>
              <a:lnSpc>
                <a:spcPct val="200000"/>
              </a:lnSpc>
            </a:pPr>
            <a:r>
              <a:rPr lang="en-US" sz="1050" dirty="0">
                <a:solidFill>
                  <a:schemeClr val="bg1"/>
                </a:solidFill>
                <a:effectLst>
                  <a:outerShdw blurRad="38100" dist="38100" dir="2700000" algn="tl">
                    <a:srgbClr val="000000">
                      <a:alpha val="43137"/>
                    </a:srgbClr>
                  </a:outerShdw>
                </a:effectLst>
              </a:rPr>
              <a:t>• Combined StoreSales with Products</a:t>
            </a:r>
          </a:p>
          <a:p>
            <a:pPr>
              <a:lnSpc>
                <a:spcPct val="200000"/>
              </a:lnSpc>
            </a:pPr>
            <a:r>
              <a:rPr lang="en-US" sz="1050" dirty="0">
                <a:solidFill>
                  <a:schemeClr val="bg1"/>
                </a:solidFill>
                <a:effectLst>
                  <a:outerShdw blurRad="38100" dist="38100" dir="2700000" algn="tl">
                    <a:srgbClr val="000000">
                      <a:alpha val="43137"/>
                    </a:srgbClr>
                  </a:outerShdw>
                </a:effectLst>
              </a:rPr>
              <a:t>• Merged ProductCategories data</a:t>
            </a:r>
          </a:p>
          <a:p>
            <a:pPr>
              <a:lnSpc>
                <a:spcPct val="200000"/>
              </a:lnSpc>
            </a:pPr>
            <a:r>
              <a:rPr lang="en-US" sz="1050" dirty="0">
                <a:solidFill>
                  <a:schemeClr val="bg1"/>
                </a:solidFill>
                <a:effectLst>
                  <a:outerShdw blurRad="38100" dist="38100" dir="2700000" algn="tl">
                    <a:srgbClr val="000000">
                      <a:alpha val="43137"/>
                    </a:srgbClr>
                  </a:outerShdw>
                </a:effectLst>
              </a:rPr>
              <a:t>• Linked customer_list with RewardsID</a:t>
            </a:r>
          </a:p>
          <a:p>
            <a:pPr>
              <a:lnSpc>
                <a:spcPct val="200000"/>
              </a:lnSpc>
            </a:pPr>
            <a:r>
              <a:rPr lang="en-US" sz="1050" dirty="0">
                <a:solidFill>
                  <a:schemeClr val="bg1"/>
                </a:solidFill>
                <a:effectLst>
                  <a:outerShdw blurRad="38100" dist="38100" dir="2700000" algn="tl">
                    <a:srgbClr val="000000">
                      <a:alpha val="43137"/>
                    </a:srgbClr>
                  </a:outerShdw>
                </a:effectLst>
              </a:rPr>
              <a:t>• Created completed_sales_data table</a:t>
            </a:r>
          </a:p>
        </p:txBody>
      </p:sp>
      <p:sp>
        <p:nvSpPr>
          <p:cNvPr id="13" name="Shape 11"/>
          <p:cNvSpPr/>
          <p:nvPr/>
        </p:nvSpPr>
        <p:spPr>
          <a:xfrm>
            <a:off x="731520" y="3200400"/>
            <a:ext cx="3749040" cy="1783080"/>
          </a:xfrm>
          <a:prstGeom prst="rect">
            <a:avLst/>
          </a:prstGeom>
          <a:solidFill>
            <a:srgbClr val="0C1D4D"/>
          </a:solidFill>
          <a:ln/>
        </p:spPr>
        <p:txBody>
          <a:bodyPr/>
          <a:lstStyle/>
          <a:p>
            <a:endParaRPr lang="en-US"/>
          </a:p>
        </p:txBody>
      </p:sp>
      <p:sp>
        <p:nvSpPr>
          <p:cNvPr id="14" name="Text 12"/>
          <p:cNvSpPr/>
          <p:nvPr/>
        </p:nvSpPr>
        <p:spPr>
          <a:xfrm>
            <a:off x="960120" y="3310128"/>
            <a:ext cx="3200400" cy="365760"/>
          </a:xfrm>
          <a:prstGeom prst="rect">
            <a:avLst/>
          </a:prstGeom>
          <a:noFill/>
          <a:ln/>
        </p:spPr>
        <p:txBody>
          <a:bodyPr wrap="square" lIns="0" tIns="0" rIns="0" bIns="0" rtlCol="0" anchor="ctr"/>
          <a:lstStyle/>
          <a:p>
            <a:r>
              <a:rPr lang="en-US" sz="1600" b="1" dirty="0">
                <a:solidFill>
                  <a:schemeClr val="bg1"/>
                </a:solidFill>
              </a:rPr>
              <a:t>Analysis Preparation</a:t>
            </a:r>
          </a:p>
        </p:txBody>
      </p:sp>
      <p:sp>
        <p:nvSpPr>
          <p:cNvPr id="18" name="Shape 16"/>
          <p:cNvSpPr/>
          <p:nvPr/>
        </p:nvSpPr>
        <p:spPr>
          <a:xfrm>
            <a:off x="4754880" y="3200400"/>
            <a:ext cx="3749040" cy="1783080"/>
          </a:xfrm>
          <a:prstGeom prst="rect">
            <a:avLst/>
          </a:prstGeom>
          <a:solidFill>
            <a:srgbClr val="3D1F06"/>
          </a:solidFill>
          <a:ln/>
        </p:spPr>
        <p:txBody>
          <a:bodyPr/>
          <a:lstStyle/>
          <a:p>
            <a:endParaRPr lang="en-US"/>
          </a:p>
        </p:txBody>
      </p:sp>
      <p:sp>
        <p:nvSpPr>
          <p:cNvPr id="19" name="Text 17"/>
          <p:cNvSpPr/>
          <p:nvPr/>
        </p:nvSpPr>
        <p:spPr>
          <a:xfrm>
            <a:off x="4983480" y="3310128"/>
            <a:ext cx="32004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Visualization &amp; Reporting</a:t>
            </a:r>
            <a:endParaRPr lang="en-US" sz="1600" dirty="0"/>
          </a:p>
        </p:txBody>
      </p:sp>
      <p:sp>
        <p:nvSpPr>
          <p:cNvPr id="23" name="Text 5">
            <a:extLst>
              <a:ext uri="{FF2B5EF4-FFF2-40B4-BE49-F238E27FC236}">
                <a16:creationId xmlns:a16="http://schemas.microsoft.com/office/drawing/2014/main" id="{C32863AB-7193-F027-FA1F-78F14D9DFDB5}"/>
              </a:ext>
            </a:extLst>
          </p:cNvPr>
          <p:cNvSpPr/>
          <p:nvPr/>
        </p:nvSpPr>
        <p:spPr>
          <a:xfrm>
            <a:off x="960120" y="3617054"/>
            <a:ext cx="3383280" cy="1261907"/>
          </a:xfrm>
          <a:prstGeom prst="rect">
            <a:avLst/>
          </a:prstGeom>
          <a:noFill/>
          <a:ln/>
        </p:spPr>
        <p:txBody>
          <a:bodyPr wrap="square" lIns="0" tIns="0" rIns="0" bIns="0" rtlCol="0" anchor="ctr"/>
          <a:lstStyle/>
          <a:p>
            <a:pPr>
              <a:lnSpc>
                <a:spcPct val="200000"/>
              </a:lnSpc>
            </a:pPr>
            <a:r>
              <a:rPr lang="en-US" sz="1050" dirty="0">
                <a:solidFill>
                  <a:schemeClr val="bg1"/>
                </a:solidFill>
                <a:effectLst>
                  <a:outerShdw blurRad="38100" dist="38100" dir="2700000" algn="tl">
                    <a:srgbClr val="000000">
                      <a:alpha val="43137"/>
                    </a:srgbClr>
                  </a:outerShdw>
                </a:effectLst>
              </a:rPr>
              <a:t>• Created monthly revenue metrics</a:t>
            </a:r>
          </a:p>
          <a:p>
            <a:pPr>
              <a:lnSpc>
                <a:spcPct val="200000"/>
              </a:lnSpc>
            </a:pPr>
            <a:r>
              <a:rPr lang="en-US" sz="1050" dirty="0">
                <a:solidFill>
                  <a:schemeClr val="bg1"/>
                </a:solidFill>
                <a:effectLst>
                  <a:outerShdw blurRad="38100" dist="38100" dir="2700000" algn="tl">
                    <a:srgbClr val="000000">
                      <a:alpha val="43137"/>
                    </a:srgbClr>
                  </a:outerShdw>
                </a:effectLst>
              </a:rPr>
              <a:t>• Grouped sales by territory</a:t>
            </a:r>
          </a:p>
          <a:p>
            <a:pPr>
              <a:lnSpc>
                <a:spcPct val="200000"/>
              </a:lnSpc>
            </a:pPr>
            <a:r>
              <a:rPr lang="en-US" sz="1050" dirty="0">
                <a:solidFill>
                  <a:schemeClr val="bg1"/>
                </a:solidFill>
                <a:effectLst>
                  <a:outerShdw blurRad="38100" dist="38100" dir="2700000" algn="tl">
                    <a:srgbClr val="000000">
                      <a:alpha val="43137"/>
                    </a:srgbClr>
                  </a:outerShdw>
                </a:effectLst>
              </a:rPr>
              <a:t>• Built product category summaries</a:t>
            </a:r>
          </a:p>
          <a:p>
            <a:pPr>
              <a:lnSpc>
                <a:spcPct val="200000"/>
              </a:lnSpc>
            </a:pPr>
            <a:r>
              <a:rPr lang="en-US" sz="1050" dirty="0">
                <a:solidFill>
                  <a:schemeClr val="bg1"/>
                </a:solidFill>
                <a:effectLst>
                  <a:outerShdw blurRad="38100" dist="38100" dir="2700000" algn="tl">
                    <a:srgbClr val="000000">
                      <a:alpha val="43137"/>
                    </a:srgbClr>
                  </a:outerShdw>
                </a:effectLst>
              </a:rPr>
              <a:t>• Calculated customer spending trends</a:t>
            </a:r>
          </a:p>
        </p:txBody>
      </p:sp>
      <p:sp>
        <p:nvSpPr>
          <p:cNvPr id="24" name="Text 5">
            <a:extLst>
              <a:ext uri="{FF2B5EF4-FFF2-40B4-BE49-F238E27FC236}">
                <a16:creationId xmlns:a16="http://schemas.microsoft.com/office/drawing/2014/main" id="{A34EEFF0-B1AF-446E-1A8B-BCC340871FEF}"/>
              </a:ext>
            </a:extLst>
          </p:cNvPr>
          <p:cNvSpPr/>
          <p:nvPr/>
        </p:nvSpPr>
        <p:spPr>
          <a:xfrm>
            <a:off x="5029200" y="3617053"/>
            <a:ext cx="3383280" cy="1261907"/>
          </a:xfrm>
          <a:prstGeom prst="rect">
            <a:avLst/>
          </a:prstGeom>
          <a:noFill/>
          <a:ln/>
        </p:spPr>
        <p:txBody>
          <a:bodyPr wrap="square" lIns="0" tIns="0" rIns="0" bIns="0" rtlCol="0" anchor="ctr"/>
          <a:lstStyle/>
          <a:p>
            <a:pPr>
              <a:lnSpc>
                <a:spcPct val="200000"/>
              </a:lnSpc>
            </a:pPr>
            <a:r>
              <a:rPr lang="en-US" sz="1050" dirty="0">
                <a:solidFill>
                  <a:schemeClr val="bg1"/>
                </a:solidFill>
                <a:effectLst>
                  <a:outerShdw blurRad="38100" dist="38100" dir="2700000" algn="tl">
                    <a:srgbClr val="000000">
                      <a:alpha val="43137"/>
                    </a:srgbClr>
                  </a:outerShdw>
                </a:effectLst>
              </a:rPr>
              <a:t>• Built revenue trend charts</a:t>
            </a:r>
          </a:p>
          <a:p>
            <a:pPr>
              <a:lnSpc>
                <a:spcPct val="200000"/>
              </a:lnSpc>
            </a:pPr>
            <a:r>
              <a:rPr lang="en-US" sz="1050" dirty="0">
                <a:solidFill>
                  <a:schemeClr val="bg1"/>
                </a:solidFill>
                <a:effectLst>
                  <a:outerShdw blurRad="38100" dist="38100" dir="2700000" algn="tl">
                    <a:srgbClr val="000000">
                      <a:alpha val="43137"/>
                    </a:srgbClr>
                  </a:outerShdw>
                </a:effectLst>
              </a:rPr>
              <a:t>• Created rewards participation visuals</a:t>
            </a:r>
          </a:p>
          <a:p>
            <a:pPr>
              <a:lnSpc>
                <a:spcPct val="200000"/>
              </a:lnSpc>
            </a:pPr>
            <a:r>
              <a:rPr lang="en-US" sz="1050" dirty="0">
                <a:solidFill>
                  <a:schemeClr val="bg1"/>
                </a:solidFill>
                <a:effectLst>
                  <a:outerShdw blurRad="38100" dist="38100" dir="2700000" algn="tl">
                    <a:srgbClr val="000000">
                      <a:alpha val="43137"/>
                    </a:srgbClr>
                  </a:outerShdw>
                </a:effectLst>
              </a:rPr>
              <a:t>• Compared product category performance</a:t>
            </a:r>
          </a:p>
          <a:p>
            <a:pPr>
              <a:lnSpc>
                <a:spcPct val="200000"/>
              </a:lnSpc>
            </a:pPr>
            <a:r>
              <a:rPr lang="en-US" sz="1050" dirty="0">
                <a:solidFill>
                  <a:schemeClr val="bg1"/>
                </a:solidFill>
                <a:effectLst>
                  <a:outerShdw blurRad="38100" dist="38100" dir="2700000" algn="tl">
                    <a:srgbClr val="000000">
                      <a:alpha val="43137"/>
                    </a:srgbClr>
                  </a:outerShdw>
                </a:effectLst>
              </a:rPr>
              <a:t>• Designed dashboard summaries</a:t>
            </a:r>
          </a:p>
        </p:txBody>
      </p:sp>
      <p:pic>
        <p:nvPicPr>
          <p:cNvPr id="32" name="Graphic 31" descr="Footprints with solid fill">
            <a:extLst>
              <a:ext uri="{FF2B5EF4-FFF2-40B4-BE49-F238E27FC236}">
                <a16:creationId xmlns:a16="http://schemas.microsoft.com/office/drawing/2014/main" id="{5E7926C2-AD7C-7F2D-12B4-F758E42AC9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58" y="4464683"/>
            <a:ext cx="437903" cy="375345"/>
          </a:xfrm>
          <a:prstGeom prst="rect">
            <a:avLst/>
          </a:prstGeom>
        </p:spPr>
      </p:pic>
      <p:pic>
        <p:nvPicPr>
          <p:cNvPr id="33" name="Graphic 32" descr="Upward trend with solid fill">
            <a:extLst>
              <a:ext uri="{FF2B5EF4-FFF2-40B4-BE49-F238E27FC236}">
                <a16:creationId xmlns:a16="http://schemas.microsoft.com/office/drawing/2014/main" id="{ECBBCEAE-3B1F-C456-01D6-7E4FB8A99E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3914601"/>
            <a:ext cx="437903" cy="375345"/>
          </a:xfrm>
          <a:prstGeom prst="rect">
            <a:avLst/>
          </a:prstGeom>
        </p:spPr>
      </p:pic>
      <p:pic>
        <p:nvPicPr>
          <p:cNvPr id="34" name="Graphic 33" descr="Trophy with solid fill">
            <a:extLst>
              <a:ext uri="{FF2B5EF4-FFF2-40B4-BE49-F238E27FC236}">
                <a16:creationId xmlns:a16="http://schemas.microsoft.com/office/drawing/2014/main" id="{CE6C67D1-847C-159F-A294-7E28EE918A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9" y="3275963"/>
            <a:ext cx="437903" cy="375345"/>
          </a:xfrm>
          <a:prstGeom prst="rect">
            <a:avLst/>
          </a:prstGeom>
        </p:spPr>
      </p:pic>
      <p:pic>
        <p:nvPicPr>
          <p:cNvPr id="35" name="Graphic 34" descr="Inventory with solid fill">
            <a:extLst>
              <a:ext uri="{FF2B5EF4-FFF2-40B4-BE49-F238E27FC236}">
                <a16:creationId xmlns:a16="http://schemas.microsoft.com/office/drawing/2014/main" id="{6AD1B9B6-C176-E36C-6E2F-FD16E37CFCC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60" y="2636553"/>
            <a:ext cx="437903" cy="375345"/>
          </a:xfrm>
          <a:prstGeom prst="rect">
            <a:avLst/>
          </a:prstGeom>
        </p:spPr>
      </p:pic>
      <p:pic>
        <p:nvPicPr>
          <p:cNvPr id="36" name="Graphic 35" descr="Topography Map with solid fill">
            <a:extLst>
              <a:ext uri="{FF2B5EF4-FFF2-40B4-BE49-F238E27FC236}">
                <a16:creationId xmlns:a16="http://schemas.microsoft.com/office/drawing/2014/main" id="{92138B59-CFAC-2B86-C091-AA1B21B278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57" y="1992919"/>
            <a:ext cx="437903" cy="375345"/>
          </a:xfrm>
          <a:prstGeom prst="rect">
            <a:avLst/>
          </a:prstGeom>
        </p:spPr>
      </p:pic>
      <p:pic>
        <p:nvPicPr>
          <p:cNvPr id="37" name="Graphic 36" descr="Soap with solid fill">
            <a:extLst>
              <a:ext uri="{FF2B5EF4-FFF2-40B4-BE49-F238E27FC236}">
                <a16:creationId xmlns:a16="http://schemas.microsoft.com/office/drawing/2014/main" id="{E45BD74E-D417-055F-E1A3-8C25176797D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354281"/>
            <a:ext cx="437903" cy="375345"/>
          </a:xfrm>
          <a:prstGeom prst="rect">
            <a:avLst/>
          </a:prstGeom>
        </p:spPr>
      </p:pic>
      <p:pic>
        <p:nvPicPr>
          <p:cNvPr id="38" name="Graphic 37" descr="List with solid fill">
            <a:extLst>
              <a:ext uri="{FF2B5EF4-FFF2-40B4-BE49-F238E27FC236}">
                <a16:creationId xmlns:a16="http://schemas.microsoft.com/office/drawing/2014/main" id="{E374CC06-C5C8-8442-32AA-63464951FEE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E30"/>
        </a:solidFill>
        <a:effectLst/>
      </p:bgPr>
    </p:bg>
    <p:spTree>
      <p:nvGrpSpPr>
        <p:cNvPr id="1" name=""/>
        <p:cNvGrpSpPr/>
        <p:nvPr/>
      </p:nvGrpSpPr>
      <p:grpSpPr>
        <a:xfrm>
          <a:off x="0" y="0"/>
          <a:ext cx="0" cy="0"/>
          <a:chOff x="0" y="0"/>
          <a:chExt cx="0" cy="0"/>
        </a:xfrm>
      </p:grpSpPr>
      <p:sp>
        <p:nvSpPr>
          <p:cNvPr id="2" name="Title"/>
          <p:cNvSpPr txBox="1"/>
          <p:nvPr/>
        </p:nvSpPr>
        <p:spPr>
          <a:xfrm>
            <a:off x="548640" y="182880"/>
            <a:ext cx="6400800" cy="411480"/>
          </a:xfrm>
          <a:prstGeom prst="rect">
            <a:avLst/>
          </a:prstGeom>
          <a:noFill/>
        </p:spPr>
        <p:txBody>
          <a:bodyPr lIns="0" tIns="0" rIns="0" bIns="0" anchor="ctr"/>
          <a:lstStyle/>
          <a:p>
            <a:r>
              <a:rPr lang="en-US" sz="2800" b="1" dirty="0">
                <a:solidFill>
                  <a:srgbClr val="FFFFFF"/>
                </a:solidFill>
                <a:latin typeface="Trebuchet MS"/>
              </a:rPr>
              <a:t>Territory &amp; Store Insights</a:t>
            </a:r>
          </a:p>
        </p:txBody>
      </p:sp>
      <p:sp>
        <p:nvSpPr>
          <p:cNvPr id="3" name="Subtitle"/>
          <p:cNvSpPr txBox="1"/>
          <p:nvPr/>
        </p:nvSpPr>
        <p:spPr>
          <a:xfrm>
            <a:off x="548640" y="594360"/>
            <a:ext cx="7772400" cy="228600"/>
          </a:xfrm>
          <a:prstGeom prst="rect">
            <a:avLst/>
          </a:prstGeom>
          <a:noFill/>
        </p:spPr>
        <p:txBody>
          <a:bodyPr lIns="0" tIns="0" rIns="0" bIns="0" anchor="ctr"/>
          <a:lstStyle/>
          <a:p>
            <a:r>
              <a:rPr lang="en-US" sz="1200" dirty="0">
                <a:solidFill>
                  <a:srgbClr val="8B9CB6"/>
                </a:solidFill>
                <a:latin typeface="Calibri"/>
              </a:rPr>
              <a:t>Comparing territory performance, store distribution, and revenue trends</a:t>
            </a:r>
          </a:p>
        </p:txBody>
      </p:sp>
      <p:sp>
        <p:nvSpPr>
          <p:cNvPr id="10" name="TM Header"/>
          <p:cNvSpPr txBox="1"/>
          <p:nvPr/>
        </p:nvSpPr>
        <p:spPr>
          <a:xfrm>
            <a:off x="548640" y="914400"/>
            <a:ext cx="3840480" cy="274320"/>
          </a:xfrm>
          <a:prstGeom prst="rect">
            <a:avLst/>
          </a:prstGeom>
          <a:noFill/>
        </p:spPr>
        <p:txBody>
          <a:bodyPr lIns="0" tIns="0" rIns="0" bIns="0" anchor="b"/>
          <a:lstStyle/>
          <a:p>
            <a:r>
              <a:rPr lang="en-US" sz="1200" b="1">
                <a:solidFill>
                  <a:srgbClr val="2DD4BF"/>
                </a:solidFill>
                <a:latin typeface="Trebuchet MS"/>
              </a:rPr>
              <a:t>Territory Managers</a:t>
            </a:r>
          </a:p>
        </p:txBody>
      </p:sp>
      <p:sp>
        <p:nvSpPr>
          <p:cNvPr id="11" name="CO Mgr BG"/>
          <p:cNvSpPr/>
          <p:nvPr/>
        </p:nvSpPr>
        <p:spPr>
          <a:xfrm>
            <a:off x="548640" y="1234440"/>
            <a:ext cx="2011680" cy="822960"/>
          </a:xfrm>
          <a:prstGeom prst="rect">
            <a:avLst/>
          </a:prstGeom>
          <a:solidFill>
            <a:srgbClr val="1E2D44"/>
          </a:solidFill>
          <a:ln>
            <a:noFill/>
          </a:ln>
        </p:spPr>
        <p:txBody>
          <a:bodyPr/>
          <a:lstStyle/>
          <a:p>
            <a:endParaRPr lang="en-US"/>
          </a:p>
        </p:txBody>
      </p:sp>
      <p:sp>
        <p:nvSpPr>
          <p:cNvPr id="12" name="CO Mgr Label"/>
          <p:cNvSpPr txBox="1"/>
          <p:nvPr/>
        </p:nvSpPr>
        <p:spPr>
          <a:xfrm>
            <a:off x="640080" y="1280160"/>
            <a:ext cx="1645920" cy="228600"/>
          </a:xfrm>
          <a:prstGeom prst="rect">
            <a:avLst/>
          </a:prstGeom>
          <a:noFill/>
        </p:spPr>
        <p:txBody>
          <a:bodyPr lIns="0" tIns="0" rIns="0" bIns="0" anchor="ctr"/>
          <a:lstStyle/>
          <a:p>
            <a:r>
              <a:rPr lang="en-US" sz="1100" b="1">
                <a:solidFill>
                  <a:srgbClr val="2DD4BF"/>
                </a:solidFill>
                <a:latin typeface="Trebuchet MS"/>
              </a:rPr>
              <a:t>Colorado</a:t>
            </a:r>
          </a:p>
        </p:txBody>
      </p:sp>
      <p:sp>
        <p:nvSpPr>
          <p:cNvPr id="13" name="CO Mgr Details"/>
          <p:cNvSpPr txBox="1"/>
          <p:nvPr/>
        </p:nvSpPr>
        <p:spPr>
          <a:xfrm>
            <a:off x="640080" y="1508760"/>
            <a:ext cx="1645920" cy="502920"/>
          </a:xfrm>
          <a:prstGeom prst="rect">
            <a:avLst/>
          </a:prstGeom>
          <a:noFill/>
        </p:spPr>
        <p:txBody>
          <a:bodyPr lIns="0" tIns="0" rIns="0" bIns="0" anchor="t"/>
          <a:lstStyle/>
          <a:p>
            <a:r>
              <a:rPr lang="en-US" sz="1400" b="1" dirty="0">
                <a:solidFill>
                  <a:srgbClr val="FFFFFF"/>
                </a:solidFill>
                <a:latin typeface="Trebuchet MS"/>
              </a:rPr>
              <a:t>Jim Heck</a:t>
            </a:r>
          </a:p>
          <a:p>
            <a:r>
              <a:rPr lang="en-US" sz="900" dirty="0">
                <a:solidFill>
                  <a:srgbClr val="8B9CB6"/>
                </a:solidFill>
                <a:latin typeface="Calibri"/>
              </a:rPr>
              <a:t>Regional Manager, West</a:t>
            </a:r>
          </a:p>
          <a:p>
            <a:r>
              <a:rPr lang="en-US" sz="900" dirty="0">
                <a:solidFill>
                  <a:srgbClr val="8B9CB6"/>
                </a:solidFill>
                <a:latin typeface="Calibri"/>
              </a:rPr>
              <a:t>18 stores | $6.4M revenue</a:t>
            </a:r>
          </a:p>
        </p:txBody>
      </p:sp>
      <p:sp>
        <p:nvSpPr>
          <p:cNvPr id="14" name="FL Mgr BG"/>
          <p:cNvSpPr/>
          <p:nvPr/>
        </p:nvSpPr>
        <p:spPr>
          <a:xfrm>
            <a:off x="2743200" y="1234440"/>
            <a:ext cx="2011680" cy="822960"/>
          </a:xfrm>
          <a:prstGeom prst="rect">
            <a:avLst/>
          </a:prstGeom>
          <a:solidFill>
            <a:srgbClr val="1E2D44"/>
          </a:solidFill>
          <a:ln>
            <a:noFill/>
          </a:ln>
        </p:spPr>
        <p:txBody>
          <a:bodyPr/>
          <a:lstStyle/>
          <a:p>
            <a:endParaRPr lang="en-US"/>
          </a:p>
        </p:txBody>
      </p:sp>
      <p:sp>
        <p:nvSpPr>
          <p:cNvPr id="15" name="FL Mgr Label"/>
          <p:cNvSpPr txBox="1"/>
          <p:nvPr/>
        </p:nvSpPr>
        <p:spPr>
          <a:xfrm>
            <a:off x="2834640" y="1280160"/>
            <a:ext cx="1828800" cy="228600"/>
          </a:xfrm>
          <a:prstGeom prst="rect">
            <a:avLst/>
          </a:prstGeom>
          <a:noFill/>
        </p:spPr>
        <p:txBody>
          <a:bodyPr lIns="0" tIns="0" rIns="0" bIns="0" anchor="ctr"/>
          <a:lstStyle/>
          <a:p>
            <a:r>
              <a:rPr lang="en-US" sz="1100" b="1">
                <a:solidFill>
                  <a:srgbClr val="F6C343"/>
                </a:solidFill>
                <a:latin typeface="Trebuchet MS"/>
              </a:rPr>
              <a:t>Florida</a:t>
            </a:r>
          </a:p>
        </p:txBody>
      </p:sp>
      <p:sp>
        <p:nvSpPr>
          <p:cNvPr id="16" name="FL Mgr Details"/>
          <p:cNvSpPr txBox="1"/>
          <p:nvPr/>
        </p:nvSpPr>
        <p:spPr>
          <a:xfrm>
            <a:off x="2834640" y="1508760"/>
            <a:ext cx="1828800" cy="502920"/>
          </a:xfrm>
          <a:prstGeom prst="rect">
            <a:avLst/>
          </a:prstGeom>
          <a:noFill/>
        </p:spPr>
        <p:txBody>
          <a:bodyPr lIns="0" tIns="0" rIns="0" bIns="0" anchor="t"/>
          <a:lstStyle/>
          <a:p>
            <a:r>
              <a:rPr lang="en-US" sz="1400" b="1" dirty="0">
                <a:solidFill>
                  <a:srgbClr val="FFFFFF"/>
                </a:solidFill>
                <a:latin typeface="Trebuchet MS"/>
              </a:rPr>
              <a:t>Lana Ilana</a:t>
            </a:r>
          </a:p>
          <a:p>
            <a:r>
              <a:rPr lang="en-US" sz="900" dirty="0">
                <a:solidFill>
                  <a:srgbClr val="8B9CB6"/>
                </a:solidFill>
                <a:latin typeface="Calibri"/>
              </a:rPr>
              <a:t>Regional VP, South</a:t>
            </a:r>
          </a:p>
          <a:p>
            <a:r>
              <a:rPr lang="en-US" sz="900" dirty="0">
                <a:solidFill>
                  <a:srgbClr val="8B9CB6"/>
                </a:solidFill>
                <a:latin typeface="Calibri"/>
              </a:rPr>
              <a:t>11 stores | $3.9M revenue</a:t>
            </a:r>
          </a:p>
        </p:txBody>
      </p:sp>
      <p:sp>
        <p:nvSpPr>
          <p:cNvPr id="20" name="SL Header"/>
          <p:cNvSpPr txBox="1"/>
          <p:nvPr/>
        </p:nvSpPr>
        <p:spPr>
          <a:xfrm>
            <a:off x="4754880" y="914400"/>
            <a:ext cx="3840480" cy="274320"/>
          </a:xfrm>
          <a:prstGeom prst="rect">
            <a:avLst/>
          </a:prstGeom>
          <a:noFill/>
        </p:spPr>
        <p:txBody>
          <a:bodyPr lIns="0" tIns="0" rIns="0" bIns="0" anchor="b"/>
          <a:lstStyle/>
          <a:p>
            <a:r>
              <a:rPr lang="en-US" sz="1200" b="1">
                <a:solidFill>
                  <a:srgbClr val="2DD4BF"/>
                </a:solidFill>
                <a:latin typeface="Trebuchet MS"/>
              </a:rPr>
              <a:t>Store Locations</a:t>
            </a:r>
          </a:p>
        </p:txBody>
      </p:sp>
      <p:sp>
        <p:nvSpPr>
          <p:cNvPr id="21" name="SL BG"/>
          <p:cNvSpPr/>
          <p:nvPr/>
        </p:nvSpPr>
        <p:spPr>
          <a:xfrm>
            <a:off x="4754880" y="1234440"/>
            <a:ext cx="3840480" cy="822960"/>
          </a:xfrm>
          <a:prstGeom prst="rect">
            <a:avLst/>
          </a:prstGeom>
          <a:solidFill>
            <a:srgbClr val="1E2D44"/>
          </a:solidFill>
          <a:ln>
            <a:noFill/>
          </a:ln>
        </p:spPr>
        <p:txBody>
          <a:bodyPr/>
          <a:lstStyle/>
          <a:p>
            <a:endParaRPr lang="en-US"/>
          </a:p>
        </p:txBody>
      </p:sp>
      <p:sp>
        <p:nvSpPr>
          <p:cNvPr id="22" name="CO Stores Label"/>
          <p:cNvSpPr txBox="1"/>
          <p:nvPr/>
        </p:nvSpPr>
        <p:spPr>
          <a:xfrm>
            <a:off x="4846320" y="1280160"/>
            <a:ext cx="1737360" cy="228600"/>
          </a:xfrm>
          <a:prstGeom prst="rect">
            <a:avLst/>
          </a:prstGeom>
          <a:noFill/>
        </p:spPr>
        <p:txBody>
          <a:bodyPr lIns="0" tIns="0" rIns="0" bIns="0" anchor="ctr"/>
          <a:lstStyle/>
          <a:p>
            <a:r>
              <a:rPr lang="en-US" sz="1000" b="1" dirty="0">
                <a:solidFill>
                  <a:srgbClr val="2DD4BF"/>
                </a:solidFill>
                <a:latin typeface="Calibri"/>
              </a:rPr>
              <a:t>Colorado (18)</a:t>
            </a:r>
          </a:p>
        </p:txBody>
      </p:sp>
      <p:sp>
        <p:nvSpPr>
          <p:cNvPr id="23" name="CO Stores List"/>
          <p:cNvSpPr txBox="1"/>
          <p:nvPr/>
        </p:nvSpPr>
        <p:spPr>
          <a:xfrm>
            <a:off x="4846320" y="1508760"/>
            <a:ext cx="1737360" cy="502920"/>
          </a:xfrm>
          <a:prstGeom prst="rect">
            <a:avLst/>
          </a:prstGeom>
          <a:noFill/>
        </p:spPr>
        <p:txBody>
          <a:bodyPr lIns="0" tIns="0" rIns="0" bIns="0" anchor="t"/>
          <a:lstStyle/>
          <a:p>
            <a:pPr marL="114300" indent="-114300">
              <a:spcAft>
                <a:spcPts val="200"/>
              </a:spcAft>
              <a:buFont typeface="Arial"/>
              <a:buChar char="▪"/>
            </a:pPr>
            <a:r>
              <a:rPr lang="en-US" sz="800">
                <a:solidFill>
                  <a:srgbClr val="E2E8F0"/>
                </a:solidFill>
                <a:latin typeface="Calibri"/>
              </a:rPr>
              <a:t>Denver Central, Boulder Plaza</a:t>
            </a:r>
          </a:p>
          <a:p>
            <a:pPr marL="114300" indent="-114300">
              <a:spcAft>
                <a:spcPts val="200"/>
              </a:spcAft>
              <a:buFont typeface="Arial"/>
              <a:buChar char="▪"/>
            </a:pPr>
            <a:r>
              <a:rPr lang="en-US" sz="800">
                <a:solidFill>
                  <a:srgbClr val="E2E8F0"/>
                </a:solidFill>
                <a:latin typeface="Calibri"/>
              </a:rPr>
              <a:t>Colorado Springs, Fort Collins</a:t>
            </a:r>
          </a:p>
          <a:p>
            <a:pPr marL="114300" indent="-114300">
              <a:spcAft>
                <a:spcPts val="200"/>
              </a:spcAft>
              <a:buFont typeface="Arial"/>
              <a:buChar char="▪"/>
            </a:pPr>
            <a:r>
              <a:rPr lang="en-US" sz="800">
                <a:solidFill>
                  <a:srgbClr val="E2E8F0"/>
                </a:solidFill>
                <a:latin typeface="Calibri"/>
              </a:rPr>
              <a:t>Aurora, Lakewood, Pueblo +5</a:t>
            </a:r>
          </a:p>
        </p:txBody>
      </p:sp>
      <p:sp>
        <p:nvSpPr>
          <p:cNvPr id="24" name="FL Stores Label"/>
          <p:cNvSpPr txBox="1"/>
          <p:nvPr/>
        </p:nvSpPr>
        <p:spPr>
          <a:xfrm>
            <a:off x="6766560" y="1280160"/>
            <a:ext cx="1737360" cy="228600"/>
          </a:xfrm>
          <a:prstGeom prst="rect">
            <a:avLst/>
          </a:prstGeom>
          <a:noFill/>
        </p:spPr>
        <p:txBody>
          <a:bodyPr lIns="0" tIns="0" rIns="0" bIns="0" anchor="ctr"/>
          <a:lstStyle/>
          <a:p>
            <a:r>
              <a:rPr lang="en-US" sz="1000" b="1" dirty="0">
                <a:solidFill>
                  <a:srgbClr val="F6C343"/>
                </a:solidFill>
                <a:latin typeface="Calibri"/>
              </a:rPr>
              <a:t>Florida (11)</a:t>
            </a:r>
          </a:p>
        </p:txBody>
      </p:sp>
      <p:sp>
        <p:nvSpPr>
          <p:cNvPr id="25" name="FL Stores List"/>
          <p:cNvSpPr txBox="1"/>
          <p:nvPr/>
        </p:nvSpPr>
        <p:spPr>
          <a:xfrm>
            <a:off x="6766560" y="1508760"/>
            <a:ext cx="1737360" cy="502920"/>
          </a:xfrm>
          <a:prstGeom prst="rect">
            <a:avLst/>
          </a:prstGeom>
          <a:noFill/>
        </p:spPr>
        <p:txBody>
          <a:bodyPr lIns="0" tIns="0" rIns="0" bIns="0" anchor="t"/>
          <a:lstStyle/>
          <a:p>
            <a:pPr marL="114300" indent="-114300">
              <a:spcAft>
                <a:spcPts val="200"/>
              </a:spcAft>
              <a:buFont typeface="Arial"/>
              <a:buChar char="▪"/>
            </a:pPr>
            <a:r>
              <a:rPr lang="en-US" sz="800">
                <a:solidFill>
                  <a:srgbClr val="E2E8F0"/>
                </a:solidFill>
                <a:latin typeface="Calibri"/>
              </a:rPr>
              <a:t>Miami Flagship, Orlando Metro</a:t>
            </a:r>
          </a:p>
          <a:p>
            <a:pPr marL="114300" indent="-114300">
              <a:spcAft>
                <a:spcPts val="200"/>
              </a:spcAft>
              <a:buFont typeface="Arial"/>
              <a:buChar char="▪"/>
            </a:pPr>
            <a:r>
              <a:rPr lang="en-US" sz="800">
                <a:solidFill>
                  <a:srgbClr val="E2E8F0"/>
                </a:solidFill>
                <a:latin typeface="Calibri"/>
              </a:rPr>
              <a:t>Tampa Bay, Jacksonville</a:t>
            </a:r>
          </a:p>
          <a:p>
            <a:pPr marL="114300" indent="-114300">
              <a:spcAft>
                <a:spcPts val="200"/>
              </a:spcAft>
              <a:buFont typeface="Arial"/>
              <a:buChar char="▪"/>
            </a:pPr>
            <a:r>
              <a:rPr lang="en-US" sz="800">
                <a:solidFill>
                  <a:srgbClr val="E2E8F0"/>
                </a:solidFill>
                <a:latin typeface="Calibri"/>
              </a:rPr>
              <a:t>Fort Lauderdale, Naples +9</a:t>
            </a:r>
          </a:p>
        </p:txBody>
      </p:sp>
      <p:sp>
        <p:nvSpPr>
          <p:cNvPr id="30" name="TC Header"/>
          <p:cNvSpPr txBox="1"/>
          <p:nvPr/>
        </p:nvSpPr>
        <p:spPr>
          <a:xfrm>
            <a:off x="548640" y="2194560"/>
            <a:ext cx="5303520" cy="274320"/>
          </a:xfrm>
          <a:prstGeom prst="rect">
            <a:avLst/>
          </a:prstGeom>
          <a:noFill/>
        </p:spPr>
        <p:txBody>
          <a:bodyPr lIns="0" tIns="0" rIns="0" bIns="0" anchor="b"/>
          <a:lstStyle/>
          <a:p>
            <a:r>
              <a:rPr lang="en-US" sz="1200" b="1">
                <a:solidFill>
                  <a:srgbClr val="F6C343"/>
                </a:solidFill>
                <a:latin typeface="Trebuchet MS"/>
              </a:rPr>
              <a:t>Territory Comparison</a:t>
            </a:r>
          </a:p>
        </p:txBody>
      </p:sp>
      <p:sp>
        <p:nvSpPr>
          <p:cNvPr id="31" name="TC BG"/>
          <p:cNvSpPr/>
          <p:nvPr/>
        </p:nvSpPr>
        <p:spPr>
          <a:xfrm>
            <a:off x="548640" y="2514600"/>
            <a:ext cx="5303520" cy="1714500"/>
          </a:xfrm>
          <a:prstGeom prst="rect">
            <a:avLst/>
          </a:prstGeom>
          <a:solidFill>
            <a:srgbClr val="1E2D44"/>
          </a:solidFill>
          <a:ln>
            <a:noFill/>
          </a:ln>
        </p:spPr>
        <p:txBody>
          <a:bodyPr/>
          <a:lstStyle/>
          <a:p>
            <a:endParaRPr lang="en-US"/>
          </a:p>
        </p:txBody>
      </p:sp>
      <p:sp>
        <p:nvSpPr>
          <p:cNvPr id="32" name="TC Col Metric"/>
          <p:cNvSpPr txBox="1"/>
          <p:nvPr/>
        </p:nvSpPr>
        <p:spPr>
          <a:xfrm>
            <a:off x="640080" y="2560320"/>
            <a:ext cx="1920240" cy="228600"/>
          </a:xfrm>
          <a:prstGeom prst="rect">
            <a:avLst/>
          </a:prstGeom>
          <a:noFill/>
        </p:spPr>
        <p:txBody>
          <a:bodyPr lIns="0" tIns="0" rIns="0" bIns="0" anchor="ctr"/>
          <a:lstStyle/>
          <a:p>
            <a:r>
              <a:rPr lang="en-US" sz="900" b="1">
                <a:solidFill>
                  <a:srgbClr val="8B9CB6"/>
                </a:solidFill>
                <a:latin typeface="Calibri"/>
              </a:rPr>
              <a:t>Metric</a:t>
            </a:r>
          </a:p>
        </p:txBody>
      </p:sp>
      <p:sp>
        <p:nvSpPr>
          <p:cNvPr id="33" name="TC Col CO"/>
          <p:cNvSpPr txBox="1"/>
          <p:nvPr/>
        </p:nvSpPr>
        <p:spPr>
          <a:xfrm>
            <a:off x="2651760" y="2560320"/>
            <a:ext cx="1371600" cy="228600"/>
          </a:xfrm>
          <a:prstGeom prst="rect">
            <a:avLst/>
          </a:prstGeom>
          <a:noFill/>
        </p:spPr>
        <p:txBody>
          <a:bodyPr lIns="0" tIns="0" rIns="0" bIns="0" anchor="ctr"/>
          <a:lstStyle/>
          <a:p>
            <a:pPr algn="r"/>
            <a:r>
              <a:rPr lang="en-US" sz="900" b="1">
                <a:solidFill>
                  <a:srgbClr val="2DD4BF"/>
                </a:solidFill>
                <a:latin typeface="Calibri"/>
              </a:rPr>
              <a:t>Colorado</a:t>
            </a:r>
          </a:p>
        </p:txBody>
      </p:sp>
      <p:sp>
        <p:nvSpPr>
          <p:cNvPr id="34" name="TC Col FL"/>
          <p:cNvSpPr txBox="1"/>
          <p:nvPr/>
        </p:nvSpPr>
        <p:spPr>
          <a:xfrm>
            <a:off x="4114800" y="2560320"/>
            <a:ext cx="1371600" cy="228600"/>
          </a:xfrm>
          <a:prstGeom prst="rect">
            <a:avLst/>
          </a:prstGeom>
          <a:noFill/>
        </p:spPr>
        <p:txBody>
          <a:bodyPr lIns="0" tIns="0" rIns="0" bIns="0" anchor="ctr"/>
          <a:lstStyle/>
          <a:p>
            <a:pPr algn="r"/>
            <a:r>
              <a:rPr lang="en-US" sz="900" b="1">
                <a:solidFill>
                  <a:srgbClr val="F6C343"/>
                </a:solidFill>
                <a:latin typeface="Calibri"/>
              </a:rPr>
              <a:t>Florida</a:t>
            </a:r>
          </a:p>
        </p:txBody>
      </p:sp>
      <p:sp>
        <p:nvSpPr>
          <p:cNvPr id="35" name="TC HSep"/>
          <p:cNvSpPr/>
          <p:nvPr/>
        </p:nvSpPr>
        <p:spPr>
          <a:xfrm>
            <a:off x="640080" y="2788920"/>
            <a:ext cx="4846320" cy="9144"/>
          </a:xfrm>
          <a:prstGeom prst="rect">
            <a:avLst/>
          </a:prstGeom>
          <a:solidFill>
            <a:srgbClr val="2D3748"/>
          </a:solidFill>
          <a:ln>
            <a:noFill/>
          </a:ln>
        </p:spPr>
        <p:txBody>
          <a:bodyPr/>
          <a:lstStyle/>
          <a:p>
            <a:endParaRPr lang="en-US"/>
          </a:p>
        </p:txBody>
      </p:sp>
      <p:sp>
        <p:nvSpPr>
          <p:cNvPr id="36" name="TR1 Label"/>
          <p:cNvSpPr txBox="1"/>
          <p:nvPr/>
        </p:nvSpPr>
        <p:spPr>
          <a:xfrm>
            <a:off x="640080" y="2834640"/>
            <a:ext cx="1920240" cy="228600"/>
          </a:xfrm>
          <a:prstGeom prst="rect">
            <a:avLst/>
          </a:prstGeom>
          <a:noFill/>
        </p:spPr>
        <p:txBody>
          <a:bodyPr lIns="0" tIns="0" rIns="0" bIns="0" anchor="ctr"/>
          <a:lstStyle/>
          <a:p>
            <a:r>
              <a:rPr lang="en-US" sz="900" b="1">
                <a:solidFill>
                  <a:srgbClr val="FFFFFF"/>
                </a:solidFill>
                <a:latin typeface="Calibri"/>
              </a:rPr>
              <a:t>Total Revenue</a:t>
            </a:r>
          </a:p>
        </p:txBody>
      </p:sp>
      <p:sp>
        <p:nvSpPr>
          <p:cNvPr id="37" name="TR1 CO"/>
          <p:cNvSpPr txBox="1"/>
          <p:nvPr/>
        </p:nvSpPr>
        <p:spPr>
          <a:xfrm>
            <a:off x="2651760" y="2834640"/>
            <a:ext cx="1371600" cy="228600"/>
          </a:xfrm>
          <a:prstGeom prst="rect">
            <a:avLst/>
          </a:prstGeom>
          <a:noFill/>
        </p:spPr>
        <p:txBody>
          <a:bodyPr lIns="0" tIns="0" rIns="0" bIns="0" anchor="ctr"/>
          <a:lstStyle/>
          <a:p>
            <a:pPr algn="r"/>
            <a:r>
              <a:rPr lang="en-US" sz="1000" b="1" dirty="0">
                <a:solidFill>
                  <a:srgbClr val="FFFFFF"/>
                </a:solidFill>
                <a:latin typeface="Calibri"/>
              </a:rPr>
              <a:t>$6.4M</a:t>
            </a:r>
          </a:p>
        </p:txBody>
      </p:sp>
      <p:sp>
        <p:nvSpPr>
          <p:cNvPr id="38" name="TR1 FL"/>
          <p:cNvSpPr txBox="1"/>
          <p:nvPr/>
        </p:nvSpPr>
        <p:spPr>
          <a:xfrm>
            <a:off x="4114800" y="2834640"/>
            <a:ext cx="1371600" cy="228600"/>
          </a:xfrm>
          <a:prstGeom prst="rect">
            <a:avLst/>
          </a:prstGeom>
          <a:noFill/>
        </p:spPr>
        <p:txBody>
          <a:bodyPr lIns="0" tIns="0" rIns="0" bIns="0" anchor="ctr"/>
          <a:lstStyle/>
          <a:p>
            <a:pPr algn="r"/>
            <a:r>
              <a:rPr lang="en-US" sz="1000" b="1" dirty="0">
                <a:solidFill>
                  <a:srgbClr val="FFFFFF"/>
                </a:solidFill>
                <a:latin typeface="Calibri"/>
              </a:rPr>
              <a:t>$3.9M</a:t>
            </a:r>
          </a:p>
        </p:txBody>
      </p:sp>
      <p:sp>
        <p:nvSpPr>
          <p:cNvPr id="39" name="TC S1"/>
          <p:cNvSpPr/>
          <p:nvPr/>
        </p:nvSpPr>
        <p:spPr>
          <a:xfrm>
            <a:off x="640080" y="3063240"/>
            <a:ext cx="4846320" cy="9144"/>
          </a:xfrm>
          <a:prstGeom prst="rect">
            <a:avLst/>
          </a:prstGeom>
          <a:solidFill>
            <a:srgbClr val="243447"/>
          </a:solidFill>
          <a:ln>
            <a:noFill/>
          </a:ln>
        </p:spPr>
        <p:txBody>
          <a:bodyPr/>
          <a:lstStyle/>
          <a:p>
            <a:endParaRPr lang="en-US"/>
          </a:p>
        </p:txBody>
      </p:sp>
      <p:sp>
        <p:nvSpPr>
          <p:cNvPr id="40" name="TR2 Label"/>
          <p:cNvSpPr txBox="1"/>
          <p:nvPr/>
        </p:nvSpPr>
        <p:spPr>
          <a:xfrm>
            <a:off x="640080" y="3108960"/>
            <a:ext cx="1920240" cy="228600"/>
          </a:xfrm>
          <a:prstGeom prst="rect">
            <a:avLst/>
          </a:prstGeom>
          <a:noFill/>
        </p:spPr>
        <p:txBody>
          <a:bodyPr lIns="0" tIns="0" rIns="0" bIns="0" anchor="ctr"/>
          <a:lstStyle/>
          <a:p>
            <a:r>
              <a:rPr lang="en-US" sz="900" b="1">
                <a:solidFill>
                  <a:srgbClr val="FFFFFF"/>
                </a:solidFill>
                <a:latin typeface="Calibri"/>
              </a:rPr>
              <a:t>Store Count</a:t>
            </a:r>
          </a:p>
        </p:txBody>
      </p:sp>
      <p:sp>
        <p:nvSpPr>
          <p:cNvPr id="41" name="TR2 CO"/>
          <p:cNvSpPr txBox="1"/>
          <p:nvPr/>
        </p:nvSpPr>
        <p:spPr>
          <a:xfrm>
            <a:off x="2651760" y="3108960"/>
            <a:ext cx="1371600" cy="228600"/>
          </a:xfrm>
          <a:prstGeom prst="rect">
            <a:avLst/>
          </a:prstGeom>
          <a:noFill/>
        </p:spPr>
        <p:txBody>
          <a:bodyPr lIns="0" tIns="0" rIns="0" bIns="0" anchor="ctr"/>
          <a:lstStyle/>
          <a:p>
            <a:pPr algn="r"/>
            <a:r>
              <a:rPr lang="en-US" sz="1000" dirty="0">
                <a:solidFill>
                  <a:srgbClr val="E2E8F0"/>
                </a:solidFill>
                <a:latin typeface="Calibri"/>
              </a:rPr>
              <a:t>18</a:t>
            </a:r>
          </a:p>
        </p:txBody>
      </p:sp>
      <p:sp>
        <p:nvSpPr>
          <p:cNvPr id="42" name="TR2 FL"/>
          <p:cNvSpPr txBox="1"/>
          <p:nvPr/>
        </p:nvSpPr>
        <p:spPr>
          <a:xfrm>
            <a:off x="4114800" y="3108960"/>
            <a:ext cx="1371600" cy="228600"/>
          </a:xfrm>
          <a:prstGeom prst="rect">
            <a:avLst/>
          </a:prstGeom>
          <a:noFill/>
        </p:spPr>
        <p:txBody>
          <a:bodyPr lIns="0" tIns="0" rIns="0" bIns="0" anchor="ctr"/>
          <a:lstStyle/>
          <a:p>
            <a:pPr algn="r"/>
            <a:r>
              <a:rPr lang="en-US" sz="1000" dirty="0">
                <a:solidFill>
                  <a:srgbClr val="E2E8F0"/>
                </a:solidFill>
                <a:latin typeface="Calibri"/>
              </a:rPr>
              <a:t>11</a:t>
            </a:r>
          </a:p>
        </p:txBody>
      </p:sp>
      <p:sp>
        <p:nvSpPr>
          <p:cNvPr id="43" name="TC S2"/>
          <p:cNvSpPr/>
          <p:nvPr/>
        </p:nvSpPr>
        <p:spPr>
          <a:xfrm>
            <a:off x="640080" y="3337560"/>
            <a:ext cx="4846320" cy="9144"/>
          </a:xfrm>
          <a:prstGeom prst="rect">
            <a:avLst/>
          </a:prstGeom>
          <a:solidFill>
            <a:srgbClr val="243447"/>
          </a:solidFill>
          <a:ln>
            <a:noFill/>
          </a:ln>
        </p:spPr>
        <p:txBody>
          <a:bodyPr/>
          <a:lstStyle/>
          <a:p>
            <a:endParaRPr lang="en-US"/>
          </a:p>
        </p:txBody>
      </p:sp>
      <p:sp>
        <p:nvSpPr>
          <p:cNvPr id="44" name="TR3 Label"/>
          <p:cNvSpPr txBox="1"/>
          <p:nvPr/>
        </p:nvSpPr>
        <p:spPr>
          <a:xfrm>
            <a:off x="640080" y="3383280"/>
            <a:ext cx="1920240" cy="228600"/>
          </a:xfrm>
          <a:prstGeom prst="rect">
            <a:avLst/>
          </a:prstGeom>
          <a:noFill/>
        </p:spPr>
        <p:txBody>
          <a:bodyPr lIns="0" tIns="0" rIns="0" bIns="0" anchor="ctr"/>
          <a:lstStyle/>
          <a:p>
            <a:r>
              <a:rPr lang="en-US" sz="900" b="1">
                <a:solidFill>
                  <a:srgbClr val="FFFFFF"/>
                </a:solidFill>
                <a:latin typeface="Calibri"/>
              </a:rPr>
              <a:t>Avg Revenue/Store</a:t>
            </a:r>
          </a:p>
        </p:txBody>
      </p:sp>
      <p:sp>
        <p:nvSpPr>
          <p:cNvPr id="45" name="TR3 CO"/>
          <p:cNvSpPr txBox="1"/>
          <p:nvPr/>
        </p:nvSpPr>
        <p:spPr>
          <a:xfrm>
            <a:off x="2651760" y="3383280"/>
            <a:ext cx="1371600" cy="228600"/>
          </a:xfrm>
          <a:prstGeom prst="rect">
            <a:avLst/>
          </a:prstGeom>
          <a:noFill/>
        </p:spPr>
        <p:txBody>
          <a:bodyPr lIns="0" tIns="0" rIns="0" bIns="0" anchor="ctr"/>
          <a:lstStyle/>
          <a:p>
            <a:pPr algn="r"/>
            <a:r>
              <a:rPr lang="en-US" sz="1000" b="1" dirty="0">
                <a:solidFill>
                  <a:srgbClr val="FFFFFF"/>
                </a:solidFill>
                <a:latin typeface="Calibri"/>
              </a:rPr>
              <a:t>$359,212</a:t>
            </a:r>
          </a:p>
        </p:txBody>
      </p:sp>
      <p:sp>
        <p:nvSpPr>
          <p:cNvPr id="46" name="TR3 FL"/>
          <p:cNvSpPr txBox="1"/>
          <p:nvPr/>
        </p:nvSpPr>
        <p:spPr>
          <a:xfrm>
            <a:off x="4114800" y="3383280"/>
            <a:ext cx="1371600" cy="228600"/>
          </a:xfrm>
          <a:prstGeom prst="rect">
            <a:avLst/>
          </a:prstGeom>
          <a:noFill/>
        </p:spPr>
        <p:txBody>
          <a:bodyPr lIns="0" tIns="0" rIns="0" bIns="0" anchor="ctr"/>
          <a:lstStyle/>
          <a:p>
            <a:pPr algn="r"/>
            <a:r>
              <a:rPr lang="en-US" sz="1000" dirty="0">
                <a:solidFill>
                  <a:srgbClr val="E2E8F0"/>
                </a:solidFill>
                <a:latin typeface="Calibri"/>
              </a:rPr>
              <a:t>$360,024</a:t>
            </a:r>
          </a:p>
        </p:txBody>
      </p:sp>
      <p:sp>
        <p:nvSpPr>
          <p:cNvPr id="47" name="TC S3"/>
          <p:cNvSpPr/>
          <p:nvPr/>
        </p:nvSpPr>
        <p:spPr>
          <a:xfrm>
            <a:off x="640080" y="3611880"/>
            <a:ext cx="4846320" cy="9144"/>
          </a:xfrm>
          <a:prstGeom prst="rect">
            <a:avLst/>
          </a:prstGeom>
          <a:solidFill>
            <a:srgbClr val="243447"/>
          </a:solidFill>
          <a:ln>
            <a:noFill/>
          </a:ln>
        </p:spPr>
        <p:txBody>
          <a:bodyPr/>
          <a:lstStyle/>
          <a:p>
            <a:endParaRPr lang="en-US"/>
          </a:p>
        </p:txBody>
      </p:sp>
      <p:sp>
        <p:nvSpPr>
          <p:cNvPr id="48" name="TR4 Label"/>
          <p:cNvSpPr txBox="1"/>
          <p:nvPr/>
        </p:nvSpPr>
        <p:spPr>
          <a:xfrm>
            <a:off x="640080" y="3657600"/>
            <a:ext cx="1920240" cy="228600"/>
          </a:xfrm>
          <a:prstGeom prst="rect">
            <a:avLst/>
          </a:prstGeom>
          <a:noFill/>
        </p:spPr>
        <p:txBody>
          <a:bodyPr lIns="0" tIns="0" rIns="0" bIns="0" anchor="ctr"/>
          <a:lstStyle/>
          <a:p>
            <a:r>
              <a:rPr lang="en-US" sz="900" b="1" dirty="0">
                <a:solidFill>
                  <a:srgbClr val="FFFFFF"/>
                </a:solidFill>
                <a:latin typeface="Calibri"/>
              </a:rPr>
              <a:t>Top Store Revenue</a:t>
            </a:r>
          </a:p>
        </p:txBody>
      </p:sp>
      <p:sp>
        <p:nvSpPr>
          <p:cNvPr id="49" name="TR4 CO"/>
          <p:cNvSpPr txBox="1"/>
          <p:nvPr/>
        </p:nvSpPr>
        <p:spPr>
          <a:xfrm>
            <a:off x="2651760" y="3657600"/>
            <a:ext cx="1371600" cy="228600"/>
          </a:xfrm>
          <a:prstGeom prst="rect">
            <a:avLst/>
          </a:prstGeom>
          <a:noFill/>
        </p:spPr>
        <p:txBody>
          <a:bodyPr lIns="0" tIns="0" rIns="0" bIns="0" anchor="ctr"/>
          <a:lstStyle/>
          <a:p>
            <a:pPr algn="r"/>
            <a:r>
              <a:rPr lang="en-US" sz="1000" b="1" dirty="0">
                <a:solidFill>
                  <a:srgbClr val="22C55E"/>
                </a:solidFill>
                <a:latin typeface="Calibri"/>
              </a:rPr>
              <a:t>$900K</a:t>
            </a:r>
          </a:p>
        </p:txBody>
      </p:sp>
      <p:sp>
        <p:nvSpPr>
          <p:cNvPr id="50" name="TR4 FL"/>
          <p:cNvSpPr txBox="1"/>
          <p:nvPr/>
        </p:nvSpPr>
        <p:spPr>
          <a:xfrm>
            <a:off x="4114800" y="3657600"/>
            <a:ext cx="1371600" cy="228600"/>
          </a:xfrm>
          <a:prstGeom prst="rect">
            <a:avLst/>
          </a:prstGeom>
          <a:noFill/>
        </p:spPr>
        <p:txBody>
          <a:bodyPr lIns="0" tIns="0" rIns="0" bIns="0" anchor="ctr"/>
          <a:lstStyle/>
          <a:p>
            <a:pPr algn="r"/>
            <a:r>
              <a:rPr lang="en-US" sz="1000" b="1" dirty="0">
                <a:solidFill>
                  <a:srgbClr val="22C55E"/>
                </a:solidFill>
                <a:latin typeface="Calibri"/>
              </a:rPr>
              <a:t>$623K</a:t>
            </a:r>
          </a:p>
        </p:txBody>
      </p:sp>
      <p:sp>
        <p:nvSpPr>
          <p:cNvPr id="51" name="TC S4"/>
          <p:cNvSpPr/>
          <p:nvPr/>
        </p:nvSpPr>
        <p:spPr>
          <a:xfrm>
            <a:off x="640080" y="3886200"/>
            <a:ext cx="4846320" cy="9144"/>
          </a:xfrm>
          <a:prstGeom prst="rect">
            <a:avLst/>
          </a:prstGeom>
          <a:solidFill>
            <a:srgbClr val="243447"/>
          </a:solidFill>
          <a:ln>
            <a:noFill/>
          </a:ln>
        </p:spPr>
        <p:txBody>
          <a:bodyPr/>
          <a:lstStyle/>
          <a:p>
            <a:endParaRPr lang="en-US"/>
          </a:p>
        </p:txBody>
      </p:sp>
      <p:sp>
        <p:nvSpPr>
          <p:cNvPr id="52" name="TR5 Label"/>
          <p:cNvSpPr txBox="1"/>
          <p:nvPr/>
        </p:nvSpPr>
        <p:spPr>
          <a:xfrm>
            <a:off x="640080" y="3931920"/>
            <a:ext cx="1920240" cy="228600"/>
          </a:xfrm>
          <a:prstGeom prst="rect">
            <a:avLst/>
          </a:prstGeom>
          <a:noFill/>
        </p:spPr>
        <p:txBody>
          <a:bodyPr lIns="0" tIns="0" rIns="0" bIns="0" anchor="ctr"/>
          <a:lstStyle/>
          <a:p>
            <a:r>
              <a:rPr lang="en-US" sz="900" b="1">
                <a:solidFill>
                  <a:srgbClr val="FFFFFF"/>
                </a:solidFill>
                <a:latin typeface="Calibri"/>
              </a:rPr>
              <a:t>Top Category</a:t>
            </a:r>
          </a:p>
        </p:txBody>
      </p:sp>
      <p:sp>
        <p:nvSpPr>
          <p:cNvPr id="53" name="TR5 CO"/>
          <p:cNvSpPr txBox="1"/>
          <p:nvPr/>
        </p:nvSpPr>
        <p:spPr>
          <a:xfrm>
            <a:off x="2651760" y="3931920"/>
            <a:ext cx="1371600" cy="228600"/>
          </a:xfrm>
          <a:prstGeom prst="rect">
            <a:avLst/>
          </a:prstGeom>
          <a:noFill/>
        </p:spPr>
        <p:txBody>
          <a:bodyPr lIns="0" tIns="0" rIns="0" bIns="0" anchor="ctr"/>
          <a:lstStyle/>
          <a:p>
            <a:pPr algn="r"/>
            <a:r>
              <a:rPr lang="en-US" sz="900" dirty="0">
                <a:solidFill>
                  <a:srgbClr val="E2E8F0"/>
                </a:solidFill>
                <a:latin typeface="Calibri"/>
              </a:rPr>
              <a:t>Tech &amp; Accessories</a:t>
            </a:r>
          </a:p>
        </p:txBody>
      </p:sp>
      <p:sp>
        <p:nvSpPr>
          <p:cNvPr id="54" name="TR5 FL"/>
          <p:cNvSpPr txBox="1"/>
          <p:nvPr/>
        </p:nvSpPr>
        <p:spPr>
          <a:xfrm>
            <a:off x="4114800" y="3931920"/>
            <a:ext cx="1371600" cy="228600"/>
          </a:xfrm>
          <a:prstGeom prst="rect">
            <a:avLst/>
          </a:prstGeom>
          <a:noFill/>
        </p:spPr>
        <p:txBody>
          <a:bodyPr lIns="0" tIns="0" rIns="0" bIns="0" anchor="ctr"/>
          <a:lstStyle/>
          <a:p>
            <a:pPr algn="r"/>
            <a:r>
              <a:rPr lang="en-US" sz="900" dirty="0">
                <a:solidFill>
                  <a:srgbClr val="E2E8F0"/>
                </a:solidFill>
              </a:rPr>
              <a:t>Tech &amp; Accessories</a:t>
            </a:r>
          </a:p>
        </p:txBody>
      </p:sp>
      <p:sp>
        <p:nvSpPr>
          <p:cNvPr id="60" name="Map BG"/>
          <p:cNvSpPr/>
          <p:nvPr/>
        </p:nvSpPr>
        <p:spPr>
          <a:xfrm>
            <a:off x="6035040" y="2253738"/>
            <a:ext cx="2560320" cy="1241814"/>
          </a:xfrm>
          <a:prstGeom prst="rect">
            <a:avLst/>
          </a:prstGeom>
          <a:solidFill>
            <a:srgbClr val="0B1730"/>
          </a:solidFill>
          <a:ln w="12700">
            <a:solidFill>
              <a:srgbClr val="2D3748"/>
            </a:solidFill>
            <a:prstDash val="dash"/>
          </a:ln>
        </p:spPr>
        <p:txBody>
          <a:bodyPr/>
          <a:lstStyle/>
          <a:p>
            <a:endParaRPr lang="en-US"/>
          </a:p>
        </p:txBody>
      </p:sp>
      <p:pic>
        <p:nvPicPr>
          <p:cNvPr id="5" name="Picture 4">
            <a:extLst>
              <a:ext uri="{FF2B5EF4-FFF2-40B4-BE49-F238E27FC236}">
                <a16:creationId xmlns:a16="http://schemas.microsoft.com/office/drawing/2014/main" id="{99E55328-86FC-ED46-14D0-8B9FAF668647}"/>
              </a:ext>
            </a:extLst>
          </p:cNvPr>
          <p:cNvPicPr>
            <a:picLocks noChangeAspect="1"/>
          </p:cNvPicPr>
          <p:nvPr/>
        </p:nvPicPr>
        <p:blipFill>
          <a:blip r:embed="rId3"/>
          <a:srcRect/>
          <a:stretch/>
        </p:blipFill>
        <p:spPr>
          <a:xfrm>
            <a:off x="6035040" y="2248023"/>
            <a:ext cx="2560320" cy="1253244"/>
          </a:xfrm>
          <a:prstGeom prst="rect">
            <a:avLst/>
          </a:prstGeom>
        </p:spPr>
      </p:pic>
      <p:sp>
        <p:nvSpPr>
          <p:cNvPr id="70" name="KF Header"/>
          <p:cNvSpPr txBox="1"/>
          <p:nvPr/>
        </p:nvSpPr>
        <p:spPr>
          <a:xfrm>
            <a:off x="6035040" y="3566160"/>
            <a:ext cx="2560320" cy="182880"/>
          </a:xfrm>
          <a:prstGeom prst="rect">
            <a:avLst/>
          </a:prstGeom>
          <a:noFill/>
        </p:spPr>
        <p:txBody>
          <a:bodyPr lIns="0" tIns="0" rIns="0" bIns="0" anchor="b"/>
          <a:lstStyle/>
          <a:p>
            <a:r>
              <a:rPr lang="en-US" sz="1200" b="1" dirty="0">
                <a:solidFill>
                  <a:srgbClr val="2DD4BF"/>
                </a:solidFill>
                <a:latin typeface="Trebuchet MS"/>
              </a:rPr>
              <a:t>Key Findings</a:t>
            </a:r>
          </a:p>
        </p:txBody>
      </p:sp>
      <p:sp>
        <p:nvSpPr>
          <p:cNvPr id="71" name="KF BG"/>
          <p:cNvSpPr/>
          <p:nvPr/>
        </p:nvSpPr>
        <p:spPr>
          <a:xfrm>
            <a:off x="6035040" y="3749040"/>
            <a:ext cx="2560320" cy="1326234"/>
          </a:xfrm>
          <a:prstGeom prst="rect">
            <a:avLst/>
          </a:prstGeom>
          <a:solidFill>
            <a:srgbClr val="1E2D44"/>
          </a:solidFill>
          <a:ln>
            <a:noFill/>
          </a:ln>
        </p:spPr>
        <p:txBody>
          <a:bodyPr/>
          <a:lstStyle/>
          <a:p>
            <a:endParaRPr lang="en-US"/>
          </a:p>
        </p:txBody>
      </p:sp>
      <p:sp>
        <p:nvSpPr>
          <p:cNvPr id="72" name="KF Body"/>
          <p:cNvSpPr txBox="1"/>
          <p:nvPr/>
        </p:nvSpPr>
        <p:spPr>
          <a:xfrm>
            <a:off x="6166301" y="3794760"/>
            <a:ext cx="2377440" cy="868680"/>
          </a:xfrm>
          <a:prstGeom prst="rect">
            <a:avLst/>
          </a:prstGeom>
          <a:noFill/>
        </p:spPr>
        <p:txBody>
          <a:bodyPr lIns="0" tIns="0" rIns="0" bIns="0" anchor="t"/>
          <a:lstStyle/>
          <a:p>
            <a:pPr>
              <a:spcAft>
                <a:spcPts val="400"/>
              </a:spcAft>
            </a:pPr>
            <a:r>
              <a:rPr lang="en-US" sz="800" dirty="0">
                <a:solidFill>
                  <a:srgbClr val="E2E8F0"/>
                </a:solidFill>
              </a:rPr>
              <a:t>•Colorado generated $6.4M in revenue, outperforming Florida's $3.9M during the analysis period.</a:t>
            </a:r>
          </a:p>
          <a:p>
            <a:pPr>
              <a:spcAft>
                <a:spcPts val="400"/>
              </a:spcAft>
            </a:pPr>
            <a:r>
              <a:rPr lang="en-US" sz="800" dirty="0">
                <a:solidFill>
                  <a:srgbClr val="E2E8F0"/>
                </a:solidFill>
              </a:rPr>
              <a:t>Technology &amp; Accessories was the highest-performing product category in both territories.</a:t>
            </a:r>
          </a:p>
          <a:p>
            <a:pPr>
              <a:spcAft>
                <a:spcPts val="400"/>
              </a:spcAft>
            </a:pPr>
            <a:r>
              <a:rPr lang="en-US" sz="800" dirty="0">
                <a:solidFill>
                  <a:srgbClr val="E2E8F0"/>
                </a:solidFill>
              </a:rPr>
              <a:t>Colorado's top store generated $900K in revenue, while Florida's top store generated $623K.</a:t>
            </a:r>
          </a:p>
          <a:p>
            <a:pPr>
              <a:spcAft>
                <a:spcPts val="400"/>
              </a:spcAft>
            </a:pPr>
            <a:r>
              <a:rPr lang="en-US" sz="800" dirty="0">
                <a:solidFill>
                  <a:srgbClr val="E2E8F0"/>
                </a:solidFill>
              </a:rPr>
              <a:t>Both territories experienced significant revenue spikes during holiday shopping periods, indicating strong seasonal demand</a:t>
            </a:r>
            <a:endParaRPr lang="en-US" sz="800" dirty="0">
              <a:solidFill>
                <a:srgbClr val="E2E8F0"/>
              </a:solidFill>
              <a:latin typeface="Calibri"/>
            </a:endParaRPr>
          </a:p>
        </p:txBody>
      </p:sp>
      <p:sp>
        <p:nvSpPr>
          <p:cNvPr id="80" name="Footnote"/>
          <p:cNvSpPr txBox="1"/>
          <p:nvPr/>
        </p:nvSpPr>
        <p:spPr>
          <a:xfrm>
            <a:off x="548640" y="4297680"/>
            <a:ext cx="5303520" cy="228600"/>
          </a:xfrm>
          <a:prstGeom prst="rect">
            <a:avLst/>
          </a:prstGeom>
          <a:noFill/>
        </p:spPr>
        <p:txBody>
          <a:bodyPr lIns="0" tIns="0" rIns="0" bIns="0" anchor="t"/>
          <a:lstStyle/>
          <a:p>
            <a:r>
              <a:rPr lang="en-US" sz="800" i="1" dirty="0">
                <a:solidFill>
                  <a:srgbClr val="8B9CB6"/>
                </a:solidFill>
                <a:latin typeface="Calibri"/>
              </a:rPr>
              <a:t>Analysis period: January 2022 – December 2025 | Revenue figures shown in USD</a:t>
            </a:r>
          </a:p>
        </p:txBody>
      </p:sp>
      <p:sp>
        <p:nvSpPr>
          <p:cNvPr id="6" name="KF Header">
            <a:extLst>
              <a:ext uri="{FF2B5EF4-FFF2-40B4-BE49-F238E27FC236}">
                <a16:creationId xmlns:a16="http://schemas.microsoft.com/office/drawing/2014/main" id="{9D6C9FC0-2871-7205-699D-0A2C4DEF5499}"/>
              </a:ext>
            </a:extLst>
          </p:cNvPr>
          <p:cNvSpPr txBox="1"/>
          <p:nvPr/>
        </p:nvSpPr>
        <p:spPr>
          <a:xfrm>
            <a:off x="6035040" y="2056991"/>
            <a:ext cx="2560320" cy="182880"/>
          </a:xfrm>
          <a:prstGeom prst="rect">
            <a:avLst/>
          </a:prstGeom>
          <a:noFill/>
          <a:ln>
            <a:noFill/>
          </a:ln>
        </p:spPr>
        <p:txBody>
          <a:bodyPr lIns="0" tIns="0" rIns="0" bIns="0" anchor="b"/>
          <a:lstStyle/>
          <a:p>
            <a:r>
              <a:rPr lang="en-US" sz="1200" b="1" dirty="0">
                <a:solidFill>
                  <a:srgbClr val="2DD4BF"/>
                </a:solidFill>
                <a:latin typeface="Trebuchet MS"/>
              </a:rPr>
              <a:t>Territory Map</a:t>
            </a:r>
          </a:p>
        </p:txBody>
      </p:sp>
      <p:sp>
        <p:nvSpPr>
          <p:cNvPr id="7" name="Oval 6">
            <a:extLst>
              <a:ext uri="{FF2B5EF4-FFF2-40B4-BE49-F238E27FC236}">
                <a16:creationId xmlns:a16="http://schemas.microsoft.com/office/drawing/2014/main" id="{34ADC2C2-BC10-C743-814F-BE5F2F3B24E8}"/>
              </a:ext>
            </a:extLst>
          </p:cNvPr>
          <p:cNvSpPr/>
          <p:nvPr/>
        </p:nvSpPr>
        <p:spPr>
          <a:xfrm>
            <a:off x="8321040" y="3063240"/>
            <a:ext cx="182880" cy="27432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c 54" descr="Footprints with solid fill">
            <a:extLst>
              <a:ext uri="{FF2B5EF4-FFF2-40B4-BE49-F238E27FC236}">
                <a16:creationId xmlns:a16="http://schemas.microsoft.com/office/drawing/2014/main" id="{A7194470-803D-88A8-F3BF-C8ED7BB636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4464683"/>
            <a:ext cx="437903" cy="375345"/>
          </a:xfrm>
          <a:prstGeom prst="rect">
            <a:avLst/>
          </a:prstGeom>
        </p:spPr>
      </p:pic>
      <p:pic>
        <p:nvPicPr>
          <p:cNvPr id="56" name="Graphic 55" descr="Upward trend with solid fill">
            <a:extLst>
              <a:ext uri="{FF2B5EF4-FFF2-40B4-BE49-F238E27FC236}">
                <a16:creationId xmlns:a16="http://schemas.microsoft.com/office/drawing/2014/main" id="{9EBBA1B9-EEE8-80AD-166E-D28E94B77C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8" y="3914601"/>
            <a:ext cx="437903" cy="375345"/>
          </a:xfrm>
          <a:prstGeom prst="rect">
            <a:avLst/>
          </a:prstGeom>
        </p:spPr>
      </p:pic>
      <p:pic>
        <p:nvPicPr>
          <p:cNvPr id="57" name="Graphic 56" descr="Trophy with solid fill">
            <a:extLst>
              <a:ext uri="{FF2B5EF4-FFF2-40B4-BE49-F238E27FC236}">
                <a16:creationId xmlns:a16="http://schemas.microsoft.com/office/drawing/2014/main" id="{BE2D15D0-9B4F-8C4B-BF06-D9E28971229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59" y="3275963"/>
            <a:ext cx="437903" cy="375345"/>
          </a:xfrm>
          <a:prstGeom prst="rect">
            <a:avLst/>
          </a:prstGeom>
        </p:spPr>
      </p:pic>
      <p:pic>
        <p:nvPicPr>
          <p:cNvPr id="58" name="Graphic 57" descr="Inventory with solid fill">
            <a:extLst>
              <a:ext uri="{FF2B5EF4-FFF2-40B4-BE49-F238E27FC236}">
                <a16:creationId xmlns:a16="http://schemas.microsoft.com/office/drawing/2014/main" id="{E764A6CE-2C64-1FBD-DF0A-C2ED246DC9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60" y="2636553"/>
            <a:ext cx="437903" cy="375345"/>
          </a:xfrm>
          <a:prstGeom prst="rect">
            <a:avLst/>
          </a:prstGeom>
        </p:spPr>
      </p:pic>
      <p:pic>
        <p:nvPicPr>
          <p:cNvPr id="59" name="Graphic 58" descr="Topography Map with solid fill">
            <a:extLst>
              <a:ext uri="{FF2B5EF4-FFF2-40B4-BE49-F238E27FC236}">
                <a16:creationId xmlns:a16="http://schemas.microsoft.com/office/drawing/2014/main" id="{4EBB89BB-4F4A-3456-F604-F9C42CD37B5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992919"/>
            <a:ext cx="437903" cy="375345"/>
          </a:xfrm>
          <a:prstGeom prst="rect">
            <a:avLst/>
          </a:prstGeom>
        </p:spPr>
      </p:pic>
      <p:pic>
        <p:nvPicPr>
          <p:cNvPr id="66" name="Graphic 65" descr="Soap with solid fill">
            <a:extLst>
              <a:ext uri="{FF2B5EF4-FFF2-40B4-BE49-F238E27FC236}">
                <a16:creationId xmlns:a16="http://schemas.microsoft.com/office/drawing/2014/main" id="{C6E8DB80-9A68-AA03-844B-BEA7DCC8EB2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7" y="1354281"/>
            <a:ext cx="437903" cy="375345"/>
          </a:xfrm>
          <a:prstGeom prst="rect">
            <a:avLst/>
          </a:prstGeom>
        </p:spPr>
      </p:pic>
      <p:pic>
        <p:nvPicPr>
          <p:cNvPr id="67" name="Graphic 66" descr="List with solid fill">
            <a:extLst>
              <a:ext uri="{FF2B5EF4-FFF2-40B4-BE49-F238E27FC236}">
                <a16:creationId xmlns:a16="http://schemas.microsoft.com/office/drawing/2014/main" id="{9B7AAC51-DA6B-987E-F0DB-404697B9704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41E30"/>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r>
              <a:rPr lang="en-US" sz="3600" b="1" dirty="0">
                <a:solidFill>
                  <a:srgbClr val="FFFFFF"/>
                </a:solidFill>
                <a:latin typeface="Trebuchet MS" pitchFamily="34" charset="0"/>
                <a:ea typeface="Trebuchet MS" pitchFamily="34" charset="-122"/>
                <a:cs typeface="Trebuchet MS" pitchFamily="34" charset="-120"/>
              </a:rPr>
              <a:t>Monthly Revenue Insight</a:t>
            </a:r>
            <a:endParaRPr lang="en-US" sz="3600" dirty="0"/>
          </a:p>
        </p:txBody>
      </p:sp>
      <p:sp>
        <p:nvSpPr>
          <p:cNvPr id="3" name="Text 1"/>
          <p:cNvSpPr/>
          <p:nvPr/>
        </p:nvSpPr>
        <p:spPr>
          <a:xfrm>
            <a:off x="731520" y="960120"/>
            <a:ext cx="7315200" cy="274320"/>
          </a:xfrm>
          <a:prstGeom prst="rect">
            <a:avLst/>
          </a:prstGeom>
          <a:noFill/>
          <a:ln/>
        </p:spPr>
        <p:txBody>
          <a:bodyPr wrap="square" lIns="0" tIns="0" rIns="0" bIns="0" rtlCol="0" anchor="ctr"/>
          <a:lstStyle/>
          <a:p>
            <a:pPr marL="0" indent="0">
              <a:buNone/>
            </a:pPr>
            <a:r>
              <a:rPr lang="en-US" sz="1200" dirty="0">
                <a:solidFill>
                  <a:srgbClr val="8B9CB6"/>
                </a:solidFill>
                <a:latin typeface="Calibri" pitchFamily="34" charset="0"/>
                <a:ea typeface="Calibri" pitchFamily="34" charset="-122"/>
                <a:cs typeface="Calibri" pitchFamily="34" charset="-120"/>
              </a:rPr>
              <a:t>Colorado</a:t>
            </a:r>
            <a:endParaRPr lang="en-US" sz="1200" dirty="0"/>
          </a:p>
        </p:txBody>
      </p:sp>
      <p:sp>
        <p:nvSpPr>
          <p:cNvPr id="4" name="Shape 2"/>
          <p:cNvSpPr/>
          <p:nvPr/>
        </p:nvSpPr>
        <p:spPr>
          <a:xfrm>
            <a:off x="914400" y="1965960"/>
            <a:ext cx="7818120" cy="27432"/>
          </a:xfrm>
          <a:prstGeom prst="rect">
            <a:avLst/>
          </a:prstGeom>
          <a:solidFill>
            <a:srgbClr val="2DD4BF"/>
          </a:solidFill>
          <a:ln/>
        </p:spPr>
        <p:txBody>
          <a:bodyPr/>
          <a:lstStyle/>
          <a:p>
            <a:endParaRPr lang="en-US"/>
          </a:p>
        </p:txBody>
      </p:sp>
      <p:sp>
        <p:nvSpPr>
          <p:cNvPr id="5" name="Shape 3"/>
          <p:cNvSpPr/>
          <p:nvPr/>
        </p:nvSpPr>
        <p:spPr>
          <a:xfrm>
            <a:off x="1508760" y="1810512"/>
            <a:ext cx="320040" cy="320040"/>
          </a:xfrm>
          <a:prstGeom prst="ellipse">
            <a:avLst/>
          </a:prstGeom>
          <a:solidFill>
            <a:srgbClr val="2DD4BF"/>
          </a:solidFill>
          <a:ln w="25400">
            <a:solidFill>
              <a:srgbClr val="2DD4BF"/>
            </a:solidFill>
            <a:prstDash val="solid"/>
          </a:ln>
        </p:spPr>
        <p:txBody>
          <a:bodyPr/>
          <a:lstStyle/>
          <a:p>
            <a:endParaRPr lang="en-US">
              <a:ln>
                <a:solidFill>
                  <a:srgbClr val="2DD4BF"/>
                </a:solidFill>
              </a:ln>
              <a:solidFill>
                <a:srgbClr val="141E30"/>
              </a:solidFill>
            </a:endParaRPr>
          </a:p>
        </p:txBody>
      </p:sp>
      <p:sp>
        <p:nvSpPr>
          <p:cNvPr id="6" name="Text 4"/>
          <p:cNvSpPr/>
          <p:nvPr/>
        </p:nvSpPr>
        <p:spPr>
          <a:xfrm>
            <a:off x="731520" y="1417320"/>
            <a:ext cx="1920240" cy="320040"/>
          </a:xfrm>
          <a:prstGeom prst="rect">
            <a:avLst/>
          </a:prstGeom>
          <a:noFill/>
          <a:ln/>
        </p:spPr>
        <p:txBody>
          <a:bodyPr wrap="square" lIns="0" tIns="0" rIns="0" bIns="0" rtlCol="0" anchor="ctr"/>
          <a:lstStyle/>
          <a:p>
            <a:pPr algn="ctr"/>
            <a:r>
              <a:rPr lang="en-US" sz="1300" b="1" dirty="0">
                <a:solidFill>
                  <a:srgbClr val="2DD4BF"/>
                </a:solidFill>
                <a:latin typeface="Trebuchet MS" pitchFamily="34" charset="0"/>
                <a:ea typeface="Trebuchet MS" pitchFamily="34" charset="-122"/>
                <a:cs typeface="Trebuchet MS" pitchFamily="34" charset="-120"/>
              </a:rPr>
              <a:t>2022</a:t>
            </a:r>
            <a:endParaRPr lang="en-US" sz="1300" dirty="0"/>
          </a:p>
        </p:txBody>
      </p:sp>
      <p:sp>
        <p:nvSpPr>
          <p:cNvPr id="7" name="Shape 5"/>
          <p:cNvSpPr/>
          <p:nvPr/>
        </p:nvSpPr>
        <p:spPr>
          <a:xfrm>
            <a:off x="731520" y="2377440"/>
            <a:ext cx="1920240" cy="2377440"/>
          </a:xfrm>
          <a:prstGeom prst="rect">
            <a:avLst/>
          </a:prstGeom>
          <a:solidFill>
            <a:srgbClr val="1E2D44"/>
          </a:solidFill>
          <a:ln/>
        </p:spPr>
        <p:txBody>
          <a:bodyPr/>
          <a:lstStyle/>
          <a:p>
            <a:endParaRPr lang="en-US"/>
          </a:p>
        </p:txBody>
      </p:sp>
      <p:sp>
        <p:nvSpPr>
          <p:cNvPr id="10" name="Text 8"/>
          <p:cNvSpPr/>
          <p:nvPr/>
        </p:nvSpPr>
        <p:spPr>
          <a:xfrm>
            <a:off x="891540" y="3449649"/>
            <a:ext cx="1554480" cy="548640"/>
          </a:xfrm>
          <a:prstGeom prst="rect">
            <a:avLst/>
          </a:prstGeom>
          <a:noFill/>
          <a:ln/>
        </p:spPr>
        <p:txBody>
          <a:bodyPr wrap="square" lIns="0" tIns="0" rIns="0" bIns="0" rtlCol="0" anchor="ctr"/>
          <a:lstStyle/>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2022-01	78,395.85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2022-02	80,954.78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2022-03	82,923.78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2022-04	89,744.65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2022-05	95,478.58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2022-06	87,313.86</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2022-07	94,486.21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2022-08	87,594.39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2022-09	85,006.71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2022-10	79,259.43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2022-11	77,502.88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2022-12	78,952.14</a:t>
            </a:r>
            <a:endParaRPr lang="en-US" sz="1000" dirty="0"/>
          </a:p>
        </p:txBody>
      </p:sp>
      <p:sp>
        <p:nvSpPr>
          <p:cNvPr id="12" name="Shape 10"/>
          <p:cNvSpPr/>
          <p:nvPr/>
        </p:nvSpPr>
        <p:spPr>
          <a:xfrm>
            <a:off x="3566160" y="1810512"/>
            <a:ext cx="320040" cy="320040"/>
          </a:xfrm>
          <a:prstGeom prst="ellipse">
            <a:avLst/>
          </a:prstGeom>
          <a:solidFill>
            <a:srgbClr val="1E2D44"/>
          </a:solidFill>
          <a:ln w="25400">
            <a:solidFill>
              <a:srgbClr val="2DD4BF"/>
            </a:solidFill>
            <a:prstDash val="solid"/>
          </a:ln>
        </p:spPr>
        <p:txBody>
          <a:bodyPr/>
          <a:lstStyle/>
          <a:p>
            <a:endParaRPr lang="en-US"/>
          </a:p>
        </p:txBody>
      </p:sp>
      <p:sp>
        <p:nvSpPr>
          <p:cNvPr id="13" name="Text 11"/>
          <p:cNvSpPr/>
          <p:nvPr/>
        </p:nvSpPr>
        <p:spPr>
          <a:xfrm>
            <a:off x="2788920" y="1417320"/>
            <a:ext cx="1920240" cy="320040"/>
          </a:xfrm>
          <a:prstGeom prst="rect">
            <a:avLst/>
          </a:prstGeom>
          <a:noFill/>
          <a:ln/>
        </p:spPr>
        <p:txBody>
          <a:bodyPr wrap="square" lIns="0" tIns="0" rIns="0" bIns="0" rtlCol="0" anchor="ctr"/>
          <a:lstStyle/>
          <a:p>
            <a:pPr algn="ctr"/>
            <a:r>
              <a:rPr lang="en-US" sz="1300" b="1" dirty="0">
                <a:solidFill>
                  <a:srgbClr val="2DD4BF"/>
                </a:solidFill>
                <a:latin typeface="Trebuchet MS" pitchFamily="34" charset="0"/>
                <a:ea typeface="Trebuchet MS" pitchFamily="34" charset="-122"/>
                <a:cs typeface="Trebuchet MS" pitchFamily="34" charset="-120"/>
              </a:rPr>
              <a:t>2023</a:t>
            </a:r>
            <a:endParaRPr lang="en-US" sz="1300" dirty="0"/>
          </a:p>
        </p:txBody>
      </p:sp>
      <p:sp>
        <p:nvSpPr>
          <p:cNvPr id="14" name="Shape 12"/>
          <p:cNvSpPr/>
          <p:nvPr/>
        </p:nvSpPr>
        <p:spPr>
          <a:xfrm>
            <a:off x="2788920" y="2377440"/>
            <a:ext cx="1920240" cy="2377440"/>
          </a:xfrm>
          <a:prstGeom prst="rect">
            <a:avLst/>
          </a:prstGeom>
          <a:solidFill>
            <a:srgbClr val="1E2D44"/>
          </a:solidFill>
          <a:ln/>
        </p:spPr>
        <p:txBody>
          <a:bodyPr/>
          <a:lstStyle/>
          <a:p>
            <a:endParaRPr lang="en-US"/>
          </a:p>
        </p:txBody>
      </p:sp>
      <p:sp>
        <p:nvSpPr>
          <p:cNvPr id="19" name="Shape 17"/>
          <p:cNvSpPr/>
          <p:nvPr/>
        </p:nvSpPr>
        <p:spPr>
          <a:xfrm>
            <a:off x="5623560" y="1810512"/>
            <a:ext cx="320040" cy="320040"/>
          </a:xfrm>
          <a:prstGeom prst="ellipse">
            <a:avLst/>
          </a:prstGeom>
          <a:solidFill>
            <a:srgbClr val="1E2D44"/>
          </a:solidFill>
          <a:ln w="25400">
            <a:solidFill>
              <a:srgbClr val="2DD4BF"/>
            </a:solidFill>
            <a:prstDash val="solid"/>
          </a:ln>
        </p:spPr>
        <p:txBody>
          <a:bodyPr/>
          <a:lstStyle/>
          <a:p>
            <a:endParaRPr lang="en-US"/>
          </a:p>
        </p:txBody>
      </p:sp>
      <p:sp>
        <p:nvSpPr>
          <p:cNvPr id="20" name="Text 18"/>
          <p:cNvSpPr/>
          <p:nvPr/>
        </p:nvSpPr>
        <p:spPr>
          <a:xfrm>
            <a:off x="4846320" y="1417320"/>
            <a:ext cx="1920240" cy="320040"/>
          </a:xfrm>
          <a:prstGeom prst="rect">
            <a:avLst/>
          </a:prstGeom>
          <a:noFill/>
          <a:ln/>
        </p:spPr>
        <p:txBody>
          <a:bodyPr wrap="square" lIns="0" tIns="0" rIns="0" bIns="0" rtlCol="0" anchor="ctr"/>
          <a:lstStyle/>
          <a:p>
            <a:pPr algn="ctr"/>
            <a:r>
              <a:rPr lang="en-US" sz="1300" b="1" dirty="0">
                <a:solidFill>
                  <a:srgbClr val="2DD4BF"/>
                </a:solidFill>
                <a:latin typeface="Trebuchet MS" pitchFamily="34" charset="0"/>
                <a:ea typeface="Trebuchet MS" pitchFamily="34" charset="-122"/>
                <a:cs typeface="Trebuchet MS" pitchFamily="34" charset="-120"/>
              </a:rPr>
              <a:t>2024</a:t>
            </a:r>
            <a:endParaRPr lang="en-US" sz="1300" dirty="0"/>
          </a:p>
        </p:txBody>
      </p:sp>
      <p:sp>
        <p:nvSpPr>
          <p:cNvPr id="21" name="Shape 19"/>
          <p:cNvSpPr/>
          <p:nvPr/>
        </p:nvSpPr>
        <p:spPr>
          <a:xfrm>
            <a:off x="4846320" y="2377440"/>
            <a:ext cx="1920240" cy="2377440"/>
          </a:xfrm>
          <a:prstGeom prst="rect">
            <a:avLst/>
          </a:prstGeom>
          <a:solidFill>
            <a:srgbClr val="1E2D44"/>
          </a:solidFill>
          <a:ln/>
        </p:spPr>
        <p:txBody>
          <a:bodyPr/>
          <a:lstStyle/>
          <a:p>
            <a:endParaRPr lang="en-US"/>
          </a:p>
        </p:txBody>
      </p:sp>
      <p:sp>
        <p:nvSpPr>
          <p:cNvPr id="26" name="Shape 24"/>
          <p:cNvSpPr/>
          <p:nvPr/>
        </p:nvSpPr>
        <p:spPr>
          <a:xfrm>
            <a:off x="7680960" y="1810512"/>
            <a:ext cx="320040" cy="320040"/>
          </a:xfrm>
          <a:prstGeom prst="ellipse">
            <a:avLst/>
          </a:prstGeom>
          <a:solidFill>
            <a:srgbClr val="1E2D44"/>
          </a:solidFill>
          <a:ln w="25400">
            <a:solidFill>
              <a:srgbClr val="2DD4BF"/>
            </a:solidFill>
            <a:prstDash val="solid"/>
          </a:ln>
        </p:spPr>
        <p:txBody>
          <a:bodyPr/>
          <a:lstStyle/>
          <a:p>
            <a:endParaRPr lang="en-US"/>
          </a:p>
        </p:txBody>
      </p:sp>
      <p:sp>
        <p:nvSpPr>
          <p:cNvPr id="27" name="Text 25"/>
          <p:cNvSpPr/>
          <p:nvPr/>
        </p:nvSpPr>
        <p:spPr>
          <a:xfrm>
            <a:off x="6903720" y="1417320"/>
            <a:ext cx="1920240" cy="320040"/>
          </a:xfrm>
          <a:prstGeom prst="rect">
            <a:avLst/>
          </a:prstGeom>
          <a:noFill/>
          <a:ln/>
        </p:spPr>
        <p:txBody>
          <a:bodyPr wrap="square" lIns="0" tIns="0" rIns="0" bIns="0" rtlCol="0" anchor="ctr"/>
          <a:lstStyle/>
          <a:p>
            <a:pPr algn="ctr"/>
            <a:r>
              <a:rPr lang="en-US" sz="1300" b="1" dirty="0">
                <a:solidFill>
                  <a:srgbClr val="2DD4BF"/>
                </a:solidFill>
                <a:latin typeface="Trebuchet MS" pitchFamily="34" charset="0"/>
                <a:ea typeface="Trebuchet MS" pitchFamily="34" charset="-122"/>
                <a:cs typeface="Trebuchet MS" pitchFamily="34" charset="-120"/>
              </a:rPr>
              <a:t>2025</a:t>
            </a:r>
            <a:endParaRPr lang="en-US" sz="1300" dirty="0"/>
          </a:p>
        </p:txBody>
      </p:sp>
      <p:sp>
        <p:nvSpPr>
          <p:cNvPr id="28" name="Shape 26"/>
          <p:cNvSpPr/>
          <p:nvPr/>
        </p:nvSpPr>
        <p:spPr>
          <a:xfrm>
            <a:off x="6903720" y="2377440"/>
            <a:ext cx="1920240" cy="2377440"/>
          </a:xfrm>
          <a:prstGeom prst="rect">
            <a:avLst/>
          </a:prstGeom>
          <a:solidFill>
            <a:srgbClr val="1E2D44"/>
          </a:solidFill>
          <a:ln/>
        </p:spPr>
        <p:txBody>
          <a:bodyPr/>
          <a:lstStyle/>
          <a:p>
            <a:endParaRPr lang="en-US"/>
          </a:p>
        </p:txBody>
      </p:sp>
      <p:sp>
        <p:nvSpPr>
          <p:cNvPr id="35" name="Text 6">
            <a:extLst>
              <a:ext uri="{FF2B5EF4-FFF2-40B4-BE49-F238E27FC236}">
                <a16:creationId xmlns:a16="http://schemas.microsoft.com/office/drawing/2014/main" id="{2F108721-C8D0-13C5-A810-7CA1AFC2BFF1}"/>
              </a:ext>
            </a:extLst>
          </p:cNvPr>
          <p:cNvSpPr/>
          <p:nvPr/>
        </p:nvSpPr>
        <p:spPr>
          <a:xfrm>
            <a:off x="2766060" y="2468880"/>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Year-Month	Sale Amount</a:t>
            </a:r>
            <a:endParaRPr lang="en-US" sz="1200" dirty="0"/>
          </a:p>
        </p:txBody>
      </p:sp>
      <p:sp>
        <p:nvSpPr>
          <p:cNvPr id="36" name="Text 8">
            <a:extLst>
              <a:ext uri="{FF2B5EF4-FFF2-40B4-BE49-F238E27FC236}">
                <a16:creationId xmlns:a16="http://schemas.microsoft.com/office/drawing/2014/main" id="{DED07114-2367-7547-0C09-793A720CF162}"/>
              </a:ext>
            </a:extLst>
          </p:cNvPr>
          <p:cNvSpPr/>
          <p:nvPr/>
        </p:nvSpPr>
        <p:spPr>
          <a:xfrm>
            <a:off x="7086600" y="3462922"/>
            <a:ext cx="1554480" cy="548640"/>
          </a:xfrm>
          <a:prstGeom prst="rect">
            <a:avLst/>
          </a:prstGeom>
          <a:noFill/>
          <a:ln/>
        </p:spPr>
        <p:txBody>
          <a:bodyPr wrap="square" lIns="0" tIns="0" rIns="0" bIns="0" rtlCol="0" anchor="ctr"/>
          <a:lstStyle/>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2025-01	182,886.78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2025-02	167,510.14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2025-03	185,166.50</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2025-04	171,301.53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2025-05	188,975.64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2025-06	169,489.59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2025-07	206,038.09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2025-08	211,498.13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2025-09	197,680.18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2025-10	332,771.12</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2025-11	222,040.27</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2025-12	209,879.57</a:t>
            </a:r>
            <a:endParaRPr lang="en-US" sz="1000" dirty="0"/>
          </a:p>
        </p:txBody>
      </p:sp>
      <p:sp>
        <p:nvSpPr>
          <p:cNvPr id="37" name="Text 8">
            <a:extLst>
              <a:ext uri="{FF2B5EF4-FFF2-40B4-BE49-F238E27FC236}">
                <a16:creationId xmlns:a16="http://schemas.microsoft.com/office/drawing/2014/main" id="{3BED1DE3-6E1A-D9F6-EE3F-4AD35524311A}"/>
              </a:ext>
            </a:extLst>
          </p:cNvPr>
          <p:cNvSpPr/>
          <p:nvPr/>
        </p:nvSpPr>
        <p:spPr>
          <a:xfrm>
            <a:off x="5029200" y="3449649"/>
            <a:ext cx="1554480" cy="548640"/>
          </a:xfrm>
          <a:prstGeom prst="rect">
            <a:avLst/>
          </a:prstGeom>
          <a:noFill/>
          <a:ln/>
        </p:spPr>
        <p:txBody>
          <a:bodyPr wrap="square" lIns="0" tIns="0" rIns="0" bIns="0" rtlCol="0" anchor="ctr"/>
          <a:lstStyle/>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2024-01	131,675.55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2024-02	105,561.36</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2024-03	134,963.55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2024-04	125,369.81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2024-05	116,987.72</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2024-06	132,699.28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2024-07	133,808.33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2024-08	140,398.04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2024-09	117,327.42</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2024-10	125,294.68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2024-11	111,270.89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2024-12	127,917.47</a:t>
            </a:r>
            <a:endParaRPr lang="en-US" sz="1000" dirty="0"/>
          </a:p>
        </p:txBody>
      </p:sp>
      <p:sp>
        <p:nvSpPr>
          <p:cNvPr id="38" name="Text 8">
            <a:extLst>
              <a:ext uri="{FF2B5EF4-FFF2-40B4-BE49-F238E27FC236}">
                <a16:creationId xmlns:a16="http://schemas.microsoft.com/office/drawing/2014/main" id="{76E5D555-C247-FC50-70D1-B6593D479B41}"/>
              </a:ext>
            </a:extLst>
          </p:cNvPr>
          <p:cNvSpPr/>
          <p:nvPr/>
        </p:nvSpPr>
        <p:spPr>
          <a:xfrm>
            <a:off x="2948940" y="3449649"/>
            <a:ext cx="1554480" cy="548640"/>
          </a:xfrm>
          <a:prstGeom prst="rect">
            <a:avLst/>
          </a:prstGeom>
          <a:noFill/>
          <a:ln/>
        </p:spPr>
        <p:txBody>
          <a:bodyPr wrap="square" lIns="0" tIns="0" rIns="0" bIns="0" rtlCol="0" anchor="ctr"/>
          <a:lstStyle/>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2023-01	127,917.47</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2023-02	119,171.52</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2023-03	114,488.30</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2023-04	132,922.50</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2023-05	127,410.86</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2023-06	111,296.09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2023-07	138,390.91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2023-08	133,808.33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2023-09	138,035.42</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2023-10	119,690.04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2023-11	123,217.96</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2023-12	113,347.61</a:t>
            </a:r>
            <a:endParaRPr lang="en-US" sz="1000" dirty="0"/>
          </a:p>
        </p:txBody>
      </p:sp>
      <p:sp>
        <p:nvSpPr>
          <p:cNvPr id="39" name="Text 6">
            <a:extLst>
              <a:ext uri="{FF2B5EF4-FFF2-40B4-BE49-F238E27FC236}">
                <a16:creationId xmlns:a16="http://schemas.microsoft.com/office/drawing/2014/main" id="{4FEABFF6-3067-5C03-316D-AE2CAA603963}"/>
              </a:ext>
            </a:extLst>
          </p:cNvPr>
          <p:cNvSpPr/>
          <p:nvPr/>
        </p:nvSpPr>
        <p:spPr>
          <a:xfrm>
            <a:off x="6880860" y="2464162"/>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Year-Month	Sale Amount</a:t>
            </a:r>
            <a:endParaRPr lang="en-US" sz="1200" dirty="0"/>
          </a:p>
        </p:txBody>
      </p:sp>
      <p:sp>
        <p:nvSpPr>
          <p:cNvPr id="40" name="Text 6">
            <a:extLst>
              <a:ext uri="{FF2B5EF4-FFF2-40B4-BE49-F238E27FC236}">
                <a16:creationId xmlns:a16="http://schemas.microsoft.com/office/drawing/2014/main" id="{A64B5588-6DBF-9755-AFE9-401518779C5E}"/>
              </a:ext>
            </a:extLst>
          </p:cNvPr>
          <p:cNvSpPr/>
          <p:nvPr/>
        </p:nvSpPr>
        <p:spPr>
          <a:xfrm>
            <a:off x="4846320" y="2464162"/>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Year-Month	Sale Amount</a:t>
            </a:r>
            <a:endParaRPr lang="en-US" sz="1200" dirty="0"/>
          </a:p>
        </p:txBody>
      </p:sp>
      <p:sp>
        <p:nvSpPr>
          <p:cNvPr id="43" name="Shape 10">
            <a:extLst>
              <a:ext uri="{FF2B5EF4-FFF2-40B4-BE49-F238E27FC236}">
                <a16:creationId xmlns:a16="http://schemas.microsoft.com/office/drawing/2014/main" id="{D0DDB9B7-E3DE-72C1-C83C-575B064B651B}"/>
              </a:ext>
            </a:extLst>
          </p:cNvPr>
          <p:cNvSpPr/>
          <p:nvPr/>
        </p:nvSpPr>
        <p:spPr>
          <a:xfrm>
            <a:off x="1508760" y="1805940"/>
            <a:ext cx="320040" cy="320040"/>
          </a:xfrm>
          <a:prstGeom prst="ellipse">
            <a:avLst/>
          </a:prstGeom>
          <a:solidFill>
            <a:srgbClr val="1E2D44"/>
          </a:solidFill>
          <a:ln w="25400">
            <a:solidFill>
              <a:srgbClr val="2DD4BF"/>
            </a:solidFill>
            <a:prstDash val="solid"/>
          </a:ln>
        </p:spPr>
        <p:txBody>
          <a:bodyPr/>
          <a:lstStyle/>
          <a:p>
            <a:endParaRPr lang="en-US"/>
          </a:p>
        </p:txBody>
      </p:sp>
      <p:sp>
        <p:nvSpPr>
          <p:cNvPr id="44" name="Text 6">
            <a:extLst>
              <a:ext uri="{FF2B5EF4-FFF2-40B4-BE49-F238E27FC236}">
                <a16:creationId xmlns:a16="http://schemas.microsoft.com/office/drawing/2014/main" id="{128325F5-4B04-AAEF-312B-DA8485C345E8}"/>
              </a:ext>
            </a:extLst>
          </p:cNvPr>
          <p:cNvSpPr/>
          <p:nvPr/>
        </p:nvSpPr>
        <p:spPr>
          <a:xfrm>
            <a:off x="731520" y="2443809"/>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Year-Month	Sale Amount</a:t>
            </a:r>
            <a:endParaRPr lang="en-US" sz="1200" dirty="0"/>
          </a:p>
        </p:txBody>
      </p:sp>
      <p:pic>
        <p:nvPicPr>
          <p:cNvPr id="49" name="Picture 48">
            <a:extLst>
              <a:ext uri="{FF2B5EF4-FFF2-40B4-BE49-F238E27FC236}">
                <a16:creationId xmlns:a16="http://schemas.microsoft.com/office/drawing/2014/main" id="{D7BBF0AD-033C-814A-9FCE-412DF46AB632}"/>
              </a:ext>
            </a:extLst>
          </p:cNvPr>
          <p:cNvPicPr>
            <a:picLocks noChangeAspect="1"/>
          </p:cNvPicPr>
          <p:nvPr/>
        </p:nvPicPr>
        <p:blipFill>
          <a:blip r:embed="rId3"/>
          <a:stretch>
            <a:fillRect/>
          </a:stretch>
        </p:blipFill>
        <p:spPr>
          <a:xfrm>
            <a:off x="731520" y="2240280"/>
            <a:ext cx="8092440" cy="2511319"/>
          </a:xfrm>
          <a:prstGeom prst="rect">
            <a:avLst/>
          </a:prstGeom>
        </p:spPr>
      </p:pic>
      <p:pic>
        <p:nvPicPr>
          <p:cNvPr id="57" name="Graphic 56" descr="Footprints with solid fill">
            <a:extLst>
              <a:ext uri="{FF2B5EF4-FFF2-40B4-BE49-F238E27FC236}">
                <a16:creationId xmlns:a16="http://schemas.microsoft.com/office/drawing/2014/main" id="{E5D2FFBB-7FA4-81CC-B381-316C9C8260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4464683"/>
            <a:ext cx="437903" cy="375345"/>
          </a:xfrm>
          <a:prstGeom prst="rect">
            <a:avLst/>
          </a:prstGeom>
        </p:spPr>
      </p:pic>
      <p:pic>
        <p:nvPicPr>
          <p:cNvPr id="58" name="Graphic 57" descr="Upward trend with solid fill">
            <a:extLst>
              <a:ext uri="{FF2B5EF4-FFF2-40B4-BE49-F238E27FC236}">
                <a16:creationId xmlns:a16="http://schemas.microsoft.com/office/drawing/2014/main" id="{C553E96F-44FA-583E-A188-C7140D40D4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8" y="3914601"/>
            <a:ext cx="437903" cy="375345"/>
          </a:xfrm>
          <a:prstGeom prst="rect">
            <a:avLst/>
          </a:prstGeom>
        </p:spPr>
      </p:pic>
      <p:pic>
        <p:nvPicPr>
          <p:cNvPr id="59" name="Graphic 58" descr="Trophy with solid fill">
            <a:extLst>
              <a:ext uri="{FF2B5EF4-FFF2-40B4-BE49-F238E27FC236}">
                <a16:creationId xmlns:a16="http://schemas.microsoft.com/office/drawing/2014/main" id="{3BAFA8C0-CE9F-E45F-148E-2BBE4E89852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59" y="3275963"/>
            <a:ext cx="437903" cy="375345"/>
          </a:xfrm>
          <a:prstGeom prst="rect">
            <a:avLst/>
          </a:prstGeom>
        </p:spPr>
      </p:pic>
      <p:pic>
        <p:nvPicPr>
          <p:cNvPr id="60" name="Graphic 59" descr="Inventory with solid fill">
            <a:extLst>
              <a:ext uri="{FF2B5EF4-FFF2-40B4-BE49-F238E27FC236}">
                <a16:creationId xmlns:a16="http://schemas.microsoft.com/office/drawing/2014/main" id="{70CBFD9E-160D-8DF4-7C7E-9D248AC70E7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60" y="2636553"/>
            <a:ext cx="437903" cy="375345"/>
          </a:xfrm>
          <a:prstGeom prst="rect">
            <a:avLst/>
          </a:prstGeom>
        </p:spPr>
      </p:pic>
      <p:pic>
        <p:nvPicPr>
          <p:cNvPr id="61" name="Graphic 60" descr="Topography Map with solid fill">
            <a:extLst>
              <a:ext uri="{FF2B5EF4-FFF2-40B4-BE49-F238E27FC236}">
                <a16:creationId xmlns:a16="http://schemas.microsoft.com/office/drawing/2014/main" id="{33534EB1-9C6B-2FA3-5D8C-010388C6BC3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992919"/>
            <a:ext cx="437903" cy="375345"/>
          </a:xfrm>
          <a:prstGeom prst="rect">
            <a:avLst/>
          </a:prstGeom>
        </p:spPr>
      </p:pic>
      <p:pic>
        <p:nvPicPr>
          <p:cNvPr id="62" name="Graphic 61" descr="Soap with solid fill">
            <a:extLst>
              <a:ext uri="{FF2B5EF4-FFF2-40B4-BE49-F238E27FC236}">
                <a16:creationId xmlns:a16="http://schemas.microsoft.com/office/drawing/2014/main" id="{1A4B0847-A3B4-691A-94D0-EC188705C67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7" y="1354281"/>
            <a:ext cx="437903" cy="375345"/>
          </a:xfrm>
          <a:prstGeom prst="rect">
            <a:avLst/>
          </a:prstGeom>
        </p:spPr>
      </p:pic>
      <p:pic>
        <p:nvPicPr>
          <p:cNvPr id="63" name="Graphic 62" descr="List with solid fill">
            <a:extLst>
              <a:ext uri="{FF2B5EF4-FFF2-40B4-BE49-F238E27FC236}">
                <a16:creationId xmlns:a16="http://schemas.microsoft.com/office/drawing/2014/main" id="{A1974E2A-AE81-E623-5121-BDC261AE577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E30"/>
        </a:solidFill>
        <a:effectLst/>
      </p:bgPr>
    </p:bg>
    <p:spTree>
      <p:nvGrpSpPr>
        <p:cNvPr id="1" name="">
          <a:extLst>
            <a:ext uri="{FF2B5EF4-FFF2-40B4-BE49-F238E27FC236}">
              <a16:creationId xmlns:a16="http://schemas.microsoft.com/office/drawing/2014/main" id="{B6DC23D3-0516-A08A-CF37-43F32A4C93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1CB419-959E-026B-00DA-E9354919B649}"/>
              </a:ext>
            </a:extLst>
          </p:cNvPr>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Monthly Revenue Insight</a:t>
            </a:r>
            <a:endParaRPr lang="en-US" sz="3600" dirty="0"/>
          </a:p>
        </p:txBody>
      </p:sp>
      <p:sp>
        <p:nvSpPr>
          <p:cNvPr id="3" name="Text 1">
            <a:extLst>
              <a:ext uri="{FF2B5EF4-FFF2-40B4-BE49-F238E27FC236}">
                <a16:creationId xmlns:a16="http://schemas.microsoft.com/office/drawing/2014/main" id="{4D76A4E8-D188-8592-B8E7-99CECE0F76F0}"/>
              </a:ext>
            </a:extLst>
          </p:cNvPr>
          <p:cNvSpPr/>
          <p:nvPr/>
        </p:nvSpPr>
        <p:spPr>
          <a:xfrm>
            <a:off x="731520" y="960120"/>
            <a:ext cx="7315200" cy="274320"/>
          </a:xfrm>
          <a:prstGeom prst="rect">
            <a:avLst/>
          </a:prstGeom>
          <a:noFill/>
          <a:ln/>
        </p:spPr>
        <p:txBody>
          <a:bodyPr wrap="square" lIns="0" tIns="0" rIns="0" bIns="0" rtlCol="0" anchor="ctr"/>
          <a:lstStyle/>
          <a:p>
            <a:pPr marL="0" indent="0">
              <a:buNone/>
            </a:pPr>
            <a:r>
              <a:rPr lang="en-US" sz="1200" dirty="0">
                <a:solidFill>
                  <a:srgbClr val="8B9CB6"/>
                </a:solidFill>
                <a:latin typeface="Calibri" pitchFamily="34" charset="0"/>
                <a:ea typeface="Calibri" pitchFamily="34" charset="-122"/>
                <a:cs typeface="Calibri" pitchFamily="34" charset="-120"/>
              </a:rPr>
              <a:t>Florida</a:t>
            </a:r>
            <a:endParaRPr lang="en-US" sz="1200" dirty="0"/>
          </a:p>
        </p:txBody>
      </p:sp>
      <p:sp>
        <p:nvSpPr>
          <p:cNvPr id="4" name="Shape 2">
            <a:extLst>
              <a:ext uri="{FF2B5EF4-FFF2-40B4-BE49-F238E27FC236}">
                <a16:creationId xmlns:a16="http://schemas.microsoft.com/office/drawing/2014/main" id="{189FF077-81B3-BEF6-9C3F-AD40F8F6151B}"/>
              </a:ext>
            </a:extLst>
          </p:cNvPr>
          <p:cNvSpPr/>
          <p:nvPr/>
        </p:nvSpPr>
        <p:spPr>
          <a:xfrm>
            <a:off x="914400" y="1965960"/>
            <a:ext cx="7818120" cy="27432"/>
          </a:xfrm>
          <a:prstGeom prst="rect">
            <a:avLst/>
          </a:prstGeom>
          <a:solidFill>
            <a:srgbClr val="2DD4BF"/>
          </a:solidFill>
          <a:ln/>
        </p:spPr>
        <p:txBody>
          <a:bodyPr/>
          <a:lstStyle/>
          <a:p>
            <a:endParaRPr lang="en-US"/>
          </a:p>
        </p:txBody>
      </p:sp>
      <p:sp>
        <p:nvSpPr>
          <p:cNvPr id="5" name="Shape 3">
            <a:extLst>
              <a:ext uri="{FF2B5EF4-FFF2-40B4-BE49-F238E27FC236}">
                <a16:creationId xmlns:a16="http://schemas.microsoft.com/office/drawing/2014/main" id="{ABAD2A53-04F3-E9E6-9CCC-3EB380126648}"/>
              </a:ext>
            </a:extLst>
          </p:cNvPr>
          <p:cNvSpPr/>
          <p:nvPr/>
        </p:nvSpPr>
        <p:spPr>
          <a:xfrm>
            <a:off x="1508760" y="1810512"/>
            <a:ext cx="320040" cy="320040"/>
          </a:xfrm>
          <a:prstGeom prst="ellipse">
            <a:avLst/>
          </a:prstGeom>
          <a:solidFill>
            <a:srgbClr val="2DD4BF"/>
          </a:solidFill>
          <a:ln w="25400">
            <a:solidFill>
              <a:srgbClr val="2DD4BF"/>
            </a:solidFill>
            <a:prstDash val="solid"/>
          </a:ln>
        </p:spPr>
        <p:txBody>
          <a:bodyPr/>
          <a:lstStyle/>
          <a:p>
            <a:endParaRPr lang="en-US">
              <a:ln>
                <a:solidFill>
                  <a:srgbClr val="2DD4BF"/>
                </a:solidFill>
              </a:ln>
              <a:solidFill>
                <a:srgbClr val="141E30"/>
              </a:solidFill>
            </a:endParaRPr>
          </a:p>
        </p:txBody>
      </p:sp>
      <p:sp>
        <p:nvSpPr>
          <p:cNvPr id="6" name="Text 4">
            <a:extLst>
              <a:ext uri="{FF2B5EF4-FFF2-40B4-BE49-F238E27FC236}">
                <a16:creationId xmlns:a16="http://schemas.microsoft.com/office/drawing/2014/main" id="{B4501A8A-537A-4BEF-80B7-74C28BCD01F3}"/>
              </a:ext>
            </a:extLst>
          </p:cNvPr>
          <p:cNvSpPr/>
          <p:nvPr/>
        </p:nvSpPr>
        <p:spPr>
          <a:xfrm>
            <a:off x="731520" y="1417320"/>
            <a:ext cx="1920240" cy="320040"/>
          </a:xfrm>
          <a:prstGeom prst="rect">
            <a:avLst/>
          </a:prstGeom>
          <a:noFill/>
          <a:ln/>
        </p:spPr>
        <p:txBody>
          <a:bodyPr wrap="square" lIns="0" tIns="0" rIns="0" bIns="0" rtlCol="0" anchor="ctr"/>
          <a:lstStyle/>
          <a:p>
            <a:pPr marL="0" indent="0" algn="ctr">
              <a:buNone/>
            </a:pPr>
            <a:r>
              <a:rPr lang="en-US" sz="1300" b="1" dirty="0">
                <a:solidFill>
                  <a:srgbClr val="2DD4BF"/>
                </a:solidFill>
                <a:latin typeface="Trebuchet MS" pitchFamily="34" charset="0"/>
                <a:ea typeface="Trebuchet MS" pitchFamily="34" charset="-122"/>
                <a:cs typeface="Trebuchet MS" pitchFamily="34" charset="-120"/>
              </a:rPr>
              <a:t>2022</a:t>
            </a:r>
            <a:endParaRPr lang="en-US" sz="1300" dirty="0"/>
          </a:p>
        </p:txBody>
      </p:sp>
      <p:sp>
        <p:nvSpPr>
          <p:cNvPr id="7" name="Shape 5">
            <a:extLst>
              <a:ext uri="{FF2B5EF4-FFF2-40B4-BE49-F238E27FC236}">
                <a16:creationId xmlns:a16="http://schemas.microsoft.com/office/drawing/2014/main" id="{A29C6D20-D8B3-2E96-9E28-2EF03A15C9B8}"/>
              </a:ext>
            </a:extLst>
          </p:cNvPr>
          <p:cNvSpPr/>
          <p:nvPr/>
        </p:nvSpPr>
        <p:spPr>
          <a:xfrm>
            <a:off x="731520" y="2377440"/>
            <a:ext cx="1920240" cy="2377440"/>
          </a:xfrm>
          <a:prstGeom prst="rect">
            <a:avLst/>
          </a:prstGeom>
          <a:solidFill>
            <a:srgbClr val="1E2D44"/>
          </a:solidFill>
          <a:ln/>
        </p:spPr>
        <p:txBody>
          <a:bodyPr/>
          <a:lstStyle/>
          <a:p>
            <a:endParaRPr lang="en-US"/>
          </a:p>
        </p:txBody>
      </p:sp>
      <p:sp>
        <p:nvSpPr>
          <p:cNvPr id="8" name="Text 6">
            <a:extLst>
              <a:ext uri="{FF2B5EF4-FFF2-40B4-BE49-F238E27FC236}">
                <a16:creationId xmlns:a16="http://schemas.microsoft.com/office/drawing/2014/main" id="{CDCC38BB-5744-851D-3A0B-539697EAC78C}"/>
              </a:ext>
            </a:extLst>
          </p:cNvPr>
          <p:cNvSpPr/>
          <p:nvPr/>
        </p:nvSpPr>
        <p:spPr>
          <a:xfrm>
            <a:off x="739140" y="2465832"/>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Year-Month	Sale Amount</a:t>
            </a:r>
            <a:endParaRPr lang="en-US" sz="1200" dirty="0"/>
          </a:p>
        </p:txBody>
      </p:sp>
      <p:sp>
        <p:nvSpPr>
          <p:cNvPr id="10" name="Text 8">
            <a:extLst>
              <a:ext uri="{FF2B5EF4-FFF2-40B4-BE49-F238E27FC236}">
                <a16:creationId xmlns:a16="http://schemas.microsoft.com/office/drawing/2014/main" id="{AFA638D5-1765-9D05-08B3-E6B61BC8D63B}"/>
              </a:ext>
            </a:extLst>
          </p:cNvPr>
          <p:cNvSpPr/>
          <p:nvPr/>
        </p:nvSpPr>
        <p:spPr>
          <a:xfrm>
            <a:off x="924724" y="3459972"/>
            <a:ext cx="1554480" cy="548640"/>
          </a:xfrm>
          <a:prstGeom prst="rect">
            <a:avLst/>
          </a:prstGeom>
          <a:noFill/>
          <a:ln/>
        </p:spPr>
        <p:txBody>
          <a:bodyPr wrap="square" lIns="0" tIns="0" rIns="0" bIns="0" rtlCol="0" anchor="ctr"/>
          <a:lstStyle/>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2022-01	48,714.32</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2022-02	46,584.27</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2022-03	54,035.48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2022-04	49,992.58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2022-05	58,840.26</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2022-06	49,094.30</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2022-07	57,878.63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2022-08	48,894.58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2022-09	43,158.35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2022-10	49,940.49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2022-11	44,889.15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2022-12	51,341.52</a:t>
            </a:r>
            <a:endParaRPr lang="en-US" sz="1000" dirty="0"/>
          </a:p>
        </p:txBody>
      </p:sp>
      <p:sp>
        <p:nvSpPr>
          <p:cNvPr id="12" name="Shape 10">
            <a:extLst>
              <a:ext uri="{FF2B5EF4-FFF2-40B4-BE49-F238E27FC236}">
                <a16:creationId xmlns:a16="http://schemas.microsoft.com/office/drawing/2014/main" id="{B5C337D8-3031-0B0C-C159-92E0394C191C}"/>
              </a:ext>
            </a:extLst>
          </p:cNvPr>
          <p:cNvSpPr/>
          <p:nvPr/>
        </p:nvSpPr>
        <p:spPr>
          <a:xfrm>
            <a:off x="3566160" y="1810512"/>
            <a:ext cx="320040" cy="320040"/>
          </a:xfrm>
          <a:prstGeom prst="ellipse">
            <a:avLst/>
          </a:prstGeom>
          <a:solidFill>
            <a:srgbClr val="1E2D44"/>
          </a:solidFill>
          <a:ln w="25400">
            <a:solidFill>
              <a:srgbClr val="2DD4BF"/>
            </a:solidFill>
            <a:prstDash val="solid"/>
          </a:ln>
        </p:spPr>
        <p:txBody>
          <a:bodyPr/>
          <a:lstStyle/>
          <a:p>
            <a:endParaRPr lang="en-US"/>
          </a:p>
        </p:txBody>
      </p:sp>
      <p:sp>
        <p:nvSpPr>
          <p:cNvPr id="13" name="Text 11">
            <a:extLst>
              <a:ext uri="{FF2B5EF4-FFF2-40B4-BE49-F238E27FC236}">
                <a16:creationId xmlns:a16="http://schemas.microsoft.com/office/drawing/2014/main" id="{F219B03C-3CB9-3EC7-646C-41E9B7EF8CB9}"/>
              </a:ext>
            </a:extLst>
          </p:cNvPr>
          <p:cNvSpPr/>
          <p:nvPr/>
        </p:nvSpPr>
        <p:spPr>
          <a:xfrm>
            <a:off x="2788920" y="1417320"/>
            <a:ext cx="1920240" cy="320040"/>
          </a:xfrm>
          <a:prstGeom prst="rect">
            <a:avLst/>
          </a:prstGeom>
          <a:noFill/>
          <a:ln/>
        </p:spPr>
        <p:txBody>
          <a:bodyPr wrap="square" lIns="0" tIns="0" rIns="0" bIns="0" rtlCol="0" anchor="ctr"/>
          <a:lstStyle/>
          <a:p>
            <a:pPr marL="0" indent="0" algn="ctr">
              <a:buNone/>
            </a:pPr>
            <a:r>
              <a:rPr lang="en-US" sz="1300" b="1" dirty="0">
                <a:solidFill>
                  <a:srgbClr val="2DD4BF"/>
                </a:solidFill>
                <a:latin typeface="Trebuchet MS" pitchFamily="34" charset="0"/>
                <a:ea typeface="Trebuchet MS" pitchFamily="34" charset="-122"/>
                <a:cs typeface="Trebuchet MS" pitchFamily="34" charset="-120"/>
              </a:rPr>
              <a:t>2023</a:t>
            </a:r>
            <a:endParaRPr lang="en-US" sz="1300" dirty="0"/>
          </a:p>
        </p:txBody>
      </p:sp>
      <p:sp>
        <p:nvSpPr>
          <p:cNvPr id="14" name="Shape 12">
            <a:extLst>
              <a:ext uri="{FF2B5EF4-FFF2-40B4-BE49-F238E27FC236}">
                <a16:creationId xmlns:a16="http://schemas.microsoft.com/office/drawing/2014/main" id="{A4C6E879-D40C-8068-7A42-7577A1BCDBEA}"/>
              </a:ext>
            </a:extLst>
          </p:cNvPr>
          <p:cNvSpPr/>
          <p:nvPr/>
        </p:nvSpPr>
        <p:spPr>
          <a:xfrm>
            <a:off x="2788920" y="2377440"/>
            <a:ext cx="1920240" cy="2377440"/>
          </a:xfrm>
          <a:prstGeom prst="rect">
            <a:avLst/>
          </a:prstGeom>
          <a:solidFill>
            <a:srgbClr val="1E2D44"/>
          </a:solidFill>
          <a:ln/>
        </p:spPr>
        <p:txBody>
          <a:bodyPr/>
          <a:lstStyle/>
          <a:p>
            <a:endParaRPr lang="en-US"/>
          </a:p>
        </p:txBody>
      </p:sp>
      <p:sp>
        <p:nvSpPr>
          <p:cNvPr id="19" name="Shape 17">
            <a:extLst>
              <a:ext uri="{FF2B5EF4-FFF2-40B4-BE49-F238E27FC236}">
                <a16:creationId xmlns:a16="http://schemas.microsoft.com/office/drawing/2014/main" id="{7C531FE6-7505-DB90-D036-F8C5F8CAEC70}"/>
              </a:ext>
            </a:extLst>
          </p:cNvPr>
          <p:cNvSpPr/>
          <p:nvPr/>
        </p:nvSpPr>
        <p:spPr>
          <a:xfrm>
            <a:off x="5623560" y="1810512"/>
            <a:ext cx="320040" cy="320040"/>
          </a:xfrm>
          <a:prstGeom prst="ellipse">
            <a:avLst/>
          </a:prstGeom>
          <a:solidFill>
            <a:srgbClr val="1E2D44"/>
          </a:solidFill>
          <a:ln w="25400">
            <a:solidFill>
              <a:srgbClr val="2DD4BF"/>
            </a:solidFill>
            <a:prstDash val="solid"/>
          </a:ln>
        </p:spPr>
        <p:txBody>
          <a:bodyPr/>
          <a:lstStyle/>
          <a:p>
            <a:endParaRPr lang="en-US"/>
          </a:p>
        </p:txBody>
      </p:sp>
      <p:sp>
        <p:nvSpPr>
          <p:cNvPr id="20" name="Text 18">
            <a:extLst>
              <a:ext uri="{FF2B5EF4-FFF2-40B4-BE49-F238E27FC236}">
                <a16:creationId xmlns:a16="http://schemas.microsoft.com/office/drawing/2014/main" id="{7E454407-CDA0-D3BA-BBCC-DC0CB5658E86}"/>
              </a:ext>
            </a:extLst>
          </p:cNvPr>
          <p:cNvSpPr/>
          <p:nvPr/>
        </p:nvSpPr>
        <p:spPr>
          <a:xfrm>
            <a:off x="4846320" y="1417320"/>
            <a:ext cx="1920240" cy="320040"/>
          </a:xfrm>
          <a:prstGeom prst="rect">
            <a:avLst/>
          </a:prstGeom>
          <a:noFill/>
          <a:ln/>
        </p:spPr>
        <p:txBody>
          <a:bodyPr wrap="square" lIns="0" tIns="0" rIns="0" bIns="0" rtlCol="0" anchor="ctr"/>
          <a:lstStyle/>
          <a:p>
            <a:pPr marL="0" indent="0" algn="ctr">
              <a:buNone/>
            </a:pPr>
            <a:r>
              <a:rPr lang="en-US" sz="1300" b="1" dirty="0">
                <a:solidFill>
                  <a:srgbClr val="2DD4BF"/>
                </a:solidFill>
                <a:latin typeface="Trebuchet MS" pitchFamily="34" charset="0"/>
                <a:ea typeface="Trebuchet MS" pitchFamily="34" charset="-122"/>
                <a:cs typeface="Trebuchet MS" pitchFamily="34" charset="-120"/>
              </a:rPr>
              <a:t>2024</a:t>
            </a:r>
            <a:endParaRPr lang="en-US" sz="1300" dirty="0"/>
          </a:p>
        </p:txBody>
      </p:sp>
      <p:sp>
        <p:nvSpPr>
          <p:cNvPr id="21" name="Shape 19">
            <a:extLst>
              <a:ext uri="{FF2B5EF4-FFF2-40B4-BE49-F238E27FC236}">
                <a16:creationId xmlns:a16="http://schemas.microsoft.com/office/drawing/2014/main" id="{04C89614-0782-9BC0-61D0-5B30D5943D44}"/>
              </a:ext>
            </a:extLst>
          </p:cNvPr>
          <p:cNvSpPr/>
          <p:nvPr/>
        </p:nvSpPr>
        <p:spPr>
          <a:xfrm>
            <a:off x="4846320" y="2377440"/>
            <a:ext cx="1920240" cy="2377440"/>
          </a:xfrm>
          <a:prstGeom prst="rect">
            <a:avLst/>
          </a:prstGeom>
          <a:solidFill>
            <a:srgbClr val="1E2D44"/>
          </a:solidFill>
          <a:ln/>
        </p:spPr>
        <p:txBody>
          <a:bodyPr/>
          <a:lstStyle/>
          <a:p>
            <a:endParaRPr lang="en-US"/>
          </a:p>
        </p:txBody>
      </p:sp>
      <p:sp>
        <p:nvSpPr>
          <p:cNvPr id="26" name="Shape 24">
            <a:extLst>
              <a:ext uri="{FF2B5EF4-FFF2-40B4-BE49-F238E27FC236}">
                <a16:creationId xmlns:a16="http://schemas.microsoft.com/office/drawing/2014/main" id="{719E52DD-B669-BE84-F53C-E48C8A7A1B71}"/>
              </a:ext>
            </a:extLst>
          </p:cNvPr>
          <p:cNvSpPr/>
          <p:nvPr/>
        </p:nvSpPr>
        <p:spPr>
          <a:xfrm>
            <a:off x="7680960" y="1810512"/>
            <a:ext cx="320040" cy="320040"/>
          </a:xfrm>
          <a:prstGeom prst="ellipse">
            <a:avLst/>
          </a:prstGeom>
          <a:solidFill>
            <a:srgbClr val="1E2D44"/>
          </a:solidFill>
          <a:ln w="25400">
            <a:solidFill>
              <a:srgbClr val="2DD4BF"/>
            </a:solidFill>
            <a:prstDash val="solid"/>
          </a:ln>
        </p:spPr>
        <p:txBody>
          <a:bodyPr/>
          <a:lstStyle/>
          <a:p>
            <a:endParaRPr lang="en-US"/>
          </a:p>
        </p:txBody>
      </p:sp>
      <p:sp>
        <p:nvSpPr>
          <p:cNvPr id="27" name="Text 25">
            <a:extLst>
              <a:ext uri="{FF2B5EF4-FFF2-40B4-BE49-F238E27FC236}">
                <a16:creationId xmlns:a16="http://schemas.microsoft.com/office/drawing/2014/main" id="{D440D63E-D425-1495-30AF-51C4913B0BCD}"/>
              </a:ext>
            </a:extLst>
          </p:cNvPr>
          <p:cNvSpPr/>
          <p:nvPr/>
        </p:nvSpPr>
        <p:spPr>
          <a:xfrm>
            <a:off x="6903720" y="1417320"/>
            <a:ext cx="1920240" cy="320040"/>
          </a:xfrm>
          <a:prstGeom prst="rect">
            <a:avLst/>
          </a:prstGeom>
          <a:noFill/>
          <a:ln/>
        </p:spPr>
        <p:txBody>
          <a:bodyPr wrap="square" lIns="0" tIns="0" rIns="0" bIns="0" rtlCol="0" anchor="ctr"/>
          <a:lstStyle/>
          <a:p>
            <a:pPr marL="0" indent="0" algn="ctr">
              <a:buNone/>
            </a:pPr>
            <a:r>
              <a:rPr lang="en-US" sz="1300" b="1" dirty="0">
                <a:solidFill>
                  <a:srgbClr val="2DD4BF"/>
                </a:solidFill>
                <a:latin typeface="Trebuchet MS" pitchFamily="34" charset="0"/>
                <a:ea typeface="Trebuchet MS" pitchFamily="34" charset="-122"/>
                <a:cs typeface="Trebuchet MS" pitchFamily="34" charset="-120"/>
              </a:rPr>
              <a:t>2025</a:t>
            </a:r>
            <a:endParaRPr lang="en-US" sz="1300" dirty="0"/>
          </a:p>
        </p:txBody>
      </p:sp>
      <p:sp>
        <p:nvSpPr>
          <p:cNvPr id="28" name="Shape 26">
            <a:extLst>
              <a:ext uri="{FF2B5EF4-FFF2-40B4-BE49-F238E27FC236}">
                <a16:creationId xmlns:a16="http://schemas.microsoft.com/office/drawing/2014/main" id="{D5EAB252-2F16-C6C4-8A28-E71BFF6A20BD}"/>
              </a:ext>
            </a:extLst>
          </p:cNvPr>
          <p:cNvSpPr/>
          <p:nvPr/>
        </p:nvSpPr>
        <p:spPr>
          <a:xfrm>
            <a:off x="6903720" y="2377440"/>
            <a:ext cx="1920240" cy="2377440"/>
          </a:xfrm>
          <a:prstGeom prst="rect">
            <a:avLst/>
          </a:prstGeom>
          <a:solidFill>
            <a:srgbClr val="1E2D44"/>
          </a:solidFill>
          <a:ln/>
        </p:spPr>
        <p:txBody>
          <a:bodyPr/>
          <a:lstStyle/>
          <a:p>
            <a:endParaRPr lang="en-US"/>
          </a:p>
        </p:txBody>
      </p:sp>
      <p:sp>
        <p:nvSpPr>
          <p:cNvPr id="35" name="Text 6">
            <a:extLst>
              <a:ext uri="{FF2B5EF4-FFF2-40B4-BE49-F238E27FC236}">
                <a16:creationId xmlns:a16="http://schemas.microsoft.com/office/drawing/2014/main" id="{D0E53283-9BCD-1C84-E14D-0AABA0BA3D8F}"/>
              </a:ext>
            </a:extLst>
          </p:cNvPr>
          <p:cNvSpPr/>
          <p:nvPr/>
        </p:nvSpPr>
        <p:spPr>
          <a:xfrm>
            <a:off x="2766060" y="2468880"/>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Year-Month	Sale Amount</a:t>
            </a:r>
            <a:endParaRPr lang="en-US" sz="1200" dirty="0"/>
          </a:p>
        </p:txBody>
      </p:sp>
      <p:sp>
        <p:nvSpPr>
          <p:cNvPr id="36" name="Text 8">
            <a:extLst>
              <a:ext uri="{FF2B5EF4-FFF2-40B4-BE49-F238E27FC236}">
                <a16:creationId xmlns:a16="http://schemas.microsoft.com/office/drawing/2014/main" id="{00C3A5C6-FBF1-040E-341F-B9F802DD1DF0}"/>
              </a:ext>
            </a:extLst>
          </p:cNvPr>
          <p:cNvSpPr/>
          <p:nvPr/>
        </p:nvSpPr>
        <p:spPr>
          <a:xfrm>
            <a:off x="7086600" y="3462922"/>
            <a:ext cx="1554480" cy="548640"/>
          </a:xfrm>
          <a:prstGeom prst="rect">
            <a:avLst/>
          </a:prstGeom>
          <a:noFill/>
          <a:ln/>
        </p:spPr>
        <p:txBody>
          <a:bodyPr wrap="square" lIns="0" tIns="0" rIns="0" bIns="0" rtlCol="0" anchor="ctr"/>
          <a:lstStyle/>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2025-01	119,833.44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2025-02	106,236.92</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2025-03	109,751.26</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2025-04	119,652.61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2025-05	126,761.48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2025-06	102,722.61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2025-07	138,769.94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2025-08	130,828.97</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2025-09	107,625.79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2025-10	189,635.49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2025-11	133,705.08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2025-12	123,321.62</a:t>
            </a:r>
            <a:endParaRPr lang="en-US" sz="1000" dirty="0"/>
          </a:p>
        </p:txBody>
      </p:sp>
      <p:sp>
        <p:nvSpPr>
          <p:cNvPr id="37" name="Text 8">
            <a:extLst>
              <a:ext uri="{FF2B5EF4-FFF2-40B4-BE49-F238E27FC236}">
                <a16:creationId xmlns:a16="http://schemas.microsoft.com/office/drawing/2014/main" id="{66EFA27C-EE71-58B8-4E74-52B6FBB747CE}"/>
              </a:ext>
            </a:extLst>
          </p:cNvPr>
          <p:cNvSpPr/>
          <p:nvPr/>
        </p:nvSpPr>
        <p:spPr>
          <a:xfrm>
            <a:off x="5029200" y="3449649"/>
            <a:ext cx="1554480" cy="548640"/>
          </a:xfrm>
          <a:prstGeom prst="rect">
            <a:avLst/>
          </a:prstGeom>
          <a:noFill/>
          <a:ln/>
        </p:spPr>
        <p:txBody>
          <a:bodyPr wrap="square" lIns="0" tIns="0" rIns="0" bIns="0" rtlCol="0" anchor="ctr"/>
          <a:lstStyle/>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2024-01	83,723.98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2024-02	65,369.70</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2024-03	74,495.18</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2024-04	75,301.83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2024-05	79,150.41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2024-06	72,405.51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2024-07	71,969.34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2024-08	90,439.44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2024-09	73,477.52</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2024-10	83,709.15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2024-11	83,915.66</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2024-12	71,256.76</a:t>
            </a:r>
            <a:endParaRPr lang="en-US" sz="1000" dirty="0"/>
          </a:p>
        </p:txBody>
      </p:sp>
      <p:sp>
        <p:nvSpPr>
          <p:cNvPr id="38" name="Text 8">
            <a:extLst>
              <a:ext uri="{FF2B5EF4-FFF2-40B4-BE49-F238E27FC236}">
                <a16:creationId xmlns:a16="http://schemas.microsoft.com/office/drawing/2014/main" id="{DB88097E-CCF8-A267-3A87-96F391746662}"/>
              </a:ext>
            </a:extLst>
          </p:cNvPr>
          <p:cNvSpPr/>
          <p:nvPr/>
        </p:nvSpPr>
        <p:spPr>
          <a:xfrm>
            <a:off x="2948940" y="3449649"/>
            <a:ext cx="1554480" cy="548640"/>
          </a:xfrm>
          <a:prstGeom prst="rect">
            <a:avLst/>
          </a:prstGeom>
          <a:noFill/>
          <a:ln/>
        </p:spPr>
        <p:txBody>
          <a:bodyPr wrap="square" lIns="0" tIns="0" rIns="0" bIns="0" rtlCol="0" anchor="ctr"/>
          <a:lstStyle/>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2023-01	71,256.76</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2023-02	74,897.15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2023-03	71,825.23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2023-04	72,229.54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2023-05	77,567.47</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2023-06	76,731.43</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2023-07	74,824.49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2023-08	71,969.34</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2023-09	86,814.75</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2023-10	77,102.21</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2023-11	81,471.29</a:t>
            </a:r>
          </a:p>
          <a:p>
            <a:pPr marL="0" indent="0">
              <a:lnSpc>
                <a:spcPct val="95000"/>
              </a:lnSpc>
              <a:buNone/>
            </a:pPr>
            <a:r>
              <a:rPr lang="en-US" sz="1000" dirty="0">
                <a:solidFill>
                  <a:srgbClr val="E2E8F0"/>
                </a:solidFill>
                <a:latin typeface="Calibri" pitchFamily="34" charset="0"/>
                <a:ea typeface="Calibri" pitchFamily="34" charset="-122"/>
                <a:cs typeface="Calibri" pitchFamily="34" charset="-120"/>
              </a:rPr>
              <a:t>2023-12	86,153.52</a:t>
            </a:r>
            <a:endParaRPr lang="en-US" sz="1000" dirty="0"/>
          </a:p>
        </p:txBody>
      </p:sp>
      <p:sp>
        <p:nvSpPr>
          <p:cNvPr id="39" name="Text 6">
            <a:extLst>
              <a:ext uri="{FF2B5EF4-FFF2-40B4-BE49-F238E27FC236}">
                <a16:creationId xmlns:a16="http://schemas.microsoft.com/office/drawing/2014/main" id="{E5F5AAC3-070A-5CF3-0C03-43155F936F1E}"/>
              </a:ext>
            </a:extLst>
          </p:cNvPr>
          <p:cNvSpPr/>
          <p:nvPr/>
        </p:nvSpPr>
        <p:spPr>
          <a:xfrm>
            <a:off x="6880860" y="2465832"/>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Year-Month	Sale Amount</a:t>
            </a:r>
            <a:endParaRPr lang="en-US" sz="1200" dirty="0"/>
          </a:p>
        </p:txBody>
      </p:sp>
      <p:sp>
        <p:nvSpPr>
          <p:cNvPr id="40" name="Text 6">
            <a:extLst>
              <a:ext uri="{FF2B5EF4-FFF2-40B4-BE49-F238E27FC236}">
                <a16:creationId xmlns:a16="http://schemas.microsoft.com/office/drawing/2014/main" id="{53887EC8-0FFD-4E3F-6D86-6C48909CABE2}"/>
              </a:ext>
            </a:extLst>
          </p:cNvPr>
          <p:cNvSpPr/>
          <p:nvPr/>
        </p:nvSpPr>
        <p:spPr>
          <a:xfrm>
            <a:off x="4838700" y="2465832"/>
            <a:ext cx="1920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Year-Month	Sale Amount</a:t>
            </a:r>
            <a:endParaRPr lang="en-US" sz="1200" dirty="0"/>
          </a:p>
        </p:txBody>
      </p:sp>
      <p:sp>
        <p:nvSpPr>
          <p:cNvPr id="43" name="Shape 10">
            <a:extLst>
              <a:ext uri="{FF2B5EF4-FFF2-40B4-BE49-F238E27FC236}">
                <a16:creationId xmlns:a16="http://schemas.microsoft.com/office/drawing/2014/main" id="{40B3A02A-B2AC-0354-950B-35AAC50A7B71}"/>
              </a:ext>
            </a:extLst>
          </p:cNvPr>
          <p:cNvSpPr/>
          <p:nvPr/>
        </p:nvSpPr>
        <p:spPr>
          <a:xfrm>
            <a:off x="1508760" y="1805940"/>
            <a:ext cx="320040" cy="320040"/>
          </a:xfrm>
          <a:prstGeom prst="ellipse">
            <a:avLst/>
          </a:prstGeom>
          <a:solidFill>
            <a:srgbClr val="1E2D44"/>
          </a:solidFill>
          <a:ln w="25400">
            <a:solidFill>
              <a:srgbClr val="2DD4BF"/>
            </a:solidFill>
            <a:prstDash val="solid"/>
          </a:ln>
        </p:spPr>
        <p:txBody>
          <a:bodyPr/>
          <a:lstStyle/>
          <a:p>
            <a:endParaRPr lang="en-US"/>
          </a:p>
        </p:txBody>
      </p:sp>
      <p:pic>
        <p:nvPicPr>
          <p:cNvPr id="9" name="Picture 8">
            <a:extLst>
              <a:ext uri="{FF2B5EF4-FFF2-40B4-BE49-F238E27FC236}">
                <a16:creationId xmlns:a16="http://schemas.microsoft.com/office/drawing/2014/main" id="{9DB0BB13-D691-4F75-E5B7-18E002E41560}"/>
              </a:ext>
            </a:extLst>
          </p:cNvPr>
          <p:cNvPicPr>
            <a:picLocks noChangeAspect="1"/>
          </p:cNvPicPr>
          <p:nvPr/>
        </p:nvPicPr>
        <p:blipFill>
          <a:blip r:embed="rId3"/>
          <a:stretch>
            <a:fillRect/>
          </a:stretch>
        </p:blipFill>
        <p:spPr>
          <a:xfrm>
            <a:off x="722659" y="2221992"/>
            <a:ext cx="8101301" cy="2622189"/>
          </a:xfrm>
          <a:prstGeom prst="rect">
            <a:avLst/>
          </a:prstGeom>
        </p:spPr>
      </p:pic>
      <p:pic>
        <p:nvPicPr>
          <p:cNvPr id="29" name="Graphic 28" descr="Footprints with solid fill">
            <a:extLst>
              <a:ext uri="{FF2B5EF4-FFF2-40B4-BE49-F238E27FC236}">
                <a16:creationId xmlns:a16="http://schemas.microsoft.com/office/drawing/2014/main" id="{76A2B192-159E-C1D9-EBF8-BE72D3E903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4464683"/>
            <a:ext cx="437903" cy="375345"/>
          </a:xfrm>
          <a:prstGeom prst="rect">
            <a:avLst/>
          </a:prstGeom>
        </p:spPr>
      </p:pic>
      <p:pic>
        <p:nvPicPr>
          <p:cNvPr id="30" name="Graphic 29" descr="Upward trend with solid fill">
            <a:extLst>
              <a:ext uri="{FF2B5EF4-FFF2-40B4-BE49-F238E27FC236}">
                <a16:creationId xmlns:a16="http://schemas.microsoft.com/office/drawing/2014/main" id="{97030029-660B-D231-43EA-724E53DF53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8" y="3914601"/>
            <a:ext cx="437903" cy="375345"/>
          </a:xfrm>
          <a:prstGeom prst="rect">
            <a:avLst/>
          </a:prstGeom>
        </p:spPr>
      </p:pic>
      <p:pic>
        <p:nvPicPr>
          <p:cNvPr id="31" name="Graphic 30" descr="Trophy with solid fill">
            <a:extLst>
              <a:ext uri="{FF2B5EF4-FFF2-40B4-BE49-F238E27FC236}">
                <a16:creationId xmlns:a16="http://schemas.microsoft.com/office/drawing/2014/main" id="{C594DC36-F408-3C1E-3EB1-C4E8B6B619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59" y="3275963"/>
            <a:ext cx="437903" cy="375345"/>
          </a:xfrm>
          <a:prstGeom prst="rect">
            <a:avLst/>
          </a:prstGeom>
        </p:spPr>
      </p:pic>
      <p:pic>
        <p:nvPicPr>
          <p:cNvPr id="32" name="Graphic 31" descr="Inventory with solid fill">
            <a:extLst>
              <a:ext uri="{FF2B5EF4-FFF2-40B4-BE49-F238E27FC236}">
                <a16:creationId xmlns:a16="http://schemas.microsoft.com/office/drawing/2014/main" id="{937BDB73-3336-1DDB-77C9-7FF9EFA5E6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60" y="2636553"/>
            <a:ext cx="437903" cy="375345"/>
          </a:xfrm>
          <a:prstGeom prst="rect">
            <a:avLst/>
          </a:prstGeom>
        </p:spPr>
      </p:pic>
      <p:pic>
        <p:nvPicPr>
          <p:cNvPr id="33" name="Graphic 32" descr="Topography Map with solid fill">
            <a:extLst>
              <a:ext uri="{FF2B5EF4-FFF2-40B4-BE49-F238E27FC236}">
                <a16:creationId xmlns:a16="http://schemas.microsoft.com/office/drawing/2014/main" id="{B45B3F39-E870-7353-A207-C173614B01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992919"/>
            <a:ext cx="437903" cy="375345"/>
          </a:xfrm>
          <a:prstGeom prst="rect">
            <a:avLst/>
          </a:prstGeom>
        </p:spPr>
      </p:pic>
      <p:pic>
        <p:nvPicPr>
          <p:cNvPr id="34" name="Graphic 33" descr="Soap with solid fill">
            <a:extLst>
              <a:ext uri="{FF2B5EF4-FFF2-40B4-BE49-F238E27FC236}">
                <a16:creationId xmlns:a16="http://schemas.microsoft.com/office/drawing/2014/main" id="{12F8533C-94FC-2075-E85F-F53D47D17A3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7" y="1354281"/>
            <a:ext cx="437903" cy="375345"/>
          </a:xfrm>
          <a:prstGeom prst="rect">
            <a:avLst/>
          </a:prstGeom>
        </p:spPr>
      </p:pic>
      <p:pic>
        <p:nvPicPr>
          <p:cNvPr id="41" name="Graphic 40" descr="List with solid fill">
            <a:extLst>
              <a:ext uri="{FF2B5EF4-FFF2-40B4-BE49-F238E27FC236}">
                <a16:creationId xmlns:a16="http://schemas.microsoft.com/office/drawing/2014/main" id="{37FB5FA0-6BFC-1F4B-9F0E-514D8640C1E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63" y="715643"/>
            <a:ext cx="437903" cy="375345"/>
          </a:xfrm>
          <a:prstGeom prst="rect">
            <a:avLst/>
          </a:prstGeom>
        </p:spPr>
      </p:pic>
    </p:spTree>
    <p:extLst>
      <p:ext uri="{BB962C8B-B14F-4D97-AF65-F5344CB8AC3E}">
        <p14:creationId xmlns:p14="http://schemas.microsoft.com/office/powerpoint/2010/main" val="2908258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E30"/>
        </a:solidFill>
        <a:effectLst/>
      </p:bgPr>
    </p:bg>
    <p:spTree>
      <p:nvGrpSpPr>
        <p:cNvPr id="1" name=""/>
        <p:cNvGrpSpPr/>
        <p:nvPr/>
      </p:nvGrpSpPr>
      <p:grpSpPr>
        <a:xfrm>
          <a:off x="0" y="0"/>
          <a:ext cx="0" cy="0"/>
          <a:chOff x="0" y="0"/>
          <a:chExt cx="0" cy="0"/>
        </a:xfrm>
      </p:grpSpPr>
      <p:sp>
        <p:nvSpPr>
          <p:cNvPr id="2" name="Title"/>
          <p:cNvSpPr txBox="1"/>
          <p:nvPr/>
        </p:nvSpPr>
        <p:spPr>
          <a:xfrm>
            <a:off x="548640" y="182880"/>
            <a:ext cx="6400800" cy="411480"/>
          </a:xfrm>
          <a:prstGeom prst="rect">
            <a:avLst/>
          </a:prstGeom>
          <a:noFill/>
        </p:spPr>
        <p:txBody>
          <a:bodyPr lIns="0" tIns="0" rIns="0" bIns="0" anchor="ctr"/>
          <a:lstStyle/>
          <a:p>
            <a:r>
              <a:rPr lang="en-US" sz="2800" b="1" dirty="0">
                <a:solidFill>
                  <a:srgbClr val="FFFFFF"/>
                </a:solidFill>
                <a:latin typeface="Trebuchet MS"/>
              </a:rPr>
              <a:t>STORE PERFORMANCE INSIGHT</a:t>
            </a:r>
          </a:p>
        </p:txBody>
      </p:sp>
      <p:sp>
        <p:nvSpPr>
          <p:cNvPr id="3" name="Subtitle"/>
          <p:cNvSpPr txBox="1"/>
          <p:nvPr/>
        </p:nvSpPr>
        <p:spPr>
          <a:xfrm>
            <a:off x="548640" y="594360"/>
            <a:ext cx="7772400" cy="228600"/>
          </a:xfrm>
          <a:prstGeom prst="rect">
            <a:avLst/>
          </a:prstGeom>
          <a:noFill/>
        </p:spPr>
        <p:txBody>
          <a:bodyPr lIns="0" tIns="0" rIns="0" bIns="0" anchor="ctr"/>
          <a:lstStyle/>
          <a:p>
            <a:r>
              <a:rPr lang="en-US" sz="1200" dirty="0">
                <a:solidFill>
                  <a:srgbClr val="8B9CB6"/>
                </a:solidFill>
                <a:latin typeface="Calibri"/>
              </a:rPr>
              <a:t>Ranked store performance, territory comparisons, and actionable business insights</a:t>
            </a:r>
          </a:p>
        </p:txBody>
      </p:sp>
      <p:sp>
        <p:nvSpPr>
          <p:cNvPr id="10" name="LB Header"/>
          <p:cNvSpPr txBox="1"/>
          <p:nvPr/>
        </p:nvSpPr>
        <p:spPr>
          <a:xfrm>
            <a:off x="548640" y="914400"/>
            <a:ext cx="4114800" cy="274320"/>
          </a:xfrm>
          <a:prstGeom prst="rect">
            <a:avLst/>
          </a:prstGeom>
          <a:noFill/>
        </p:spPr>
        <p:txBody>
          <a:bodyPr lIns="0" tIns="0" rIns="0" bIns="0" anchor="b"/>
          <a:lstStyle/>
          <a:p>
            <a:r>
              <a:rPr lang="en-US" sz="1200" b="1" dirty="0">
                <a:solidFill>
                  <a:srgbClr val="2DD4BF"/>
                </a:solidFill>
                <a:latin typeface="Trebuchet MS"/>
              </a:rPr>
              <a:t>Top Performing Stores</a:t>
            </a:r>
          </a:p>
        </p:txBody>
      </p:sp>
      <p:sp>
        <p:nvSpPr>
          <p:cNvPr id="11" name="LB BG"/>
          <p:cNvSpPr/>
          <p:nvPr/>
        </p:nvSpPr>
        <p:spPr>
          <a:xfrm>
            <a:off x="548640" y="1234440"/>
            <a:ext cx="4114800" cy="2835600"/>
          </a:xfrm>
          <a:prstGeom prst="rect">
            <a:avLst/>
          </a:prstGeom>
          <a:solidFill>
            <a:srgbClr val="1E2D44"/>
          </a:solidFill>
          <a:ln>
            <a:noFill/>
          </a:ln>
        </p:spPr>
        <p:txBody>
          <a:bodyPr/>
          <a:lstStyle/>
          <a:p>
            <a:endParaRPr lang="en-US"/>
          </a:p>
        </p:txBody>
      </p:sp>
      <p:sp>
        <p:nvSpPr>
          <p:cNvPr id="12" name="Col Rank"/>
          <p:cNvSpPr txBox="1"/>
          <p:nvPr/>
        </p:nvSpPr>
        <p:spPr>
          <a:xfrm>
            <a:off x="640080" y="1280160"/>
            <a:ext cx="365760" cy="228600"/>
          </a:xfrm>
          <a:prstGeom prst="rect">
            <a:avLst/>
          </a:prstGeom>
          <a:noFill/>
        </p:spPr>
        <p:txBody>
          <a:bodyPr lIns="0" tIns="0" rIns="0" bIns="0" anchor="ctr"/>
          <a:lstStyle/>
          <a:p>
            <a:r>
              <a:rPr lang="en-US" sz="900" b="1" dirty="0">
                <a:solidFill>
                  <a:srgbClr val="8B9CB6"/>
                </a:solidFill>
                <a:latin typeface="Calibri"/>
              </a:rPr>
              <a:t>#</a:t>
            </a:r>
          </a:p>
        </p:txBody>
      </p:sp>
      <p:sp>
        <p:nvSpPr>
          <p:cNvPr id="13" name="Col Store"/>
          <p:cNvSpPr txBox="1"/>
          <p:nvPr/>
        </p:nvSpPr>
        <p:spPr>
          <a:xfrm>
            <a:off x="1005840" y="1280160"/>
            <a:ext cx="1143000" cy="228600"/>
          </a:xfrm>
          <a:prstGeom prst="rect">
            <a:avLst/>
          </a:prstGeom>
          <a:noFill/>
        </p:spPr>
        <p:txBody>
          <a:bodyPr lIns="0" tIns="0" rIns="0" bIns="0" anchor="ctr"/>
          <a:lstStyle/>
          <a:p>
            <a:r>
              <a:rPr lang="en-US" sz="900" b="1" dirty="0">
                <a:solidFill>
                  <a:srgbClr val="8B9CB6"/>
                </a:solidFill>
                <a:latin typeface="Calibri"/>
              </a:rPr>
              <a:t>Store</a:t>
            </a:r>
          </a:p>
        </p:txBody>
      </p:sp>
      <p:sp>
        <p:nvSpPr>
          <p:cNvPr id="14" name="Col Territory"/>
          <p:cNvSpPr txBox="1">
            <a:spLocks/>
          </p:cNvSpPr>
          <p:nvPr/>
        </p:nvSpPr>
        <p:spPr>
          <a:xfrm>
            <a:off x="2194560" y="1280160"/>
            <a:ext cx="822960" cy="228600"/>
          </a:xfrm>
          <a:prstGeom prst="rect">
            <a:avLst/>
          </a:prstGeom>
          <a:noFill/>
        </p:spPr>
        <p:txBody>
          <a:bodyPr lIns="0" tIns="0" rIns="0" bIns="0" anchor="ctr"/>
          <a:lstStyle/>
          <a:p>
            <a:r>
              <a:rPr lang="en-US" sz="900" b="1" dirty="0">
                <a:solidFill>
                  <a:srgbClr val="8B9CB6"/>
                </a:solidFill>
                <a:latin typeface="Calibri"/>
              </a:rPr>
              <a:t>Territory</a:t>
            </a:r>
          </a:p>
        </p:txBody>
      </p:sp>
      <p:sp>
        <p:nvSpPr>
          <p:cNvPr id="15" name="Col Rev"/>
          <p:cNvSpPr txBox="1"/>
          <p:nvPr/>
        </p:nvSpPr>
        <p:spPr>
          <a:xfrm>
            <a:off x="3063240" y="1280160"/>
            <a:ext cx="731520" cy="228600"/>
          </a:xfrm>
          <a:prstGeom prst="rect">
            <a:avLst/>
          </a:prstGeom>
          <a:noFill/>
        </p:spPr>
        <p:txBody>
          <a:bodyPr lIns="0" tIns="0" rIns="0" bIns="0" anchor="ctr"/>
          <a:lstStyle/>
          <a:p>
            <a:pPr algn="r"/>
            <a:r>
              <a:rPr lang="en-US" sz="900" b="1" dirty="0">
                <a:solidFill>
                  <a:srgbClr val="8B9CB6"/>
                </a:solidFill>
                <a:latin typeface="Calibri"/>
              </a:rPr>
              <a:t>Revenue</a:t>
            </a:r>
          </a:p>
        </p:txBody>
      </p:sp>
      <p:sp>
        <p:nvSpPr>
          <p:cNvPr id="16" name="Col Growth"/>
          <p:cNvSpPr txBox="1"/>
          <p:nvPr/>
        </p:nvSpPr>
        <p:spPr>
          <a:xfrm>
            <a:off x="3840480" y="1280160"/>
            <a:ext cx="731520" cy="228600"/>
          </a:xfrm>
          <a:prstGeom prst="rect">
            <a:avLst/>
          </a:prstGeom>
          <a:noFill/>
        </p:spPr>
        <p:txBody>
          <a:bodyPr lIns="0" tIns="0" rIns="0" bIns="0" anchor="ctr"/>
          <a:lstStyle/>
          <a:p>
            <a:pPr algn="r"/>
            <a:r>
              <a:rPr lang="en-US" sz="900" b="1" dirty="0">
                <a:solidFill>
                  <a:srgbClr val="8B9CB6"/>
                </a:solidFill>
                <a:latin typeface="Calibri"/>
              </a:rPr>
              <a:t>Store ID</a:t>
            </a:r>
          </a:p>
        </p:txBody>
      </p:sp>
      <p:sp>
        <p:nvSpPr>
          <p:cNvPr id="17" name="HSep"/>
          <p:cNvSpPr/>
          <p:nvPr/>
        </p:nvSpPr>
        <p:spPr>
          <a:xfrm>
            <a:off x="640080" y="1508760"/>
            <a:ext cx="3931920" cy="9144"/>
          </a:xfrm>
          <a:prstGeom prst="rect">
            <a:avLst/>
          </a:prstGeom>
          <a:solidFill>
            <a:srgbClr val="2D3748"/>
          </a:solidFill>
          <a:ln>
            <a:noFill/>
          </a:ln>
        </p:spPr>
        <p:txBody>
          <a:bodyPr/>
          <a:lstStyle/>
          <a:p>
            <a:endParaRPr lang="en-US"/>
          </a:p>
        </p:txBody>
      </p:sp>
      <p:sp>
        <p:nvSpPr>
          <p:cNvPr id="20" name="R1 Num"/>
          <p:cNvSpPr txBox="1"/>
          <p:nvPr/>
        </p:nvSpPr>
        <p:spPr>
          <a:xfrm>
            <a:off x="640080" y="1554480"/>
            <a:ext cx="365760" cy="274320"/>
          </a:xfrm>
          <a:prstGeom prst="rect">
            <a:avLst/>
          </a:prstGeom>
          <a:noFill/>
        </p:spPr>
        <p:txBody>
          <a:bodyPr lIns="0" tIns="0" rIns="0" bIns="0" anchor="ctr"/>
          <a:lstStyle/>
          <a:p>
            <a:r>
              <a:rPr lang="en-US" sz="1400" b="1" dirty="0">
                <a:solidFill>
                  <a:srgbClr val="2DD4BF"/>
                </a:solidFill>
                <a:latin typeface="Trebuchet MS"/>
              </a:rPr>
              <a:t>1</a:t>
            </a:r>
          </a:p>
        </p:txBody>
      </p:sp>
      <p:sp>
        <p:nvSpPr>
          <p:cNvPr id="21" name="R1 Store"/>
          <p:cNvSpPr txBox="1">
            <a:spLocks/>
          </p:cNvSpPr>
          <p:nvPr/>
        </p:nvSpPr>
        <p:spPr>
          <a:xfrm>
            <a:off x="1005840" y="1554480"/>
            <a:ext cx="1143000" cy="274320"/>
          </a:xfrm>
          <a:prstGeom prst="rect">
            <a:avLst/>
          </a:prstGeom>
          <a:noFill/>
        </p:spPr>
        <p:txBody>
          <a:bodyPr lIns="0" tIns="0" rIns="0" bIns="0" anchor="ctr"/>
          <a:lstStyle/>
          <a:p>
            <a:r>
              <a:rPr lang="en-US" sz="1000" b="1" dirty="0">
                <a:solidFill>
                  <a:srgbClr val="FFFFFF"/>
                </a:solidFill>
                <a:latin typeface="Calibri"/>
              </a:rPr>
              <a:t>Denver</a:t>
            </a:r>
          </a:p>
        </p:txBody>
      </p:sp>
      <p:sp>
        <p:nvSpPr>
          <p:cNvPr id="22" name="R1 Terr"/>
          <p:cNvSpPr txBox="1"/>
          <p:nvPr/>
        </p:nvSpPr>
        <p:spPr>
          <a:xfrm>
            <a:off x="2194560" y="1554480"/>
            <a:ext cx="822960" cy="274320"/>
          </a:xfrm>
          <a:prstGeom prst="rect">
            <a:avLst/>
          </a:prstGeom>
          <a:noFill/>
        </p:spPr>
        <p:txBody>
          <a:bodyPr lIns="0" tIns="0" rIns="0" bIns="0" anchor="ctr"/>
          <a:lstStyle/>
          <a:p>
            <a:r>
              <a:rPr lang="en-US" sz="900" dirty="0">
                <a:solidFill>
                  <a:srgbClr val="2DD4BF"/>
                </a:solidFill>
              </a:rPr>
              <a:t>Colorado</a:t>
            </a:r>
          </a:p>
        </p:txBody>
      </p:sp>
      <p:sp>
        <p:nvSpPr>
          <p:cNvPr id="23" name="R1 Rev"/>
          <p:cNvSpPr txBox="1">
            <a:spLocks/>
          </p:cNvSpPr>
          <p:nvPr/>
        </p:nvSpPr>
        <p:spPr>
          <a:xfrm>
            <a:off x="3063240" y="1554480"/>
            <a:ext cx="731520" cy="274320"/>
          </a:xfrm>
          <a:prstGeom prst="rect">
            <a:avLst/>
          </a:prstGeom>
          <a:noFill/>
        </p:spPr>
        <p:txBody>
          <a:bodyPr lIns="0" tIns="0" rIns="0" bIns="0" anchor="ctr"/>
          <a:lstStyle/>
          <a:p>
            <a:pPr algn="r"/>
            <a:r>
              <a:rPr lang="en-US" sz="1000" b="1" dirty="0">
                <a:solidFill>
                  <a:srgbClr val="FFFFFF"/>
                </a:solidFill>
                <a:latin typeface="Calibri"/>
              </a:rPr>
              <a:t>$900K</a:t>
            </a:r>
          </a:p>
        </p:txBody>
      </p:sp>
      <p:sp>
        <p:nvSpPr>
          <p:cNvPr id="24" name="R1 Gr"/>
          <p:cNvSpPr txBox="1"/>
          <p:nvPr/>
        </p:nvSpPr>
        <p:spPr>
          <a:xfrm>
            <a:off x="3840480" y="1554480"/>
            <a:ext cx="731520" cy="274320"/>
          </a:xfrm>
          <a:prstGeom prst="rect">
            <a:avLst/>
          </a:prstGeom>
          <a:noFill/>
        </p:spPr>
        <p:txBody>
          <a:bodyPr lIns="0" tIns="0" rIns="0" bIns="0" anchor="ctr"/>
          <a:lstStyle/>
          <a:p>
            <a:pPr algn="r"/>
            <a:r>
              <a:rPr lang="en-US" sz="1000" b="1" dirty="0">
                <a:solidFill>
                  <a:srgbClr val="22C55E"/>
                </a:solidFill>
                <a:latin typeface="Calibri"/>
              </a:rPr>
              <a:t>705</a:t>
            </a:r>
          </a:p>
        </p:txBody>
      </p:sp>
      <p:sp>
        <p:nvSpPr>
          <p:cNvPr id="25" name="S1"/>
          <p:cNvSpPr/>
          <p:nvPr/>
        </p:nvSpPr>
        <p:spPr>
          <a:xfrm>
            <a:off x="640080" y="1828800"/>
            <a:ext cx="3931920" cy="9144"/>
          </a:xfrm>
          <a:prstGeom prst="rect">
            <a:avLst/>
          </a:prstGeom>
          <a:solidFill>
            <a:srgbClr val="243447"/>
          </a:solidFill>
          <a:ln>
            <a:noFill/>
          </a:ln>
        </p:spPr>
        <p:txBody>
          <a:bodyPr/>
          <a:lstStyle/>
          <a:p>
            <a:endParaRPr lang="en-US"/>
          </a:p>
        </p:txBody>
      </p:sp>
      <p:sp>
        <p:nvSpPr>
          <p:cNvPr id="26" name="R2 Num"/>
          <p:cNvSpPr txBox="1"/>
          <p:nvPr/>
        </p:nvSpPr>
        <p:spPr>
          <a:xfrm>
            <a:off x="640080" y="1874520"/>
            <a:ext cx="365760" cy="274320"/>
          </a:xfrm>
          <a:prstGeom prst="rect">
            <a:avLst/>
          </a:prstGeom>
          <a:noFill/>
        </p:spPr>
        <p:txBody>
          <a:bodyPr lIns="0" tIns="0" rIns="0" bIns="0" anchor="ctr"/>
          <a:lstStyle/>
          <a:p>
            <a:r>
              <a:rPr lang="en-US" sz="1400" b="1" dirty="0">
                <a:solidFill>
                  <a:srgbClr val="2DD4BF"/>
                </a:solidFill>
                <a:latin typeface="Trebuchet MS"/>
              </a:rPr>
              <a:t>2</a:t>
            </a:r>
          </a:p>
        </p:txBody>
      </p:sp>
      <p:sp>
        <p:nvSpPr>
          <p:cNvPr id="27" name="R2 Store"/>
          <p:cNvSpPr txBox="1"/>
          <p:nvPr/>
        </p:nvSpPr>
        <p:spPr>
          <a:xfrm>
            <a:off x="1005840" y="1874520"/>
            <a:ext cx="1143000" cy="274320"/>
          </a:xfrm>
          <a:prstGeom prst="rect">
            <a:avLst/>
          </a:prstGeom>
          <a:noFill/>
        </p:spPr>
        <p:txBody>
          <a:bodyPr lIns="0" tIns="0" rIns="0" bIns="0" anchor="ctr"/>
          <a:lstStyle/>
          <a:p>
            <a:r>
              <a:rPr lang="en-US" sz="1000" b="1" dirty="0">
                <a:solidFill>
                  <a:srgbClr val="FFFFFF"/>
                </a:solidFill>
                <a:latin typeface="Calibri"/>
              </a:rPr>
              <a:t>Greeley</a:t>
            </a:r>
          </a:p>
        </p:txBody>
      </p:sp>
      <p:sp>
        <p:nvSpPr>
          <p:cNvPr id="28" name="R2 Terr"/>
          <p:cNvSpPr txBox="1"/>
          <p:nvPr/>
        </p:nvSpPr>
        <p:spPr>
          <a:xfrm>
            <a:off x="2194560" y="1874520"/>
            <a:ext cx="822960" cy="274320"/>
          </a:xfrm>
          <a:prstGeom prst="rect">
            <a:avLst/>
          </a:prstGeom>
          <a:noFill/>
        </p:spPr>
        <p:txBody>
          <a:bodyPr lIns="0" tIns="0" rIns="0" bIns="0" anchor="ctr"/>
          <a:lstStyle/>
          <a:p>
            <a:r>
              <a:rPr lang="en-US" sz="900" dirty="0">
                <a:solidFill>
                  <a:srgbClr val="2DD4BF"/>
                </a:solidFill>
                <a:latin typeface="Calibri"/>
              </a:rPr>
              <a:t>Colorado</a:t>
            </a:r>
          </a:p>
        </p:txBody>
      </p:sp>
      <p:sp>
        <p:nvSpPr>
          <p:cNvPr id="29" name="R2 Rev"/>
          <p:cNvSpPr txBox="1"/>
          <p:nvPr/>
        </p:nvSpPr>
        <p:spPr>
          <a:xfrm>
            <a:off x="3063240" y="1874520"/>
            <a:ext cx="731520" cy="274320"/>
          </a:xfrm>
          <a:prstGeom prst="rect">
            <a:avLst/>
          </a:prstGeom>
          <a:noFill/>
        </p:spPr>
        <p:txBody>
          <a:bodyPr lIns="0" tIns="0" rIns="0" bIns="0" anchor="ctr"/>
          <a:lstStyle/>
          <a:p>
            <a:pPr algn="r"/>
            <a:r>
              <a:rPr lang="en-US" sz="1000" b="1" dirty="0">
                <a:solidFill>
                  <a:srgbClr val="FFFFFF"/>
                </a:solidFill>
                <a:latin typeface="Calibri"/>
              </a:rPr>
              <a:t>$646K</a:t>
            </a:r>
          </a:p>
        </p:txBody>
      </p:sp>
      <p:sp>
        <p:nvSpPr>
          <p:cNvPr id="30" name="R2 Gr"/>
          <p:cNvSpPr txBox="1"/>
          <p:nvPr/>
        </p:nvSpPr>
        <p:spPr>
          <a:xfrm>
            <a:off x="3840480" y="1874520"/>
            <a:ext cx="731520" cy="274320"/>
          </a:xfrm>
          <a:prstGeom prst="rect">
            <a:avLst/>
          </a:prstGeom>
          <a:noFill/>
        </p:spPr>
        <p:txBody>
          <a:bodyPr lIns="0" tIns="0" rIns="0" bIns="0" anchor="ctr"/>
          <a:lstStyle/>
          <a:p>
            <a:pPr algn="r"/>
            <a:r>
              <a:rPr lang="en-US" sz="1000" b="1" dirty="0">
                <a:solidFill>
                  <a:srgbClr val="22C55E"/>
                </a:solidFill>
                <a:latin typeface="Calibri"/>
              </a:rPr>
              <a:t>709</a:t>
            </a:r>
          </a:p>
        </p:txBody>
      </p:sp>
      <p:sp>
        <p:nvSpPr>
          <p:cNvPr id="31" name="S2"/>
          <p:cNvSpPr/>
          <p:nvPr/>
        </p:nvSpPr>
        <p:spPr>
          <a:xfrm>
            <a:off x="640080" y="2148840"/>
            <a:ext cx="3931920" cy="9144"/>
          </a:xfrm>
          <a:prstGeom prst="rect">
            <a:avLst/>
          </a:prstGeom>
          <a:solidFill>
            <a:srgbClr val="243447"/>
          </a:solidFill>
          <a:ln>
            <a:noFill/>
          </a:ln>
        </p:spPr>
        <p:txBody>
          <a:bodyPr/>
          <a:lstStyle/>
          <a:p>
            <a:endParaRPr lang="en-US"/>
          </a:p>
        </p:txBody>
      </p:sp>
      <p:sp>
        <p:nvSpPr>
          <p:cNvPr id="32" name="R3 Num"/>
          <p:cNvSpPr txBox="1"/>
          <p:nvPr/>
        </p:nvSpPr>
        <p:spPr>
          <a:xfrm>
            <a:off x="640080" y="2194560"/>
            <a:ext cx="365760" cy="274320"/>
          </a:xfrm>
          <a:prstGeom prst="rect">
            <a:avLst/>
          </a:prstGeom>
          <a:noFill/>
        </p:spPr>
        <p:txBody>
          <a:bodyPr lIns="0" tIns="0" rIns="0" bIns="0" anchor="ctr"/>
          <a:lstStyle/>
          <a:p>
            <a:r>
              <a:rPr lang="en-US" sz="1400" b="1" dirty="0">
                <a:solidFill>
                  <a:srgbClr val="2DD4BF"/>
                </a:solidFill>
                <a:latin typeface="Trebuchet MS"/>
              </a:rPr>
              <a:t>3</a:t>
            </a:r>
          </a:p>
        </p:txBody>
      </p:sp>
      <p:sp>
        <p:nvSpPr>
          <p:cNvPr id="33" name="R3 Store"/>
          <p:cNvSpPr txBox="1"/>
          <p:nvPr/>
        </p:nvSpPr>
        <p:spPr>
          <a:xfrm>
            <a:off x="1005840" y="2194560"/>
            <a:ext cx="1143000" cy="274320"/>
          </a:xfrm>
          <a:prstGeom prst="rect">
            <a:avLst/>
          </a:prstGeom>
          <a:noFill/>
        </p:spPr>
        <p:txBody>
          <a:bodyPr lIns="0" tIns="0" rIns="0" bIns="0" anchor="ctr"/>
          <a:lstStyle/>
          <a:p>
            <a:r>
              <a:rPr lang="en-US" sz="1000" b="1" dirty="0">
                <a:solidFill>
                  <a:srgbClr val="FFFFFF"/>
                </a:solidFill>
                <a:latin typeface="Calibri"/>
              </a:rPr>
              <a:t>Miami</a:t>
            </a:r>
          </a:p>
        </p:txBody>
      </p:sp>
      <p:sp>
        <p:nvSpPr>
          <p:cNvPr id="34" name="R3 Terr"/>
          <p:cNvSpPr txBox="1"/>
          <p:nvPr/>
        </p:nvSpPr>
        <p:spPr>
          <a:xfrm>
            <a:off x="2194560" y="2194560"/>
            <a:ext cx="822960" cy="274320"/>
          </a:xfrm>
          <a:prstGeom prst="rect">
            <a:avLst/>
          </a:prstGeom>
          <a:noFill/>
        </p:spPr>
        <p:txBody>
          <a:bodyPr lIns="0" tIns="0" rIns="0" bIns="0" anchor="ctr"/>
          <a:lstStyle/>
          <a:p>
            <a:r>
              <a:rPr lang="en-US" sz="900" dirty="0">
                <a:solidFill>
                  <a:srgbClr val="F6C343"/>
                </a:solidFill>
                <a:latin typeface="Calibri"/>
              </a:rPr>
              <a:t>Florida</a:t>
            </a:r>
          </a:p>
        </p:txBody>
      </p:sp>
      <p:sp>
        <p:nvSpPr>
          <p:cNvPr id="35" name="R3 Rev"/>
          <p:cNvSpPr txBox="1">
            <a:spLocks/>
          </p:cNvSpPr>
          <p:nvPr/>
        </p:nvSpPr>
        <p:spPr>
          <a:xfrm>
            <a:off x="3063240" y="2194560"/>
            <a:ext cx="731520" cy="274320"/>
          </a:xfrm>
          <a:prstGeom prst="rect">
            <a:avLst/>
          </a:prstGeom>
          <a:noFill/>
        </p:spPr>
        <p:txBody>
          <a:bodyPr lIns="0" tIns="0" rIns="0" bIns="0" anchor="ctr"/>
          <a:lstStyle/>
          <a:p>
            <a:pPr algn="r"/>
            <a:r>
              <a:rPr lang="en-US" sz="1000" b="1" dirty="0">
                <a:solidFill>
                  <a:srgbClr val="FFFFFF"/>
                </a:solidFill>
                <a:latin typeface="Calibri"/>
              </a:rPr>
              <a:t>$623K</a:t>
            </a:r>
          </a:p>
        </p:txBody>
      </p:sp>
      <p:sp>
        <p:nvSpPr>
          <p:cNvPr id="36" name="R3 Gr"/>
          <p:cNvSpPr txBox="1"/>
          <p:nvPr/>
        </p:nvSpPr>
        <p:spPr>
          <a:xfrm>
            <a:off x="3840480" y="2194560"/>
            <a:ext cx="731520" cy="274320"/>
          </a:xfrm>
          <a:prstGeom prst="rect">
            <a:avLst/>
          </a:prstGeom>
          <a:noFill/>
        </p:spPr>
        <p:txBody>
          <a:bodyPr lIns="0" tIns="0" rIns="0" bIns="0" anchor="ctr"/>
          <a:lstStyle/>
          <a:p>
            <a:pPr algn="r"/>
            <a:r>
              <a:rPr lang="en-US" sz="1000" b="1" dirty="0">
                <a:solidFill>
                  <a:srgbClr val="22C55E"/>
                </a:solidFill>
                <a:latin typeface="Calibri"/>
              </a:rPr>
              <a:t>724</a:t>
            </a:r>
          </a:p>
        </p:txBody>
      </p:sp>
      <p:sp>
        <p:nvSpPr>
          <p:cNvPr id="37" name="S3"/>
          <p:cNvSpPr>
            <a:spLocks/>
          </p:cNvSpPr>
          <p:nvPr/>
        </p:nvSpPr>
        <p:spPr>
          <a:xfrm>
            <a:off x="640080" y="2468880"/>
            <a:ext cx="3931920" cy="9144"/>
          </a:xfrm>
          <a:prstGeom prst="rect">
            <a:avLst/>
          </a:prstGeom>
          <a:solidFill>
            <a:srgbClr val="243447"/>
          </a:solidFill>
          <a:ln>
            <a:noFill/>
          </a:ln>
        </p:spPr>
        <p:txBody>
          <a:bodyPr/>
          <a:lstStyle/>
          <a:p>
            <a:endParaRPr lang="en-US"/>
          </a:p>
        </p:txBody>
      </p:sp>
      <p:sp>
        <p:nvSpPr>
          <p:cNvPr id="38" name="R4 Num"/>
          <p:cNvSpPr txBox="1"/>
          <p:nvPr/>
        </p:nvSpPr>
        <p:spPr>
          <a:xfrm>
            <a:off x="640080" y="2514600"/>
            <a:ext cx="365760" cy="274320"/>
          </a:xfrm>
          <a:prstGeom prst="rect">
            <a:avLst/>
          </a:prstGeom>
          <a:noFill/>
        </p:spPr>
        <p:txBody>
          <a:bodyPr lIns="0" tIns="0" rIns="0" bIns="0" anchor="ctr"/>
          <a:lstStyle/>
          <a:p>
            <a:r>
              <a:rPr lang="en-US" sz="1400" b="1" dirty="0">
                <a:solidFill>
                  <a:srgbClr val="2DD4BF"/>
                </a:solidFill>
                <a:latin typeface="Trebuchet MS"/>
              </a:rPr>
              <a:t>4</a:t>
            </a:r>
          </a:p>
        </p:txBody>
      </p:sp>
      <p:sp>
        <p:nvSpPr>
          <p:cNvPr id="39" name="R4 Store"/>
          <p:cNvSpPr txBox="1">
            <a:spLocks/>
          </p:cNvSpPr>
          <p:nvPr/>
        </p:nvSpPr>
        <p:spPr>
          <a:xfrm>
            <a:off x="1005840" y="2514600"/>
            <a:ext cx="1143000" cy="274320"/>
          </a:xfrm>
          <a:prstGeom prst="rect">
            <a:avLst/>
          </a:prstGeom>
          <a:noFill/>
        </p:spPr>
        <p:txBody>
          <a:bodyPr lIns="0" tIns="0" rIns="0" bIns="0" anchor="ctr"/>
          <a:lstStyle/>
          <a:p>
            <a:r>
              <a:rPr lang="en-US" sz="1000" b="1" dirty="0">
                <a:solidFill>
                  <a:srgbClr val="FFFFFF"/>
                </a:solidFill>
                <a:latin typeface="Calibri"/>
              </a:rPr>
              <a:t>Tallahassee</a:t>
            </a:r>
          </a:p>
        </p:txBody>
      </p:sp>
      <p:sp>
        <p:nvSpPr>
          <p:cNvPr id="40" name="R4 Terr"/>
          <p:cNvSpPr txBox="1"/>
          <p:nvPr/>
        </p:nvSpPr>
        <p:spPr>
          <a:xfrm>
            <a:off x="2194560" y="2514600"/>
            <a:ext cx="822960" cy="274320"/>
          </a:xfrm>
          <a:prstGeom prst="rect">
            <a:avLst/>
          </a:prstGeom>
          <a:noFill/>
        </p:spPr>
        <p:txBody>
          <a:bodyPr lIns="0" tIns="0" rIns="0" bIns="0" anchor="ctr"/>
          <a:lstStyle/>
          <a:p>
            <a:r>
              <a:rPr lang="en-US" sz="900" dirty="0">
                <a:solidFill>
                  <a:srgbClr val="F6C343"/>
                </a:solidFill>
              </a:rPr>
              <a:t>Florida</a:t>
            </a:r>
          </a:p>
        </p:txBody>
      </p:sp>
      <p:sp>
        <p:nvSpPr>
          <p:cNvPr id="41" name="R4 Rev"/>
          <p:cNvSpPr txBox="1"/>
          <p:nvPr/>
        </p:nvSpPr>
        <p:spPr>
          <a:xfrm>
            <a:off x="3063240" y="2514600"/>
            <a:ext cx="731520" cy="274320"/>
          </a:xfrm>
          <a:prstGeom prst="rect">
            <a:avLst/>
          </a:prstGeom>
          <a:noFill/>
        </p:spPr>
        <p:txBody>
          <a:bodyPr lIns="0" tIns="0" rIns="0" bIns="0" anchor="ctr"/>
          <a:lstStyle/>
          <a:p>
            <a:pPr algn="r"/>
            <a:r>
              <a:rPr lang="en-US" sz="1000" b="1" dirty="0">
                <a:solidFill>
                  <a:srgbClr val="FFFFFF"/>
                </a:solidFill>
                <a:latin typeface="Calibri"/>
              </a:rPr>
              <a:t>$546K</a:t>
            </a:r>
          </a:p>
        </p:txBody>
      </p:sp>
      <p:sp>
        <p:nvSpPr>
          <p:cNvPr id="42" name="R4 Gr"/>
          <p:cNvSpPr txBox="1"/>
          <p:nvPr/>
        </p:nvSpPr>
        <p:spPr>
          <a:xfrm>
            <a:off x="3840480" y="2514600"/>
            <a:ext cx="731520" cy="274320"/>
          </a:xfrm>
          <a:prstGeom prst="rect">
            <a:avLst/>
          </a:prstGeom>
          <a:noFill/>
        </p:spPr>
        <p:txBody>
          <a:bodyPr lIns="0" tIns="0" rIns="0" bIns="0" anchor="ctr"/>
          <a:lstStyle/>
          <a:p>
            <a:pPr algn="r"/>
            <a:r>
              <a:rPr lang="en-US" sz="1000" b="1" dirty="0">
                <a:solidFill>
                  <a:srgbClr val="22C55E"/>
                </a:solidFill>
                <a:latin typeface="Calibri"/>
              </a:rPr>
              <a:t>728</a:t>
            </a:r>
          </a:p>
        </p:txBody>
      </p:sp>
      <p:sp>
        <p:nvSpPr>
          <p:cNvPr id="43" name="S4"/>
          <p:cNvSpPr/>
          <p:nvPr/>
        </p:nvSpPr>
        <p:spPr>
          <a:xfrm>
            <a:off x="640080" y="2788920"/>
            <a:ext cx="3931920" cy="9144"/>
          </a:xfrm>
          <a:prstGeom prst="rect">
            <a:avLst/>
          </a:prstGeom>
          <a:solidFill>
            <a:srgbClr val="243447"/>
          </a:solidFill>
          <a:ln>
            <a:noFill/>
          </a:ln>
        </p:spPr>
        <p:txBody>
          <a:bodyPr/>
          <a:lstStyle/>
          <a:p>
            <a:endParaRPr lang="en-US"/>
          </a:p>
        </p:txBody>
      </p:sp>
      <p:sp>
        <p:nvSpPr>
          <p:cNvPr id="44" name="R5 Num"/>
          <p:cNvSpPr txBox="1"/>
          <p:nvPr/>
        </p:nvSpPr>
        <p:spPr>
          <a:xfrm>
            <a:off x="640080" y="2834640"/>
            <a:ext cx="365760" cy="274320"/>
          </a:xfrm>
          <a:prstGeom prst="rect">
            <a:avLst/>
          </a:prstGeom>
          <a:noFill/>
        </p:spPr>
        <p:txBody>
          <a:bodyPr lIns="0" tIns="0" rIns="0" bIns="0" anchor="ctr"/>
          <a:lstStyle/>
          <a:p>
            <a:r>
              <a:rPr lang="en-US" sz="1400" b="1" dirty="0">
                <a:solidFill>
                  <a:srgbClr val="2DD4BF"/>
                </a:solidFill>
                <a:latin typeface="Trebuchet MS"/>
              </a:rPr>
              <a:t>5</a:t>
            </a:r>
          </a:p>
        </p:txBody>
      </p:sp>
      <p:sp>
        <p:nvSpPr>
          <p:cNvPr id="45" name="R5 Store"/>
          <p:cNvSpPr txBox="1"/>
          <p:nvPr/>
        </p:nvSpPr>
        <p:spPr>
          <a:xfrm>
            <a:off x="1005840" y="2834640"/>
            <a:ext cx="1143000" cy="274320"/>
          </a:xfrm>
          <a:prstGeom prst="rect">
            <a:avLst/>
          </a:prstGeom>
          <a:noFill/>
        </p:spPr>
        <p:txBody>
          <a:bodyPr lIns="0" tIns="0" rIns="0" bIns="0" anchor="ctr"/>
          <a:lstStyle/>
          <a:p>
            <a:r>
              <a:rPr lang="en-US" sz="1000" b="1" dirty="0">
                <a:solidFill>
                  <a:srgbClr val="FFFFFF"/>
                </a:solidFill>
                <a:latin typeface="Calibri"/>
              </a:rPr>
              <a:t>Cape Canaveral</a:t>
            </a:r>
          </a:p>
        </p:txBody>
      </p:sp>
      <p:sp>
        <p:nvSpPr>
          <p:cNvPr id="46" name="R5 Terr"/>
          <p:cNvSpPr txBox="1"/>
          <p:nvPr/>
        </p:nvSpPr>
        <p:spPr>
          <a:xfrm>
            <a:off x="2194560" y="2834640"/>
            <a:ext cx="822960" cy="274320"/>
          </a:xfrm>
          <a:prstGeom prst="rect">
            <a:avLst/>
          </a:prstGeom>
          <a:noFill/>
        </p:spPr>
        <p:txBody>
          <a:bodyPr lIns="0" tIns="0" rIns="0" bIns="0" anchor="ctr"/>
          <a:lstStyle/>
          <a:p>
            <a:r>
              <a:rPr lang="en-US" sz="900" dirty="0">
                <a:solidFill>
                  <a:srgbClr val="F6C343"/>
                </a:solidFill>
                <a:latin typeface="Calibri"/>
              </a:rPr>
              <a:t>Florida</a:t>
            </a:r>
          </a:p>
        </p:txBody>
      </p:sp>
      <p:sp>
        <p:nvSpPr>
          <p:cNvPr id="47" name="R5 Rev"/>
          <p:cNvSpPr txBox="1">
            <a:spLocks/>
          </p:cNvSpPr>
          <p:nvPr/>
        </p:nvSpPr>
        <p:spPr>
          <a:xfrm>
            <a:off x="3063240" y="2834640"/>
            <a:ext cx="731520" cy="274320"/>
          </a:xfrm>
          <a:prstGeom prst="rect">
            <a:avLst/>
          </a:prstGeom>
          <a:noFill/>
        </p:spPr>
        <p:txBody>
          <a:bodyPr lIns="0" tIns="0" rIns="0" bIns="0" anchor="ctr"/>
          <a:lstStyle/>
          <a:p>
            <a:pPr algn="r"/>
            <a:r>
              <a:rPr lang="en-US" sz="1000" b="1" dirty="0">
                <a:solidFill>
                  <a:srgbClr val="FFFFFF"/>
                </a:solidFill>
                <a:latin typeface="Calibri"/>
              </a:rPr>
              <a:t>$333K</a:t>
            </a:r>
          </a:p>
        </p:txBody>
      </p:sp>
      <p:sp>
        <p:nvSpPr>
          <p:cNvPr id="48" name="R5 Gr"/>
          <p:cNvSpPr txBox="1"/>
          <p:nvPr/>
        </p:nvSpPr>
        <p:spPr>
          <a:xfrm>
            <a:off x="3840480" y="2834640"/>
            <a:ext cx="731520" cy="274320"/>
          </a:xfrm>
          <a:prstGeom prst="rect">
            <a:avLst/>
          </a:prstGeom>
          <a:noFill/>
        </p:spPr>
        <p:txBody>
          <a:bodyPr lIns="0" tIns="0" rIns="0" bIns="0" anchor="ctr"/>
          <a:lstStyle/>
          <a:p>
            <a:pPr algn="r"/>
            <a:r>
              <a:rPr lang="en-US" sz="1000" b="1" dirty="0">
                <a:solidFill>
                  <a:srgbClr val="22C55E"/>
                </a:solidFill>
                <a:latin typeface="Calibri"/>
              </a:rPr>
              <a:t>722</a:t>
            </a:r>
          </a:p>
        </p:txBody>
      </p:sp>
      <p:sp>
        <p:nvSpPr>
          <p:cNvPr id="49" name="S5"/>
          <p:cNvSpPr>
            <a:spLocks/>
          </p:cNvSpPr>
          <p:nvPr/>
        </p:nvSpPr>
        <p:spPr>
          <a:xfrm>
            <a:off x="640080" y="3108960"/>
            <a:ext cx="3931920" cy="9144"/>
          </a:xfrm>
          <a:prstGeom prst="rect">
            <a:avLst/>
          </a:prstGeom>
          <a:solidFill>
            <a:srgbClr val="243447"/>
          </a:solidFill>
          <a:ln>
            <a:noFill/>
          </a:ln>
        </p:spPr>
        <p:txBody>
          <a:bodyPr/>
          <a:lstStyle/>
          <a:p>
            <a:endParaRPr lang="en-US"/>
          </a:p>
        </p:txBody>
      </p:sp>
      <p:sp>
        <p:nvSpPr>
          <p:cNvPr id="50" name="R6 Num"/>
          <p:cNvSpPr txBox="1"/>
          <p:nvPr/>
        </p:nvSpPr>
        <p:spPr>
          <a:xfrm>
            <a:off x="640080" y="3154680"/>
            <a:ext cx="365760" cy="274320"/>
          </a:xfrm>
          <a:prstGeom prst="rect">
            <a:avLst/>
          </a:prstGeom>
          <a:noFill/>
        </p:spPr>
        <p:txBody>
          <a:bodyPr lIns="0" tIns="0" rIns="0" bIns="0" anchor="ctr"/>
          <a:lstStyle/>
          <a:p>
            <a:r>
              <a:rPr lang="en-US" sz="1400" b="1" dirty="0">
                <a:solidFill>
                  <a:srgbClr val="8B9CB6"/>
                </a:solidFill>
                <a:latin typeface="Trebuchet MS"/>
              </a:rPr>
              <a:t>6</a:t>
            </a:r>
          </a:p>
        </p:txBody>
      </p:sp>
      <p:sp>
        <p:nvSpPr>
          <p:cNvPr id="51" name="R6 Store"/>
          <p:cNvSpPr txBox="1">
            <a:spLocks/>
          </p:cNvSpPr>
          <p:nvPr/>
        </p:nvSpPr>
        <p:spPr>
          <a:xfrm>
            <a:off x="1005840" y="3154680"/>
            <a:ext cx="1143000" cy="274320"/>
          </a:xfrm>
          <a:prstGeom prst="rect">
            <a:avLst/>
          </a:prstGeom>
          <a:noFill/>
        </p:spPr>
        <p:txBody>
          <a:bodyPr lIns="0" tIns="0" rIns="0" bIns="0" anchor="ctr"/>
          <a:lstStyle/>
          <a:p>
            <a:r>
              <a:rPr lang="en-US" sz="1000" dirty="0">
                <a:solidFill>
                  <a:srgbClr val="E2E8F0"/>
                </a:solidFill>
                <a:latin typeface="Calibri"/>
              </a:rPr>
              <a:t>Jacksonville</a:t>
            </a:r>
          </a:p>
        </p:txBody>
      </p:sp>
      <p:sp>
        <p:nvSpPr>
          <p:cNvPr id="52" name="R6 Terr"/>
          <p:cNvSpPr txBox="1"/>
          <p:nvPr/>
        </p:nvSpPr>
        <p:spPr>
          <a:xfrm>
            <a:off x="2194560" y="3154680"/>
            <a:ext cx="822960" cy="274320"/>
          </a:xfrm>
          <a:prstGeom prst="rect">
            <a:avLst/>
          </a:prstGeom>
          <a:noFill/>
        </p:spPr>
        <p:txBody>
          <a:bodyPr lIns="0" tIns="0" rIns="0" bIns="0" anchor="ctr"/>
          <a:lstStyle/>
          <a:p>
            <a:r>
              <a:rPr lang="en-US" sz="900" dirty="0">
                <a:solidFill>
                  <a:srgbClr val="F6C343"/>
                </a:solidFill>
              </a:rPr>
              <a:t>Florida</a:t>
            </a:r>
          </a:p>
        </p:txBody>
      </p:sp>
      <p:sp>
        <p:nvSpPr>
          <p:cNvPr id="53" name="R6 Rev"/>
          <p:cNvSpPr txBox="1"/>
          <p:nvPr/>
        </p:nvSpPr>
        <p:spPr>
          <a:xfrm>
            <a:off x="3063240" y="3154680"/>
            <a:ext cx="731520" cy="274320"/>
          </a:xfrm>
          <a:prstGeom prst="rect">
            <a:avLst/>
          </a:prstGeom>
          <a:noFill/>
        </p:spPr>
        <p:txBody>
          <a:bodyPr lIns="0" tIns="0" rIns="0" bIns="0" anchor="ctr"/>
          <a:lstStyle/>
          <a:p>
            <a:pPr algn="r"/>
            <a:r>
              <a:rPr lang="en-US" sz="1000" dirty="0">
                <a:solidFill>
                  <a:srgbClr val="E2E8F0"/>
                </a:solidFill>
                <a:latin typeface="Calibri"/>
              </a:rPr>
              <a:t>$333K</a:t>
            </a:r>
          </a:p>
        </p:txBody>
      </p:sp>
      <p:sp>
        <p:nvSpPr>
          <p:cNvPr id="54" name="R6 Gr"/>
          <p:cNvSpPr txBox="1"/>
          <p:nvPr/>
        </p:nvSpPr>
        <p:spPr>
          <a:xfrm>
            <a:off x="3840480" y="3154680"/>
            <a:ext cx="731520" cy="274320"/>
          </a:xfrm>
          <a:prstGeom prst="rect">
            <a:avLst/>
          </a:prstGeom>
          <a:noFill/>
        </p:spPr>
        <p:txBody>
          <a:bodyPr lIns="0" tIns="0" rIns="0" bIns="0" anchor="ctr"/>
          <a:lstStyle/>
          <a:p>
            <a:pPr algn="r"/>
            <a:r>
              <a:rPr lang="en-US" sz="1000" dirty="0">
                <a:solidFill>
                  <a:srgbClr val="22C55E"/>
                </a:solidFill>
                <a:latin typeface="Calibri"/>
              </a:rPr>
              <a:t>721</a:t>
            </a:r>
          </a:p>
        </p:txBody>
      </p:sp>
      <p:sp>
        <p:nvSpPr>
          <p:cNvPr id="55" name="S6"/>
          <p:cNvSpPr/>
          <p:nvPr/>
        </p:nvSpPr>
        <p:spPr>
          <a:xfrm>
            <a:off x="640080" y="3429000"/>
            <a:ext cx="3931920" cy="9144"/>
          </a:xfrm>
          <a:prstGeom prst="rect">
            <a:avLst/>
          </a:prstGeom>
          <a:solidFill>
            <a:srgbClr val="243447"/>
          </a:solidFill>
          <a:ln>
            <a:noFill/>
          </a:ln>
        </p:spPr>
        <p:txBody>
          <a:bodyPr/>
          <a:lstStyle/>
          <a:p>
            <a:endParaRPr lang="en-US"/>
          </a:p>
        </p:txBody>
      </p:sp>
      <p:sp>
        <p:nvSpPr>
          <p:cNvPr id="56" name="R7 Num"/>
          <p:cNvSpPr txBox="1"/>
          <p:nvPr/>
        </p:nvSpPr>
        <p:spPr>
          <a:xfrm>
            <a:off x="640080" y="3474720"/>
            <a:ext cx="365760" cy="274320"/>
          </a:xfrm>
          <a:prstGeom prst="rect">
            <a:avLst/>
          </a:prstGeom>
          <a:noFill/>
        </p:spPr>
        <p:txBody>
          <a:bodyPr lIns="0" tIns="0" rIns="0" bIns="0" anchor="ctr"/>
          <a:lstStyle/>
          <a:p>
            <a:r>
              <a:rPr lang="en-US" sz="1400" b="1" dirty="0">
                <a:solidFill>
                  <a:srgbClr val="8B9CB6"/>
                </a:solidFill>
                <a:latin typeface="Trebuchet MS"/>
              </a:rPr>
              <a:t>7</a:t>
            </a:r>
          </a:p>
        </p:txBody>
      </p:sp>
      <p:sp>
        <p:nvSpPr>
          <p:cNvPr id="57" name="R7 Store"/>
          <p:cNvSpPr txBox="1"/>
          <p:nvPr/>
        </p:nvSpPr>
        <p:spPr>
          <a:xfrm>
            <a:off x="1005840" y="3474720"/>
            <a:ext cx="1143000" cy="274320"/>
          </a:xfrm>
          <a:prstGeom prst="rect">
            <a:avLst/>
          </a:prstGeom>
          <a:noFill/>
        </p:spPr>
        <p:txBody>
          <a:bodyPr lIns="0" tIns="0" rIns="0" bIns="0" anchor="ctr"/>
          <a:lstStyle/>
          <a:p>
            <a:r>
              <a:rPr lang="en-US" sz="1000" dirty="0">
                <a:solidFill>
                  <a:srgbClr val="E2E8F0"/>
                </a:solidFill>
                <a:latin typeface="Calibri"/>
              </a:rPr>
              <a:t>Sebring</a:t>
            </a:r>
          </a:p>
        </p:txBody>
      </p:sp>
      <p:sp>
        <p:nvSpPr>
          <p:cNvPr id="58" name="R7 Terr"/>
          <p:cNvSpPr txBox="1"/>
          <p:nvPr/>
        </p:nvSpPr>
        <p:spPr>
          <a:xfrm>
            <a:off x="2194560" y="3474720"/>
            <a:ext cx="822960" cy="274320"/>
          </a:xfrm>
          <a:prstGeom prst="rect">
            <a:avLst/>
          </a:prstGeom>
          <a:noFill/>
        </p:spPr>
        <p:txBody>
          <a:bodyPr lIns="0" tIns="0" rIns="0" bIns="0" anchor="ctr"/>
          <a:lstStyle/>
          <a:p>
            <a:r>
              <a:rPr lang="en-US" sz="900" dirty="0">
                <a:solidFill>
                  <a:srgbClr val="F6C343"/>
                </a:solidFill>
                <a:latin typeface="Calibri"/>
              </a:rPr>
              <a:t>Florida</a:t>
            </a:r>
          </a:p>
        </p:txBody>
      </p:sp>
      <p:sp>
        <p:nvSpPr>
          <p:cNvPr id="59" name="R7 Rev"/>
          <p:cNvSpPr txBox="1"/>
          <p:nvPr/>
        </p:nvSpPr>
        <p:spPr>
          <a:xfrm>
            <a:off x="3063240" y="3474720"/>
            <a:ext cx="731520" cy="274320"/>
          </a:xfrm>
          <a:prstGeom prst="rect">
            <a:avLst/>
          </a:prstGeom>
          <a:noFill/>
        </p:spPr>
        <p:txBody>
          <a:bodyPr lIns="0" tIns="0" rIns="0" bIns="0" anchor="ctr"/>
          <a:lstStyle/>
          <a:p>
            <a:pPr algn="r"/>
            <a:r>
              <a:rPr lang="en-US" sz="1000" dirty="0">
                <a:solidFill>
                  <a:srgbClr val="E2E8F0"/>
                </a:solidFill>
                <a:latin typeface="Calibri"/>
              </a:rPr>
              <a:t>$332K</a:t>
            </a:r>
          </a:p>
        </p:txBody>
      </p:sp>
      <p:sp>
        <p:nvSpPr>
          <p:cNvPr id="60" name="R7 Gr"/>
          <p:cNvSpPr txBox="1"/>
          <p:nvPr/>
        </p:nvSpPr>
        <p:spPr>
          <a:xfrm>
            <a:off x="3840480" y="3474720"/>
            <a:ext cx="731520" cy="274320"/>
          </a:xfrm>
          <a:prstGeom prst="rect">
            <a:avLst/>
          </a:prstGeom>
          <a:noFill/>
        </p:spPr>
        <p:txBody>
          <a:bodyPr lIns="0" tIns="0" rIns="0" bIns="0" anchor="ctr"/>
          <a:lstStyle/>
          <a:p>
            <a:pPr algn="r"/>
            <a:r>
              <a:rPr lang="en-US" sz="1000" dirty="0">
                <a:solidFill>
                  <a:srgbClr val="22C55E"/>
                </a:solidFill>
                <a:latin typeface="Calibri"/>
              </a:rPr>
              <a:t>727</a:t>
            </a:r>
          </a:p>
        </p:txBody>
      </p:sp>
      <p:sp>
        <p:nvSpPr>
          <p:cNvPr id="61" name="LB Note"/>
          <p:cNvSpPr txBox="1">
            <a:spLocks/>
          </p:cNvSpPr>
          <p:nvPr/>
        </p:nvSpPr>
        <p:spPr>
          <a:xfrm>
            <a:off x="640080" y="3794760"/>
            <a:ext cx="3931920" cy="228600"/>
          </a:xfrm>
          <a:prstGeom prst="rect">
            <a:avLst/>
          </a:prstGeom>
          <a:noFill/>
        </p:spPr>
        <p:txBody>
          <a:bodyPr lIns="0" tIns="0" rIns="0" bIns="0" anchor="t"/>
          <a:lstStyle/>
          <a:p>
            <a:r>
              <a:rPr lang="en-US" sz="800" i="1" dirty="0">
                <a:solidFill>
                  <a:srgbClr val="8B9CB6"/>
                </a:solidFill>
                <a:latin typeface="Calibri"/>
              </a:rPr>
              <a:t>Ranked by 48-month revenue | All stores showing growth</a:t>
            </a:r>
          </a:p>
        </p:txBody>
      </p:sp>
      <p:sp>
        <p:nvSpPr>
          <p:cNvPr id="70" name="TC Header"/>
          <p:cNvSpPr txBox="1"/>
          <p:nvPr/>
        </p:nvSpPr>
        <p:spPr>
          <a:xfrm>
            <a:off x="5029200" y="914400"/>
            <a:ext cx="3657600" cy="274320"/>
          </a:xfrm>
          <a:prstGeom prst="rect">
            <a:avLst/>
          </a:prstGeom>
          <a:noFill/>
        </p:spPr>
        <p:txBody>
          <a:bodyPr lIns="0" tIns="0" rIns="0" bIns="0" anchor="b"/>
          <a:lstStyle/>
          <a:p>
            <a:r>
              <a:rPr lang="en-US" sz="1200" b="1" dirty="0">
                <a:solidFill>
                  <a:srgbClr val="2DD4BF"/>
                </a:solidFill>
                <a:latin typeface="Trebuchet MS"/>
              </a:rPr>
              <a:t>Territory Comparison</a:t>
            </a:r>
          </a:p>
        </p:txBody>
      </p:sp>
      <p:sp>
        <p:nvSpPr>
          <p:cNvPr id="71" name="CO Card BG"/>
          <p:cNvSpPr/>
          <p:nvPr/>
        </p:nvSpPr>
        <p:spPr>
          <a:xfrm>
            <a:off x="5029200" y="1234440"/>
            <a:ext cx="1737360" cy="1143000"/>
          </a:xfrm>
          <a:prstGeom prst="rect">
            <a:avLst/>
          </a:prstGeom>
          <a:solidFill>
            <a:srgbClr val="1E2D44"/>
          </a:solidFill>
          <a:ln>
            <a:noFill/>
          </a:ln>
        </p:spPr>
        <p:txBody>
          <a:bodyPr/>
          <a:lstStyle/>
          <a:p>
            <a:endParaRPr lang="en-US"/>
          </a:p>
        </p:txBody>
      </p:sp>
      <p:sp>
        <p:nvSpPr>
          <p:cNvPr id="72" name="CO Label"/>
          <p:cNvSpPr txBox="1"/>
          <p:nvPr/>
        </p:nvSpPr>
        <p:spPr>
          <a:xfrm>
            <a:off x="5120640" y="1280160"/>
            <a:ext cx="1554480" cy="228600"/>
          </a:xfrm>
          <a:prstGeom prst="rect">
            <a:avLst/>
          </a:prstGeom>
          <a:noFill/>
        </p:spPr>
        <p:txBody>
          <a:bodyPr lIns="0" tIns="0" rIns="0" bIns="0" anchor="ctr"/>
          <a:lstStyle/>
          <a:p>
            <a:r>
              <a:rPr lang="en-US" sz="1100" b="1" dirty="0">
                <a:solidFill>
                  <a:srgbClr val="2DD4BF"/>
                </a:solidFill>
                <a:latin typeface="Trebuchet MS"/>
              </a:rPr>
              <a:t>Colorado</a:t>
            </a:r>
          </a:p>
        </p:txBody>
      </p:sp>
      <p:sp>
        <p:nvSpPr>
          <p:cNvPr id="73" name="CO Rev"/>
          <p:cNvSpPr txBox="1"/>
          <p:nvPr/>
        </p:nvSpPr>
        <p:spPr>
          <a:xfrm>
            <a:off x="5120640" y="1508760"/>
            <a:ext cx="1554480" cy="365760"/>
          </a:xfrm>
          <a:prstGeom prst="rect">
            <a:avLst/>
          </a:prstGeom>
          <a:noFill/>
        </p:spPr>
        <p:txBody>
          <a:bodyPr lIns="0" tIns="0" rIns="0" bIns="0" anchor="t"/>
          <a:lstStyle/>
          <a:p>
            <a:r>
              <a:rPr lang="en-US" sz="2000" b="1" dirty="0">
                <a:solidFill>
                  <a:srgbClr val="FFFFFF"/>
                </a:solidFill>
                <a:latin typeface="Trebuchet MS"/>
              </a:rPr>
              <a:t>$6.4M</a:t>
            </a:r>
          </a:p>
          <a:p>
            <a:r>
              <a:rPr lang="en-US" sz="900" dirty="0">
                <a:solidFill>
                  <a:srgbClr val="8B9CB6"/>
                </a:solidFill>
                <a:latin typeface="Calibri"/>
              </a:rPr>
              <a:t>18 stores | Avg $359,212/store</a:t>
            </a:r>
          </a:p>
        </p:txBody>
      </p:sp>
      <p:sp>
        <p:nvSpPr>
          <p:cNvPr id="74" name="FL Card BG"/>
          <p:cNvSpPr/>
          <p:nvPr/>
        </p:nvSpPr>
        <p:spPr>
          <a:xfrm>
            <a:off x="6949440" y="1234440"/>
            <a:ext cx="1737360" cy="1143000"/>
          </a:xfrm>
          <a:prstGeom prst="rect">
            <a:avLst/>
          </a:prstGeom>
          <a:solidFill>
            <a:srgbClr val="1E2D44"/>
          </a:solidFill>
          <a:ln>
            <a:noFill/>
          </a:ln>
        </p:spPr>
        <p:txBody>
          <a:bodyPr/>
          <a:lstStyle/>
          <a:p>
            <a:endParaRPr lang="en-US"/>
          </a:p>
        </p:txBody>
      </p:sp>
      <p:sp>
        <p:nvSpPr>
          <p:cNvPr id="75" name="FL Label"/>
          <p:cNvSpPr txBox="1"/>
          <p:nvPr/>
        </p:nvSpPr>
        <p:spPr>
          <a:xfrm>
            <a:off x="7040880" y="1280160"/>
            <a:ext cx="1554480" cy="228600"/>
          </a:xfrm>
          <a:prstGeom prst="rect">
            <a:avLst/>
          </a:prstGeom>
          <a:noFill/>
        </p:spPr>
        <p:txBody>
          <a:bodyPr lIns="0" tIns="0" rIns="0" bIns="0" anchor="ctr"/>
          <a:lstStyle/>
          <a:p>
            <a:r>
              <a:rPr lang="en-US" sz="1100" b="1" dirty="0">
                <a:solidFill>
                  <a:srgbClr val="F6C343"/>
                </a:solidFill>
                <a:latin typeface="Trebuchet MS"/>
              </a:rPr>
              <a:t>Florida</a:t>
            </a:r>
          </a:p>
        </p:txBody>
      </p:sp>
      <p:sp>
        <p:nvSpPr>
          <p:cNvPr id="76" name="FL Rev"/>
          <p:cNvSpPr txBox="1"/>
          <p:nvPr/>
        </p:nvSpPr>
        <p:spPr>
          <a:xfrm>
            <a:off x="7040880" y="1508760"/>
            <a:ext cx="1554480" cy="365760"/>
          </a:xfrm>
          <a:prstGeom prst="rect">
            <a:avLst/>
          </a:prstGeom>
          <a:noFill/>
        </p:spPr>
        <p:txBody>
          <a:bodyPr lIns="0" tIns="0" rIns="0" bIns="0" anchor="t"/>
          <a:lstStyle/>
          <a:p>
            <a:r>
              <a:rPr lang="en-US" sz="2000" b="1" dirty="0">
                <a:solidFill>
                  <a:srgbClr val="FFFFFF"/>
                </a:solidFill>
                <a:latin typeface="Trebuchet MS"/>
              </a:rPr>
              <a:t>$3.9M</a:t>
            </a:r>
          </a:p>
          <a:p>
            <a:r>
              <a:rPr lang="en-US" sz="900" dirty="0">
                <a:solidFill>
                  <a:srgbClr val="8B9CB6"/>
                </a:solidFill>
                <a:latin typeface="Calibri"/>
              </a:rPr>
              <a:t>11 stores | Avg $</a:t>
            </a:r>
            <a:r>
              <a:rPr lang="en-US" sz="900" dirty="0">
                <a:solidFill>
                  <a:srgbClr val="8B9CB6"/>
                </a:solidFill>
              </a:rPr>
              <a:t>360,024</a:t>
            </a:r>
            <a:r>
              <a:rPr lang="en-US" sz="900" dirty="0">
                <a:solidFill>
                  <a:srgbClr val="8B9CB6"/>
                </a:solidFill>
                <a:latin typeface="Calibri"/>
              </a:rPr>
              <a:t>/store</a:t>
            </a:r>
          </a:p>
        </p:txBody>
      </p:sp>
      <p:sp>
        <p:nvSpPr>
          <p:cNvPr id="80" name="BI Header"/>
          <p:cNvSpPr txBox="1"/>
          <p:nvPr/>
        </p:nvSpPr>
        <p:spPr>
          <a:xfrm>
            <a:off x="548640" y="4023360"/>
            <a:ext cx="8046720" cy="274320"/>
          </a:xfrm>
          <a:prstGeom prst="rect">
            <a:avLst/>
          </a:prstGeom>
          <a:noFill/>
        </p:spPr>
        <p:txBody>
          <a:bodyPr lIns="0" tIns="0" rIns="0" bIns="0" anchor="b"/>
          <a:lstStyle/>
          <a:p>
            <a:r>
              <a:rPr lang="en-US" sz="1200" b="1" dirty="0">
                <a:solidFill>
                  <a:srgbClr val="F6C343"/>
                </a:solidFill>
                <a:latin typeface="Trebuchet MS"/>
              </a:rPr>
              <a:t>Business Insights</a:t>
            </a:r>
          </a:p>
        </p:txBody>
      </p:sp>
      <p:sp>
        <p:nvSpPr>
          <p:cNvPr id="81" name="BI BG"/>
          <p:cNvSpPr/>
          <p:nvPr/>
        </p:nvSpPr>
        <p:spPr>
          <a:xfrm>
            <a:off x="548640" y="4297680"/>
            <a:ext cx="8046720" cy="708660"/>
          </a:xfrm>
          <a:prstGeom prst="rect">
            <a:avLst/>
          </a:prstGeom>
          <a:solidFill>
            <a:srgbClr val="1E2D44"/>
          </a:solidFill>
          <a:ln>
            <a:noFill/>
          </a:ln>
        </p:spPr>
        <p:txBody>
          <a:bodyPr/>
          <a:lstStyle/>
          <a:p>
            <a:endParaRPr lang="en-US"/>
          </a:p>
        </p:txBody>
      </p:sp>
      <p:sp>
        <p:nvSpPr>
          <p:cNvPr id="82" name="BI Body"/>
          <p:cNvSpPr txBox="1"/>
          <p:nvPr/>
        </p:nvSpPr>
        <p:spPr>
          <a:xfrm>
            <a:off x="685800" y="4343400"/>
            <a:ext cx="7772400" cy="617220"/>
          </a:xfrm>
          <a:prstGeom prst="rect">
            <a:avLst/>
          </a:prstGeom>
          <a:noFill/>
        </p:spPr>
        <p:txBody>
          <a:bodyPr lIns="0" tIns="0" rIns="0" bIns="0" anchor="t"/>
          <a:lstStyle/>
          <a:p>
            <a:pPr marL="171450" indent="-171450">
              <a:spcAft>
                <a:spcPts val="400"/>
              </a:spcAft>
              <a:buFont typeface="Arial"/>
              <a:buChar char="•"/>
            </a:pPr>
            <a:r>
              <a:rPr lang="en-US" sz="1000" dirty="0">
                <a:solidFill>
                  <a:srgbClr val="E2E8F0"/>
                </a:solidFill>
                <a:latin typeface="Calibri"/>
              </a:rPr>
              <a:t>Denver generated the highest revenue among all stores.</a:t>
            </a:r>
          </a:p>
          <a:p>
            <a:pPr marL="171450" indent="-171450">
              <a:spcAft>
                <a:spcPts val="400"/>
              </a:spcAft>
              <a:buFont typeface="Arial"/>
              <a:buChar char="•"/>
            </a:pPr>
            <a:r>
              <a:rPr lang="en-US" sz="1000" dirty="0">
                <a:solidFill>
                  <a:srgbClr val="E2E8F0"/>
                </a:solidFill>
                <a:latin typeface="Calibri"/>
              </a:rPr>
              <a:t>Colorado contains 2 of the top 3 performing stores.</a:t>
            </a:r>
          </a:p>
          <a:p>
            <a:pPr marL="171450" indent="-171450">
              <a:spcAft>
                <a:spcPts val="400"/>
              </a:spcAft>
              <a:buFont typeface="Arial"/>
              <a:buChar char="•"/>
            </a:pPr>
            <a:r>
              <a:rPr lang="en-US" sz="1000" dirty="0">
                <a:solidFill>
                  <a:srgbClr val="E2E8F0"/>
                </a:solidFill>
                <a:latin typeface="Calibri"/>
              </a:rPr>
              <a:t>Florida stores remain competitive with strong transaction volume.</a:t>
            </a:r>
          </a:p>
        </p:txBody>
      </p:sp>
      <p:pic>
        <p:nvPicPr>
          <p:cNvPr id="63" name="Graphic 62" descr="Footprints with solid fill">
            <a:extLst>
              <a:ext uri="{FF2B5EF4-FFF2-40B4-BE49-F238E27FC236}">
                <a16:creationId xmlns:a16="http://schemas.microsoft.com/office/drawing/2014/main" id="{B8EBA334-9A94-7DC4-BF00-303B19F0E5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58" y="4464683"/>
            <a:ext cx="437903" cy="375345"/>
          </a:xfrm>
          <a:prstGeom prst="rect">
            <a:avLst/>
          </a:prstGeom>
        </p:spPr>
      </p:pic>
      <p:pic>
        <p:nvPicPr>
          <p:cNvPr id="64" name="Graphic 63" descr="Upward trend with solid fill">
            <a:extLst>
              <a:ext uri="{FF2B5EF4-FFF2-40B4-BE49-F238E27FC236}">
                <a16:creationId xmlns:a16="http://schemas.microsoft.com/office/drawing/2014/main" id="{3FD291E4-AE70-D8DF-37A0-A9977DE06B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3914601"/>
            <a:ext cx="437903" cy="375345"/>
          </a:xfrm>
          <a:prstGeom prst="rect">
            <a:avLst/>
          </a:prstGeom>
        </p:spPr>
      </p:pic>
      <p:pic>
        <p:nvPicPr>
          <p:cNvPr id="65" name="Graphic 64" descr="Trophy with solid fill">
            <a:extLst>
              <a:ext uri="{FF2B5EF4-FFF2-40B4-BE49-F238E27FC236}">
                <a16:creationId xmlns:a16="http://schemas.microsoft.com/office/drawing/2014/main" id="{37674B1A-8CEF-DC07-2E71-6BFAABFDA2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9" y="3275963"/>
            <a:ext cx="437903" cy="375345"/>
          </a:xfrm>
          <a:prstGeom prst="rect">
            <a:avLst/>
          </a:prstGeom>
        </p:spPr>
      </p:pic>
      <p:pic>
        <p:nvPicPr>
          <p:cNvPr id="66" name="Graphic 65" descr="Inventory with solid fill">
            <a:extLst>
              <a:ext uri="{FF2B5EF4-FFF2-40B4-BE49-F238E27FC236}">
                <a16:creationId xmlns:a16="http://schemas.microsoft.com/office/drawing/2014/main" id="{223115A1-34B6-2FF1-C6DD-9A6A23625E4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60" y="2636553"/>
            <a:ext cx="437903" cy="375345"/>
          </a:xfrm>
          <a:prstGeom prst="rect">
            <a:avLst/>
          </a:prstGeom>
        </p:spPr>
      </p:pic>
      <p:pic>
        <p:nvPicPr>
          <p:cNvPr id="67" name="Graphic 66" descr="Topography Map with solid fill">
            <a:extLst>
              <a:ext uri="{FF2B5EF4-FFF2-40B4-BE49-F238E27FC236}">
                <a16:creationId xmlns:a16="http://schemas.microsoft.com/office/drawing/2014/main" id="{693541D0-39AB-4F3E-A6A1-A60772482F7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57" y="1992919"/>
            <a:ext cx="437903" cy="375345"/>
          </a:xfrm>
          <a:prstGeom prst="rect">
            <a:avLst/>
          </a:prstGeom>
        </p:spPr>
      </p:pic>
      <p:pic>
        <p:nvPicPr>
          <p:cNvPr id="68" name="Graphic 67" descr="Soap with solid fill">
            <a:extLst>
              <a:ext uri="{FF2B5EF4-FFF2-40B4-BE49-F238E27FC236}">
                <a16:creationId xmlns:a16="http://schemas.microsoft.com/office/drawing/2014/main" id="{7B84CC4B-9240-2072-A4F5-8C647870E01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354281"/>
            <a:ext cx="437903" cy="375345"/>
          </a:xfrm>
          <a:prstGeom prst="rect">
            <a:avLst/>
          </a:prstGeom>
        </p:spPr>
      </p:pic>
      <p:pic>
        <p:nvPicPr>
          <p:cNvPr id="69" name="Graphic 68" descr="List with solid fill">
            <a:extLst>
              <a:ext uri="{FF2B5EF4-FFF2-40B4-BE49-F238E27FC236}">
                <a16:creationId xmlns:a16="http://schemas.microsoft.com/office/drawing/2014/main" id="{278E13D0-F1EA-3782-0DE7-A41CAA2D7BE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1E30"/>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Transaction &amp; Product Insights</a:t>
            </a:r>
            <a:endParaRPr lang="en-US" sz="3600" dirty="0"/>
          </a:p>
        </p:txBody>
      </p:sp>
      <p:sp>
        <p:nvSpPr>
          <p:cNvPr id="4" name="Shape 1"/>
          <p:cNvSpPr/>
          <p:nvPr/>
        </p:nvSpPr>
        <p:spPr>
          <a:xfrm>
            <a:off x="5760720" y="1188720"/>
            <a:ext cx="2926080" cy="3474720"/>
          </a:xfrm>
          <a:prstGeom prst="rect">
            <a:avLst/>
          </a:prstGeom>
          <a:solidFill>
            <a:srgbClr val="1E2D44"/>
          </a:solidFill>
          <a:ln/>
        </p:spPr>
        <p:txBody>
          <a:bodyPr/>
          <a:lstStyle/>
          <a:p>
            <a:endParaRPr lang="en-US"/>
          </a:p>
        </p:txBody>
      </p:sp>
      <p:sp>
        <p:nvSpPr>
          <p:cNvPr id="5" name="Text 2"/>
          <p:cNvSpPr/>
          <p:nvPr/>
        </p:nvSpPr>
        <p:spPr>
          <a:xfrm>
            <a:off x="5989320" y="1325880"/>
            <a:ext cx="246888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Key Financial Metrics</a:t>
            </a:r>
            <a:endParaRPr lang="en-US" sz="1400" dirty="0"/>
          </a:p>
        </p:txBody>
      </p:sp>
      <p:sp>
        <p:nvSpPr>
          <p:cNvPr id="6" name="Text 3"/>
          <p:cNvSpPr/>
          <p:nvPr/>
        </p:nvSpPr>
        <p:spPr>
          <a:xfrm>
            <a:off x="5989320" y="1828800"/>
            <a:ext cx="1645920" cy="22860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Revenue Generated</a:t>
            </a:r>
            <a:endParaRPr lang="en-US" sz="1000" dirty="0"/>
          </a:p>
        </p:txBody>
      </p:sp>
      <p:sp>
        <p:nvSpPr>
          <p:cNvPr id="7" name="Text 4"/>
          <p:cNvSpPr/>
          <p:nvPr/>
        </p:nvSpPr>
        <p:spPr>
          <a:xfrm>
            <a:off x="7337323" y="1828800"/>
            <a:ext cx="1120877" cy="228600"/>
          </a:xfrm>
          <a:prstGeom prst="rect">
            <a:avLst/>
          </a:prstGeom>
          <a:noFill/>
          <a:ln/>
        </p:spPr>
        <p:txBody>
          <a:bodyPr wrap="square" lIns="0" tIns="0" rIns="0" bIns="0" rtlCol="0" anchor="ctr"/>
          <a:lstStyle/>
          <a:p>
            <a:pPr algn="r"/>
            <a:r>
              <a:rPr lang="en-US" sz="1200" b="1" dirty="0">
                <a:solidFill>
                  <a:srgbClr val="F6C343"/>
                </a:solidFill>
                <a:latin typeface="Trebuchet MS" pitchFamily="34" charset="0"/>
                <a:ea typeface="Trebuchet MS" pitchFamily="34" charset="-122"/>
                <a:cs typeface="Trebuchet MS" pitchFamily="34" charset="-120"/>
              </a:rPr>
              <a:t>$45.2M</a:t>
            </a:r>
            <a:endParaRPr lang="en-US" sz="1200" dirty="0"/>
          </a:p>
        </p:txBody>
      </p:sp>
      <p:sp>
        <p:nvSpPr>
          <p:cNvPr id="8" name="Shape 5"/>
          <p:cNvSpPr/>
          <p:nvPr/>
        </p:nvSpPr>
        <p:spPr>
          <a:xfrm>
            <a:off x="5989320" y="2130552"/>
            <a:ext cx="2468880" cy="9144"/>
          </a:xfrm>
          <a:prstGeom prst="rect">
            <a:avLst/>
          </a:prstGeom>
          <a:solidFill>
            <a:srgbClr val="2D3748"/>
          </a:solidFill>
          <a:ln/>
        </p:spPr>
        <p:txBody>
          <a:bodyPr/>
          <a:lstStyle/>
          <a:p>
            <a:endParaRPr lang="en-US"/>
          </a:p>
        </p:txBody>
      </p:sp>
      <p:sp>
        <p:nvSpPr>
          <p:cNvPr id="9" name="Text 6"/>
          <p:cNvSpPr/>
          <p:nvPr/>
        </p:nvSpPr>
        <p:spPr>
          <a:xfrm>
            <a:off x="5989320" y="2267712"/>
            <a:ext cx="1645920" cy="22860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Top Category</a:t>
            </a:r>
            <a:endParaRPr lang="en-US" sz="1000" dirty="0"/>
          </a:p>
        </p:txBody>
      </p:sp>
      <p:sp>
        <p:nvSpPr>
          <p:cNvPr id="10" name="Text 7"/>
          <p:cNvSpPr/>
          <p:nvPr/>
        </p:nvSpPr>
        <p:spPr>
          <a:xfrm>
            <a:off x="7337323" y="2267712"/>
            <a:ext cx="1120877" cy="228600"/>
          </a:xfrm>
          <a:prstGeom prst="rect">
            <a:avLst/>
          </a:prstGeom>
          <a:noFill/>
          <a:ln/>
        </p:spPr>
        <p:txBody>
          <a:bodyPr wrap="square" lIns="0" tIns="0" rIns="0" bIns="0" rtlCol="0" anchor="ctr"/>
          <a:lstStyle/>
          <a:p>
            <a:pPr algn="r"/>
            <a:r>
              <a:rPr lang="en-US" sz="1200" b="1" dirty="0">
                <a:solidFill>
                  <a:srgbClr val="2DD4BF"/>
                </a:solidFill>
                <a:latin typeface="Trebuchet MS" pitchFamily="34" charset="0"/>
                <a:ea typeface="Trebuchet MS" pitchFamily="34" charset="-122"/>
                <a:cs typeface="Trebuchet MS" pitchFamily="34" charset="-120"/>
              </a:rPr>
              <a:t>Technology&amp; Accessories</a:t>
            </a:r>
          </a:p>
        </p:txBody>
      </p:sp>
      <p:sp>
        <p:nvSpPr>
          <p:cNvPr id="11" name="Shape 8"/>
          <p:cNvSpPr/>
          <p:nvPr/>
        </p:nvSpPr>
        <p:spPr>
          <a:xfrm>
            <a:off x="5989320" y="2569464"/>
            <a:ext cx="2468880" cy="9144"/>
          </a:xfrm>
          <a:prstGeom prst="rect">
            <a:avLst/>
          </a:prstGeom>
          <a:solidFill>
            <a:srgbClr val="2D3748"/>
          </a:solidFill>
          <a:ln/>
        </p:spPr>
        <p:txBody>
          <a:bodyPr/>
          <a:lstStyle/>
          <a:p>
            <a:endParaRPr lang="en-US"/>
          </a:p>
        </p:txBody>
      </p:sp>
      <p:sp>
        <p:nvSpPr>
          <p:cNvPr id="12" name="Text 9"/>
          <p:cNvSpPr/>
          <p:nvPr/>
        </p:nvSpPr>
        <p:spPr>
          <a:xfrm>
            <a:off x="5989320" y="2706624"/>
            <a:ext cx="1645920" cy="22860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Peak Sales Period</a:t>
            </a:r>
            <a:endParaRPr lang="en-US" sz="1000" dirty="0"/>
          </a:p>
        </p:txBody>
      </p:sp>
      <p:sp>
        <p:nvSpPr>
          <p:cNvPr id="13" name="Text 10"/>
          <p:cNvSpPr/>
          <p:nvPr/>
        </p:nvSpPr>
        <p:spPr>
          <a:xfrm>
            <a:off x="7226710" y="2706624"/>
            <a:ext cx="1231490" cy="228600"/>
          </a:xfrm>
          <a:prstGeom prst="rect">
            <a:avLst/>
          </a:prstGeom>
          <a:noFill/>
          <a:ln/>
        </p:spPr>
        <p:txBody>
          <a:bodyPr wrap="square" lIns="0" tIns="0" rIns="0" bIns="0" rtlCol="0" anchor="ctr"/>
          <a:lstStyle/>
          <a:p>
            <a:pPr marL="0" indent="0" algn="r">
              <a:buNone/>
            </a:pPr>
            <a:r>
              <a:rPr lang="en-US" sz="1200" b="1" dirty="0">
                <a:solidFill>
                  <a:srgbClr val="FFFFFF"/>
                </a:solidFill>
                <a:latin typeface="Trebuchet MS" pitchFamily="34" charset="0"/>
                <a:ea typeface="Trebuchet MS" pitchFamily="34" charset="-122"/>
                <a:cs typeface="Trebuchet MS" pitchFamily="34" charset="-120"/>
              </a:rPr>
              <a:t>Holiday Season</a:t>
            </a:r>
            <a:endParaRPr lang="en-US" sz="1200" dirty="0"/>
          </a:p>
        </p:txBody>
      </p:sp>
      <p:sp>
        <p:nvSpPr>
          <p:cNvPr id="14" name="Shape 11"/>
          <p:cNvSpPr/>
          <p:nvPr/>
        </p:nvSpPr>
        <p:spPr>
          <a:xfrm>
            <a:off x="5989320" y="3008376"/>
            <a:ext cx="2468880" cy="9144"/>
          </a:xfrm>
          <a:prstGeom prst="rect">
            <a:avLst/>
          </a:prstGeom>
          <a:solidFill>
            <a:srgbClr val="2D3748"/>
          </a:solidFill>
          <a:ln/>
        </p:spPr>
        <p:txBody>
          <a:bodyPr/>
          <a:lstStyle/>
          <a:p>
            <a:endParaRPr lang="en-US"/>
          </a:p>
        </p:txBody>
      </p:sp>
      <p:sp>
        <p:nvSpPr>
          <p:cNvPr id="15" name="Text 12"/>
          <p:cNvSpPr/>
          <p:nvPr/>
        </p:nvSpPr>
        <p:spPr>
          <a:xfrm>
            <a:off x="5989320" y="3145536"/>
            <a:ext cx="1645920" cy="22860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Lowest Category</a:t>
            </a:r>
            <a:endParaRPr lang="en-US" sz="1000" dirty="0"/>
          </a:p>
        </p:txBody>
      </p:sp>
      <p:sp>
        <p:nvSpPr>
          <p:cNvPr id="16" name="Text 13"/>
          <p:cNvSpPr/>
          <p:nvPr/>
        </p:nvSpPr>
        <p:spPr>
          <a:xfrm>
            <a:off x="7278329" y="3145536"/>
            <a:ext cx="1179871" cy="228600"/>
          </a:xfrm>
          <a:prstGeom prst="rect">
            <a:avLst/>
          </a:prstGeom>
          <a:noFill/>
          <a:ln/>
        </p:spPr>
        <p:txBody>
          <a:bodyPr wrap="square" lIns="0" tIns="0" rIns="0" bIns="0" rtlCol="0" anchor="ctr"/>
          <a:lstStyle/>
          <a:p>
            <a:pPr marL="0" indent="0" algn="r">
              <a:buNone/>
            </a:pPr>
            <a:r>
              <a:rPr lang="en-US" sz="1200" b="1" dirty="0">
                <a:solidFill>
                  <a:srgbClr val="2DD4BF"/>
                </a:solidFill>
                <a:latin typeface="Trebuchet MS" pitchFamily="34" charset="0"/>
                <a:ea typeface="Trebuchet MS" pitchFamily="34" charset="-122"/>
                <a:cs typeface="Trebuchet MS" pitchFamily="34" charset="-120"/>
              </a:rPr>
              <a:t>Stationery &amp; Supplies</a:t>
            </a:r>
            <a:endParaRPr lang="en-US" sz="1200" dirty="0"/>
          </a:p>
        </p:txBody>
      </p:sp>
      <p:sp>
        <p:nvSpPr>
          <p:cNvPr id="17" name="Shape 14"/>
          <p:cNvSpPr/>
          <p:nvPr/>
        </p:nvSpPr>
        <p:spPr>
          <a:xfrm>
            <a:off x="5989320" y="3447288"/>
            <a:ext cx="2468880" cy="9144"/>
          </a:xfrm>
          <a:prstGeom prst="rect">
            <a:avLst/>
          </a:prstGeom>
          <a:solidFill>
            <a:srgbClr val="2D3748"/>
          </a:solidFill>
          <a:ln/>
        </p:spPr>
        <p:txBody>
          <a:bodyPr/>
          <a:lstStyle/>
          <a:p>
            <a:endParaRPr lang="en-US"/>
          </a:p>
        </p:txBody>
      </p:sp>
      <p:sp>
        <p:nvSpPr>
          <p:cNvPr id="18" name="Text 15"/>
          <p:cNvSpPr/>
          <p:nvPr/>
        </p:nvSpPr>
        <p:spPr>
          <a:xfrm>
            <a:off x="5989320" y="3584448"/>
            <a:ext cx="1645920" cy="22860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Strongest Territory</a:t>
            </a:r>
            <a:endParaRPr lang="en-US" sz="1000" dirty="0"/>
          </a:p>
        </p:txBody>
      </p:sp>
      <p:sp>
        <p:nvSpPr>
          <p:cNvPr id="19" name="Text 16"/>
          <p:cNvSpPr/>
          <p:nvPr/>
        </p:nvSpPr>
        <p:spPr>
          <a:xfrm>
            <a:off x="7635240" y="3584448"/>
            <a:ext cx="822960" cy="228600"/>
          </a:xfrm>
          <a:prstGeom prst="rect">
            <a:avLst/>
          </a:prstGeom>
          <a:noFill/>
          <a:ln/>
        </p:spPr>
        <p:txBody>
          <a:bodyPr wrap="square" lIns="0" tIns="0" rIns="0" bIns="0" rtlCol="0" anchor="ctr"/>
          <a:lstStyle/>
          <a:p>
            <a:pPr marL="0" indent="0" algn="r">
              <a:buNone/>
            </a:pPr>
            <a:r>
              <a:rPr lang="en-US" sz="1200" b="1" dirty="0">
                <a:solidFill>
                  <a:srgbClr val="F6C343"/>
                </a:solidFill>
                <a:latin typeface="Trebuchet MS" pitchFamily="34" charset="0"/>
                <a:ea typeface="Trebuchet MS" pitchFamily="34" charset="-122"/>
                <a:cs typeface="Trebuchet MS" pitchFamily="34" charset="-120"/>
              </a:rPr>
              <a:t>Colorado</a:t>
            </a:r>
            <a:endParaRPr lang="en-US" sz="1200" dirty="0"/>
          </a:p>
        </p:txBody>
      </p:sp>
      <p:sp>
        <p:nvSpPr>
          <p:cNvPr id="20" name="Shape 17"/>
          <p:cNvSpPr/>
          <p:nvPr/>
        </p:nvSpPr>
        <p:spPr>
          <a:xfrm>
            <a:off x="5989320" y="3886200"/>
            <a:ext cx="2468880" cy="9144"/>
          </a:xfrm>
          <a:prstGeom prst="rect">
            <a:avLst/>
          </a:prstGeom>
          <a:solidFill>
            <a:srgbClr val="2D3748"/>
          </a:solidFill>
          <a:ln/>
        </p:spPr>
        <p:txBody>
          <a:bodyPr/>
          <a:lstStyle/>
          <a:p>
            <a:endParaRPr lang="en-US"/>
          </a:p>
        </p:txBody>
      </p:sp>
      <p:sp>
        <p:nvSpPr>
          <p:cNvPr id="21" name="Text 18"/>
          <p:cNvSpPr/>
          <p:nvPr/>
        </p:nvSpPr>
        <p:spPr>
          <a:xfrm>
            <a:off x="5989320" y="4023360"/>
            <a:ext cx="1645920" cy="22860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Key Demand Driver</a:t>
            </a:r>
            <a:endParaRPr lang="en-US" sz="1000" dirty="0"/>
          </a:p>
        </p:txBody>
      </p:sp>
      <p:sp>
        <p:nvSpPr>
          <p:cNvPr id="22" name="Text 19"/>
          <p:cNvSpPr/>
          <p:nvPr/>
        </p:nvSpPr>
        <p:spPr>
          <a:xfrm>
            <a:off x="7337323" y="4023360"/>
            <a:ext cx="1120877" cy="228600"/>
          </a:xfrm>
          <a:prstGeom prst="rect">
            <a:avLst/>
          </a:prstGeom>
          <a:noFill/>
          <a:ln/>
        </p:spPr>
        <p:txBody>
          <a:bodyPr wrap="square" lIns="0" tIns="0" rIns="0" bIns="0" rtlCol="0" anchor="ctr"/>
          <a:lstStyle/>
          <a:p>
            <a:pPr marL="0" indent="0" algn="r">
              <a:buNone/>
            </a:pPr>
            <a:r>
              <a:rPr lang="en-US" sz="1200" b="1" dirty="0">
                <a:solidFill>
                  <a:srgbClr val="2DD4BF"/>
                </a:solidFill>
                <a:latin typeface="Trebuchet MS" pitchFamily="34" charset="0"/>
                <a:ea typeface="Trebuchet MS" pitchFamily="34" charset="-122"/>
                <a:cs typeface="Trebuchet MS" pitchFamily="34" charset="-120"/>
              </a:rPr>
              <a:t>Technology Purchases</a:t>
            </a:r>
            <a:endParaRPr lang="en-US" sz="1200" dirty="0"/>
          </a:p>
        </p:txBody>
      </p:sp>
      <p:sp>
        <p:nvSpPr>
          <p:cNvPr id="25" name="Rectangle: Rounded Corners 24">
            <a:extLst>
              <a:ext uri="{FF2B5EF4-FFF2-40B4-BE49-F238E27FC236}">
                <a16:creationId xmlns:a16="http://schemas.microsoft.com/office/drawing/2014/main" id="{088DA5BE-73D7-2A57-0A95-FAB16F15C8ED}"/>
              </a:ext>
            </a:extLst>
          </p:cNvPr>
          <p:cNvSpPr/>
          <p:nvPr/>
        </p:nvSpPr>
        <p:spPr>
          <a:xfrm>
            <a:off x="457200" y="1197864"/>
            <a:ext cx="5029200" cy="3474720"/>
          </a:xfrm>
          <a:prstGeom prst="roundRect">
            <a:avLst>
              <a:gd name="adj" fmla="val 2660"/>
            </a:avLst>
          </a:prstGeom>
          <a:solidFill>
            <a:srgbClr val="0B1730"/>
          </a:solidFill>
          <a:ln>
            <a:solidFill>
              <a:srgbClr val="0B17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12F2D6D5-986F-1A08-DDFD-920B21149065}"/>
              </a:ext>
            </a:extLst>
          </p:cNvPr>
          <p:cNvPicPr>
            <a:picLocks noChangeAspect="1"/>
          </p:cNvPicPr>
          <p:nvPr/>
        </p:nvPicPr>
        <p:blipFill>
          <a:blip r:embed="rId3"/>
          <a:stretch>
            <a:fillRect/>
          </a:stretch>
        </p:blipFill>
        <p:spPr>
          <a:xfrm>
            <a:off x="467003" y="1325880"/>
            <a:ext cx="5009594" cy="3253494"/>
          </a:xfrm>
          <a:prstGeom prst="rect">
            <a:avLst/>
          </a:prstGeom>
        </p:spPr>
      </p:pic>
      <p:sp>
        <p:nvSpPr>
          <p:cNvPr id="28" name="TextBox 27">
            <a:extLst>
              <a:ext uri="{FF2B5EF4-FFF2-40B4-BE49-F238E27FC236}">
                <a16:creationId xmlns:a16="http://schemas.microsoft.com/office/drawing/2014/main" id="{2E029466-7707-7815-D5EF-674695BAC737}"/>
              </a:ext>
            </a:extLst>
          </p:cNvPr>
          <p:cNvSpPr txBox="1"/>
          <p:nvPr/>
        </p:nvSpPr>
        <p:spPr>
          <a:xfrm>
            <a:off x="3812458" y="1741918"/>
            <a:ext cx="1519084" cy="276999"/>
          </a:xfrm>
          <a:prstGeom prst="rect">
            <a:avLst/>
          </a:prstGeom>
          <a:noFill/>
        </p:spPr>
        <p:txBody>
          <a:bodyPr wrap="square">
            <a:spAutoFit/>
          </a:bodyPr>
          <a:lstStyle/>
          <a:p>
            <a:pPr algn="ctr"/>
            <a:r>
              <a:rPr lang="en-US" sz="1200" b="1" dirty="0">
                <a:solidFill>
                  <a:schemeClr val="bg1"/>
                </a:solidFill>
                <a:latin typeface="Trebuchet MS" pitchFamily="34" charset="0"/>
              </a:rPr>
              <a:t>$31,891,406.58</a:t>
            </a:r>
          </a:p>
        </p:txBody>
      </p:sp>
      <p:sp>
        <p:nvSpPr>
          <p:cNvPr id="34" name="TextBox 33">
            <a:extLst>
              <a:ext uri="{FF2B5EF4-FFF2-40B4-BE49-F238E27FC236}">
                <a16:creationId xmlns:a16="http://schemas.microsoft.com/office/drawing/2014/main" id="{714FA328-CA8B-3EE0-E3D6-17AE6DB4ACF5}"/>
              </a:ext>
            </a:extLst>
          </p:cNvPr>
          <p:cNvSpPr txBox="1"/>
          <p:nvPr/>
        </p:nvSpPr>
        <p:spPr>
          <a:xfrm>
            <a:off x="3812458" y="2197372"/>
            <a:ext cx="1519084" cy="276999"/>
          </a:xfrm>
          <a:prstGeom prst="rect">
            <a:avLst/>
          </a:prstGeom>
          <a:noFill/>
        </p:spPr>
        <p:txBody>
          <a:bodyPr wrap="square">
            <a:spAutoFit/>
          </a:bodyPr>
          <a:lstStyle/>
          <a:p>
            <a:pPr algn="ctr"/>
            <a:r>
              <a:rPr lang="en-US" sz="1200" b="1" dirty="0">
                <a:solidFill>
                  <a:srgbClr val="2DD4BF"/>
                </a:solidFill>
                <a:latin typeface="Trebuchet MS" pitchFamily="34" charset="0"/>
              </a:rPr>
              <a:t>$7,961357.21</a:t>
            </a:r>
          </a:p>
        </p:txBody>
      </p:sp>
      <p:sp>
        <p:nvSpPr>
          <p:cNvPr id="35" name="TextBox 34">
            <a:extLst>
              <a:ext uri="{FF2B5EF4-FFF2-40B4-BE49-F238E27FC236}">
                <a16:creationId xmlns:a16="http://schemas.microsoft.com/office/drawing/2014/main" id="{3620FA8F-4F09-FFA2-67EC-A984D61957AF}"/>
              </a:ext>
            </a:extLst>
          </p:cNvPr>
          <p:cNvSpPr txBox="1"/>
          <p:nvPr/>
        </p:nvSpPr>
        <p:spPr>
          <a:xfrm>
            <a:off x="3812458" y="2602387"/>
            <a:ext cx="1519084" cy="276999"/>
          </a:xfrm>
          <a:prstGeom prst="rect">
            <a:avLst/>
          </a:prstGeom>
          <a:noFill/>
        </p:spPr>
        <p:txBody>
          <a:bodyPr wrap="square">
            <a:spAutoFit/>
          </a:bodyPr>
          <a:lstStyle/>
          <a:p>
            <a:pPr algn="ctr"/>
            <a:r>
              <a:rPr lang="en-US" sz="1200" b="1" dirty="0">
                <a:solidFill>
                  <a:srgbClr val="F6C343"/>
                </a:solidFill>
                <a:latin typeface="Trebuchet MS" pitchFamily="34" charset="0"/>
              </a:rPr>
              <a:t>$2,043382.60</a:t>
            </a:r>
          </a:p>
        </p:txBody>
      </p:sp>
      <p:sp>
        <p:nvSpPr>
          <p:cNvPr id="36" name="TextBox 35">
            <a:extLst>
              <a:ext uri="{FF2B5EF4-FFF2-40B4-BE49-F238E27FC236}">
                <a16:creationId xmlns:a16="http://schemas.microsoft.com/office/drawing/2014/main" id="{972675D3-7A45-9569-6F45-57DEE76EEF6D}"/>
              </a:ext>
            </a:extLst>
          </p:cNvPr>
          <p:cNvSpPr txBox="1"/>
          <p:nvPr/>
        </p:nvSpPr>
        <p:spPr>
          <a:xfrm>
            <a:off x="3812458" y="3007402"/>
            <a:ext cx="1519084" cy="276999"/>
          </a:xfrm>
          <a:prstGeom prst="rect">
            <a:avLst/>
          </a:prstGeom>
          <a:noFill/>
        </p:spPr>
        <p:txBody>
          <a:bodyPr wrap="square">
            <a:spAutoFit/>
          </a:bodyPr>
          <a:lstStyle/>
          <a:p>
            <a:pPr algn="ctr"/>
            <a:r>
              <a:rPr lang="en-US" sz="1200" b="1" dirty="0">
                <a:solidFill>
                  <a:srgbClr val="FFFFFF"/>
                </a:solidFill>
                <a:latin typeface="Trebuchet MS" pitchFamily="34" charset="0"/>
              </a:rPr>
              <a:t>$1,938,358.84</a:t>
            </a:r>
          </a:p>
        </p:txBody>
      </p:sp>
      <p:sp>
        <p:nvSpPr>
          <p:cNvPr id="37" name="TextBox 36">
            <a:extLst>
              <a:ext uri="{FF2B5EF4-FFF2-40B4-BE49-F238E27FC236}">
                <a16:creationId xmlns:a16="http://schemas.microsoft.com/office/drawing/2014/main" id="{D8F379BE-ACE1-B8A5-308B-07D138159C7C}"/>
              </a:ext>
            </a:extLst>
          </p:cNvPr>
          <p:cNvSpPr txBox="1"/>
          <p:nvPr/>
        </p:nvSpPr>
        <p:spPr>
          <a:xfrm>
            <a:off x="3812458" y="3412417"/>
            <a:ext cx="1519084" cy="276999"/>
          </a:xfrm>
          <a:prstGeom prst="rect">
            <a:avLst/>
          </a:prstGeom>
          <a:noFill/>
        </p:spPr>
        <p:txBody>
          <a:bodyPr wrap="square">
            <a:spAutoFit/>
          </a:bodyPr>
          <a:lstStyle/>
          <a:p>
            <a:pPr algn="ctr"/>
            <a:r>
              <a:rPr lang="en-US" sz="1200" b="1" dirty="0">
                <a:solidFill>
                  <a:srgbClr val="2DD4BF"/>
                </a:solidFill>
                <a:latin typeface="Trebuchet MS" pitchFamily="34" charset="0"/>
              </a:rPr>
              <a:t>$1,070,718.51</a:t>
            </a:r>
          </a:p>
        </p:txBody>
      </p:sp>
      <p:sp>
        <p:nvSpPr>
          <p:cNvPr id="38" name="TextBox 37">
            <a:extLst>
              <a:ext uri="{FF2B5EF4-FFF2-40B4-BE49-F238E27FC236}">
                <a16:creationId xmlns:a16="http://schemas.microsoft.com/office/drawing/2014/main" id="{537E0893-2B27-4589-3815-B405A3B86AB2}"/>
              </a:ext>
            </a:extLst>
          </p:cNvPr>
          <p:cNvSpPr txBox="1"/>
          <p:nvPr/>
        </p:nvSpPr>
        <p:spPr>
          <a:xfrm>
            <a:off x="3812458" y="3813048"/>
            <a:ext cx="1519084" cy="276999"/>
          </a:xfrm>
          <a:prstGeom prst="rect">
            <a:avLst/>
          </a:prstGeom>
          <a:noFill/>
        </p:spPr>
        <p:txBody>
          <a:bodyPr wrap="square">
            <a:spAutoFit/>
          </a:bodyPr>
          <a:lstStyle/>
          <a:p>
            <a:pPr algn="ctr"/>
            <a:r>
              <a:rPr lang="en-US" sz="1200" b="1" dirty="0">
                <a:solidFill>
                  <a:srgbClr val="F6C343"/>
                </a:solidFill>
                <a:latin typeface="Trebuchet MS" pitchFamily="34" charset="0"/>
              </a:rPr>
              <a:t>$702,088.52</a:t>
            </a:r>
          </a:p>
        </p:txBody>
      </p:sp>
      <p:pic>
        <p:nvPicPr>
          <p:cNvPr id="47" name="Graphic 46" descr="Footprints with solid fill">
            <a:extLst>
              <a:ext uri="{FF2B5EF4-FFF2-40B4-BE49-F238E27FC236}">
                <a16:creationId xmlns:a16="http://schemas.microsoft.com/office/drawing/2014/main" id="{3ECABF8E-5CC8-A473-F769-962054F0FE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4464683"/>
            <a:ext cx="437903" cy="375345"/>
          </a:xfrm>
          <a:prstGeom prst="rect">
            <a:avLst/>
          </a:prstGeom>
        </p:spPr>
      </p:pic>
      <p:pic>
        <p:nvPicPr>
          <p:cNvPr id="48" name="Graphic 47" descr="Upward trend with solid fill">
            <a:extLst>
              <a:ext uri="{FF2B5EF4-FFF2-40B4-BE49-F238E27FC236}">
                <a16:creationId xmlns:a16="http://schemas.microsoft.com/office/drawing/2014/main" id="{9EA75D80-23B1-EA04-7E4D-D7BC3DE2BB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8" y="3914601"/>
            <a:ext cx="437903" cy="375345"/>
          </a:xfrm>
          <a:prstGeom prst="rect">
            <a:avLst/>
          </a:prstGeom>
        </p:spPr>
      </p:pic>
      <p:pic>
        <p:nvPicPr>
          <p:cNvPr id="49" name="Graphic 48" descr="Trophy with solid fill">
            <a:extLst>
              <a:ext uri="{FF2B5EF4-FFF2-40B4-BE49-F238E27FC236}">
                <a16:creationId xmlns:a16="http://schemas.microsoft.com/office/drawing/2014/main" id="{751749B3-DFE0-7E55-971E-953302C01DA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59" y="3275963"/>
            <a:ext cx="437903" cy="375345"/>
          </a:xfrm>
          <a:prstGeom prst="rect">
            <a:avLst/>
          </a:prstGeom>
        </p:spPr>
      </p:pic>
      <p:pic>
        <p:nvPicPr>
          <p:cNvPr id="50" name="Graphic 49" descr="Inventory with solid fill">
            <a:extLst>
              <a:ext uri="{FF2B5EF4-FFF2-40B4-BE49-F238E27FC236}">
                <a16:creationId xmlns:a16="http://schemas.microsoft.com/office/drawing/2014/main" id="{52E7A206-2380-2154-0D1E-A511865EB87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60" y="2636553"/>
            <a:ext cx="437903" cy="375345"/>
          </a:xfrm>
          <a:prstGeom prst="rect">
            <a:avLst/>
          </a:prstGeom>
        </p:spPr>
      </p:pic>
      <p:pic>
        <p:nvPicPr>
          <p:cNvPr id="51" name="Graphic 50" descr="Topography Map with solid fill">
            <a:extLst>
              <a:ext uri="{FF2B5EF4-FFF2-40B4-BE49-F238E27FC236}">
                <a16:creationId xmlns:a16="http://schemas.microsoft.com/office/drawing/2014/main" id="{547EDCA5-0E93-010F-375C-D6B4D799330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992919"/>
            <a:ext cx="437903" cy="375345"/>
          </a:xfrm>
          <a:prstGeom prst="rect">
            <a:avLst/>
          </a:prstGeom>
        </p:spPr>
      </p:pic>
      <p:pic>
        <p:nvPicPr>
          <p:cNvPr id="52" name="Graphic 51" descr="Soap with solid fill">
            <a:extLst>
              <a:ext uri="{FF2B5EF4-FFF2-40B4-BE49-F238E27FC236}">
                <a16:creationId xmlns:a16="http://schemas.microsoft.com/office/drawing/2014/main" id="{89C22CEF-40C8-F403-47CA-6703D7188FF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7" y="1354281"/>
            <a:ext cx="437903" cy="375345"/>
          </a:xfrm>
          <a:prstGeom prst="rect">
            <a:avLst/>
          </a:prstGeom>
        </p:spPr>
      </p:pic>
      <p:pic>
        <p:nvPicPr>
          <p:cNvPr id="53" name="Graphic 52" descr="List with solid fill">
            <a:extLst>
              <a:ext uri="{FF2B5EF4-FFF2-40B4-BE49-F238E27FC236}">
                <a16:creationId xmlns:a16="http://schemas.microsoft.com/office/drawing/2014/main" id="{1198F4B6-9249-CEF1-0C62-4EBB244AF20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E30"/>
        </a:solidFill>
        <a:effectLst/>
      </p:bgPr>
    </p:bg>
    <p:spTree>
      <p:nvGrpSpPr>
        <p:cNvPr id="1" name=""/>
        <p:cNvGrpSpPr/>
        <p:nvPr/>
      </p:nvGrpSpPr>
      <p:grpSpPr>
        <a:xfrm>
          <a:off x="0" y="0"/>
          <a:ext cx="0" cy="0"/>
          <a:chOff x="0" y="0"/>
          <a:chExt cx="0" cy="0"/>
        </a:xfrm>
      </p:grpSpPr>
      <p:sp>
        <p:nvSpPr>
          <p:cNvPr id="2" name="Title"/>
          <p:cNvSpPr txBox="1"/>
          <p:nvPr/>
        </p:nvSpPr>
        <p:spPr>
          <a:xfrm>
            <a:off x="548640" y="182880"/>
            <a:ext cx="6400800" cy="411480"/>
          </a:xfrm>
          <a:prstGeom prst="rect">
            <a:avLst/>
          </a:prstGeom>
          <a:noFill/>
        </p:spPr>
        <p:txBody>
          <a:bodyPr lIns="0" tIns="0" rIns="0" bIns="0" anchor="ctr"/>
          <a:lstStyle/>
          <a:p>
            <a:r>
              <a:rPr lang="en-US" sz="2800" b="1" dirty="0">
                <a:solidFill>
                  <a:srgbClr val="FFFFFF"/>
                </a:solidFill>
                <a:latin typeface="Trebuchet MS"/>
              </a:rPr>
              <a:t>Customers Insight</a:t>
            </a:r>
          </a:p>
        </p:txBody>
      </p:sp>
      <p:sp>
        <p:nvSpPr>
          <p:cNvPr id="3" name="Subtitle"/>
          <p:cNvSpPr txBox="1"/>
          <p:nvPr/>
        </p:nvSpPr>
        <p:spPr>
          <a:xfrm>
            <a:off x="548640" y="594360"/>
            <a:ext cx="7772400" cy="228600"/>
          </a:xfrm>
          <a:prstGeom prst="rect">
            <a:avLst/>
          </a:prstGeom>
          <a:noFill/>
        </p:spPr>
        <p:txBody>
          <a:bodyPr lIns="0" tIns="0" rIns="0" bIns="0" anchor="ctr"/>
          <a:lstStyle/>
          <a:p>
            <a:r>
              <a:rPr lang="en-US" sz="1200">
                <a:solidFill>
                  <a:srgbClr val="8B9CB6"/>
                </a:solidFill>
                <a:latin typeface="Calibri"/>
              </a:rPr>
              <a:t>Spending behavior, rewards program participation, and high-value customer insights</a:t>
            </a:r>
          </a:p>
        </p:txBody>
      </p:sp>
      <p:sp>
        <p:nvSpPr>
          <p:cNvPr id="10" name="KPI1 BG"/>
          <p:cNvSpPr/>
          <p:nvPr/>
        </p:nvSpPr>
        <p:spPr>
          <a:xfrm>
            <a:off x="548640" y="914400"/>
            <a:ext cx="2560320" cy="731520"/>
          </a:xfrm>
          <a:prstGeom prst="rect">
            <a:avLst/>
          </a:prstGeom>
          <a:solidFill>
            <a:srgbClr val="1E2D44"/>
          </a:solidFill>
          <a:ln>
            <a:noFill/>
          </a:ln>
        </p:spPr>
        <p:txBody>
          <a:bodyPr/>
          <a:lstStyle/>
          <a:p>
            <a:endParaRPr lang="en-US"/>
          </a:p>
        </p:txBody>
      </p:sp>
      <p:sp>
        <p:nvSpPr>
          <p:cNvPr id="11" name="KPI1 Value"/>
          <p:cNvSpPr txBox="1"/>
          <p:nvPr/>
        </p:nvSpPr>
        <p:spPr>
          <a:xfrm>
            <a:off x="548640" y="960120"/>
            <a:ext cx="2560320" cy="365760"/>
          </a:xfrm>
          <a:prstGeom prst="rect">
            <a:avLst/>
          </a:prstGeom>
          <a:noFill/>
        </p:spPr>
        <p:txBody>
          <a:bodyPr lIns="137160" tIns="45720" rIns="91440" bIns="0" anchor="b"/>
          <a:lstStyle/>
          <a:p>
            <a:r>
              <a:rPr lang="en-US" sz="2400" b="1">
                <a:solidFill>
                  <a:srgbClr val="FFFFFF"/>
                </a:solidFill>
                <a:latin typeface="Trebuchet MS"/>
              </a:rPr>
              <a:t>184,320</a:t>
            </a:r>
          </a:p>
        </p:txBody>
      </p:sp>
      <p:sp>
        <p:nvSpPr>
          <p:cNvPr id="12" name="KPI1 Label"/>
          <p:cNvSpPr txBox="1"/>
          <p:nvPr/>
        </p:nvSpPr>
        <p:spPr>
          <a:xfrm>
            <a:off x="548640" y="1371600"/>
            <a:ext cx="2560320" cy="228600"/>
          </a:xfrm>
          <a:prstGeom prst="rect">
            <a:avLst/>
          </a:prstGeom>
          <a:noFill/>
        </p:spPr>
        <p:txBody>
          <a:bodyPr lIns="137160" tIns="0" rIns="91440" bIns="45720" anchor="t"/>
          <a:lstStyle/>
          <a:p>
            <a:r>
              <a:rPr lang="en-US" sz="1000">
                <a:solidFill>
                  <a:srgbClr val="8B9CB6"/>
                </a:solidFill>
                <a:latin typeface="Calibri"/>
              </a:rPr>
              <a:t>Total Customers</a:t>
            </a:r>
          </a:p>
        </p:txBody>
      </p:sp>
      <p:sp>
        <p:nvSpPr>
          <p:cNvPr id="13" name="KPI2 BG"/>
          <p:cNvSpPr/>
          <p:nvPr/>
        </p:nvSpPr>
        <p:spPr>
          <a:xfrm>
            <a:off x="3291840" y="914400"/>
            <a:ext cx="2560320" cy="731520"/>
          </a:xfrm>
          <a:prstGeom prst="rect">
            <a:avLst/>
          </a:prstGeom>
          <a:solidFill>
            <a:srgbClr val="1E2D44"/>
          </a:solidFill>
          <a:ln>
            <a:noFill/>
          </a:ln>
        </p:spPr>
        <p:txBody>
          <a:bodyPr/>
          <a:lstStyle/>
          <a:p>
            <a:endParaRPr lang="en-US"/>
          </a:p>
        </p:txBody>
      </p:sp>
      <p:sp>
        <p:nvSpPr>
          <p:cNvPr id="14" name="KPI2 Value"/>
          <p:cNvSpPr txBox="1"/>
          <p:nvPr/>
        </p:nvSpPr>
        <p:spPr>
          <a:xfrm>
            <a:off x="3291840" y="960120"/>
            <a:ext cx="2560320" cy="365760"/>
          </a:xfrm>
          <a:prstGeom prst="rect">
            <a:avLst/>
          </a:prstGeom>
          <a:noFill/>
        </p:spPr>
        <p:txBody>
          <a:bodyPr lIns="137160" tIns="45720" rIns="91440" bIns="0" anchor="b"/>
          <a:lstStyle/>
          <a:p>
            <a:r>
              <a:rPr lang="en-US" sz="2400" b="1" dirty="0">
                <a:solidFill>
                  <a:srgbClr val="2DD4BF"/>
                </a:solidFill>
                <a:latin typeface="Trebuchet MS"/>
              </a:rPr>
              <a:t>10.4%</a:t>
            </a:r>
          </a:p>
        </p:txBody>
      </p:sp>
      <p:sp>
        <p:nvSpPr>
          <p:cNvPr id="15" name="KPI2 Label"/>
          <p:cNvSpPr txBox="1"/>
          <p:nvPr/>
        </p:nvSpPr>
        <p:spPr>
          <a:xfrm>
            <a:off x="3291840" y="1371600"/>
            <a:ext cx="2560320" cy="228600"/>
          </a:xfrm>
          <a:prstGeom prst="rect">
            <a:avLst/>
          </a:prstGeom>
          <a:noFill/>
        </p:spPr>
        <p:txBody>
          <a:bodyPr lIns="137160" tIns="0" rIns="91440" bIns="45720" anchor="t"/>
          <a:lstStyle/>
          <a:p>
            <a:r>
              <a:rPr lang="en-US" sz="1000" dirty="0">
                <a:solidFill>
                  <a:srgbClr val="8B9CB6"/>
                </a:solidFill>
                <a:latin typeface="Calibri"/>
              </a:rPr>
              <a:t>Rewards Participation </a:t>
            </a:r>
          </a:p>
        </p:txBody>
      </p:sp>
      <p:sp>
        <p:nvSpPr>
          <p:cNvPr id="16" name="KPI3 BG"/>
          <p:cNvSpPr/>
          <p:nvPr/>
        </p:nvSpPr>
        <p:spPr>
          <a:xfrm>
            <a:off x="6035040" y="914400"/>
            <a:ext cx="2560320" cy="731520"/>
          </a:xfrm>
          <a:prstGeom prst="rect">
            <a:avLst/>
          </a:prstGeom>
          <a:solidFill>
            <a:srgbClr val="1E2D44"/>
          </a:solidFill>
          <a:ln>
            <a:noFill/>
          </a:ln>
        </p:spPr>
        <p:txBody>
          <a:bodyPr/>
          <a:lstStyle/>
          <a:p>
            <a:endParaRPr lang="en-US"/>
          </a:p>
        </p:txBody>
      </p:sp>
      <p:sp>
        <p:nvSpPr>
          <p:cNvPr id="17" name="KPI3 Value"/>
          <p:cNvSpPr txBox="1"/>
          <p:nvPr/>
        </p:nvSpPr>
        <p:spPr>
          <a:xfrm>
            <a:off x="6035040" y="960120"/>
            <a:ext cx="2560320" cy="365760"/>
          </a:xfrm>
          <a:prstGeom prst="rect">
            <a:avLst/>
          </a:prstGeom>
          <a:noFill/>
        </p:spPr>
        <p:txBody>
          <a:bodyPr lIns="137160" tIns="45720" rIns="91440" bIns="0" anchor="b"/>
          <a:lstStyle/>
          <a:p>
            <a:r>
              <a:rPr lang="en-US" sz="2400" b="1" dirty="0">
                <a:solidFill>
                  <a:srgbClr val="FFFFFF"/>
                </a:solidFill>
                <a:latin typeface="Trebuchet MS"/>
              </a:rPr>
              <a:t>$17,534.76 </a:t>
            </a:r>
          </a:p>
        </p:txBody>
      </p:sp>
      <p:sp>
        <p:nvSpPr>
          <p:cNvPr id="18" name="KPI3 Label"/>
          <p:cNvSpPr txBox="1"/>
          <p:nvPr/>
        </p:nvSpPr>
        <p:spPr>
          <a:xfrm>
            <a:off x="6035040" y="1371600"/>
            <a:ext cx="2560320" cy="228600"/>
          </a:xfrm>
          <a:prstGeom prst="rect">
            <a:avLst/>
          </a:prstGeom>
          <a:noFill/>
        </p:spPr>
        <p:txBody>
          <a:bodyPr lIns="137160" tIns="0" rIns="91440" bIns="45720" anchor="t"/>
          <a:lstStyle/>
          <a:p>
            <a:r>
              <a:rPr lang="en-US" sz="1000" dirty="0">
                <a:solidFill>
                  <a:srgbClr val="8B9CB6"/>
                </a:solidFill>
                <a:latin typeface="Calibri"/>
              </a:rPr>
              <a:t>Highest Revenue Customer</a:t>
            </a:r>
          </a:p>
        </p:txBody>
      </p:sp>
      <p:sp>
        <p:nvSpPr>
          <p:cNvPr id="20" name="CS Header"/>
          <p:cNvSpPr txBox="1"/>
          <p:nvPr/>
        </p:nvSpPr>
        <p:spPr>
          <a:xfrm>
            <a:off x="548640" y="1783080"/>
            <a:ext cx="4023360" cy="274320"/>
          </a:xfrm>
          <a:prstGeom prst="rect">
            <a:avLst/>
          </a:prstGeom>
          <a:noFill/>
        </p:spPr>
        <p:txBody>
          <a:bodyPr lIns="0" tIns="0" rIns="0" bIns="0" anchor="b"/>
          <a:lstStyle/>
          <a:p>
            <a:r>
              <a:rPr lang="en-US" sz="1200" b="1" dirty="0">
                <a:solidFill>
                  <a:srgbClr val="2DD4BF"/>
                </a:solidFill>
                <a:latin typeface="Trebuchet MS"/>
              </a:rPr>
              <a:t>Customer Spending</a:t>
            </a:r>
          </a:p>
        </p:txBody>
      </p:sp>
      <p:sp>
        <p:nvSpPr>
          <p:cNvPr id="21" name="CS BG"/>
          <p:cNvSpPr/>
          <p:nvPr/>
        </p:nvSpPr>
        <p:spPr>
          <a:xfrm>
            <a:off x="548640" y="2103120"/>
            <a:ext cx="4023360" cy="2446020"/>
          </a:xfrm>
          <a:prstGeom prst="rect">
            <a:avLst/>
          </a:prstGeom>
          <a:solidFill>
            <a:srgbClr val="1E2D44"/>
          </a:solidFill>
          <a:ln>
            <a:noFill/>
          </a:ln>
        </p:spPr>
        <p:txBody>
          <a:bodyPr/>
          <a:lstStyle/>
          <a:p>
            <a:endParaRPr lang="en-US"/>
          </a:p>
        </p:txBody>
      </p:sp>
      <p:sp>
        <p:nvSpPr>
          <p:cNvPr id="22" name="Col Tier"/>
          <p:cNvSpPr txBox="1"/>
          <p:nvPr/>
        </p:nvSpPr>
        <p:spPr>
          <a:xfrm>
            <a:off x="640080" y="2148840"/>
            <a:ext cx="1005840" cy="228600"/>
          </a:xfrm>
          <a:prstGeom prst="rect">
            <a:avLst/>
          </a:prstGeom>
          <a:noFill/>
        </p:spPr>
        <p:txBody>
          <a:bodyPr lIns="0" tIns="0" rIns="0" bIns="0" anchor="ctr"/>
          <a:lstStyle/>
          <a:p>
            <a:r>
              <a:rPr lang="en-US" sz="900" b="1" dirty="0">
                <a:solidFill>
                  <a:srgbClr val="8B9CB6"/>
                </a:solidFill>
                <a:latin typeface="Calibri"/>
              </a:rPr>
              <a:t>Top Customers</a:t>
            </a:r>
          </a:p>
        </p:txBody>
      </p:sp>
      <p:sp>
        <p:nvSpPr>
          <p:cNvPr id="23" name="Col Cust"/>
          <p:cNvSpPr txBox="1"/>
          <p:nvPr/>
        </p:nvSpPr>
        <p:spPr>
          <a:xfrm>
            <a:off x="2926080" y="2126637"/>
            <a:ext cx="822960" cy="228600"/>
          </a:xfrm>
          <a:prstGeom prst="rect">
            <a:avLst/>
          </a:prstGeom>
          <a:noFill/>
        </p:spPr>
        <p:txBody>
          <a:bodyPr lIns="0" tIns="0" rIns="0" bIns="0" anchor="ctr"/>
          <a:lstStyle/>
          <a:p>
            <a:pPr algn="r"/>
            <a:r>
              <a:rPr lang="en-US" sz="900" b="1" dirty="0">
                <a:solidFill>
                  <a:srgbClr val="8B9CB6"/>
                </a:solidFill>
                <a:latin typeface="Calibri"/>
              </a:rPr>
              <a:t>Customers</a:t>
            </a:r>
          </a:p>
        </p:txBody>
      </p:sp>
      <p:sp>
        <p:nvSpPr>
          <p:cNvPr id="26" name="CS HSep"/>
          <p:cNvSpPr/>
          <p:nvPr/>
        </p:nvSpPr>
        <p:spPr>
          <a:xfrm>
            <a:off x="640080" y="2377440"/>
            <a:ext cx="3840480" cy="9144"/>
          </a:xfrm>
          <a:prstGeom prst="rect">
            <a:avLst/>
          </a:prstGeom>
          <a:solidFill>
            <a:srgbClr val="2D3748"/>
          </a:solidFill>
          <a:ln>
            <a:noFill/>
          </a:ln>
        </p:spPr>
        <p:txBody>
          <a:bodyPr/>
          <a:lstStyle/>
          <a:p>
            <a:endParaRPr lang="en-US"/>
          </a:p>
        </p:txBody>
      </p:sp>
      <p:sp>
        <p:nvSpPr>
          <p:cNvPr id="27" name="High Dot"/>
          <p:cNvSpPr/>
          <p:nvPr/>
        </p:nvSpPr>
        <p:spPr>
          <a:xfrm>
            <a:off x="640080" y="2520330"/>
            <a:ext cx="91440" cy="91440"/>
          </a:xfrm>
          <a:prstGeom prst="ellipse">
            <a:avLst/>
          </a:prstGeom>
          <a:solidFill>
            <a:srgbClr val="2DD4BF"/>
          </a:solidFill>
          <a:ln>
            <a:noFill/>
          </a:ln>
        </p:spPr>
        <p:txBody>
          <a:bodyPr/>
          <a:lstStyle/>
          <a:p>
            <a:endParaRPr lang="en-US"/>
          </a:p>
        </p:txBody>
      </p:sp>
      <p:sp>
        <p:nvSpPr>
          <p:cNvPr id="28" name="High Label"/>
          <p:cNvSpPr txBox="1"/>
          <p:nvPr/>
        </p:nvSpPr>
        <p:spPr>
          <a:xfrm>
            <a:off x="777240" y="2423160"/>
            <a:ext cx="868680" cy="274320"/>
          </a:xfrm>
          <a:prstGeom prst="rect">
            <a:avLst/>
          </a:prstGeom>
          <a:noFill/>
        </p:spPr>
        <p:txBody>
          <a:bodyPr lIns="0" tIns="0" rIns="0" bIns="0" anchor="ctr"/>
          <a:lstStyle/>
          <a:p>
            <a:r>
              <a:rPr lang="en-US" sz="1000" b="1" dirty="0">
                <a:solidFill>
                  <a:srgbClr val="FFFFFF"/>
                </a:solidFill>
                <a:latin typeface="Calibri"/>
              </a:rPr>
              <a:t>Gloria Mendoza</a:t>
            </a:r>
            <a:endParaRPr lang="en-US" sz="700" dirty="0">
              <a:solidFill>
                <a:srgbClr val="8B9CB6"/>
              </a:solidFill>
              <a:latin typeface="Calibri"/>
            </a:endParaRPr>
          </a:p>
        </p:txBody>
      </p:sp>
      <p:sp>
        <p:nvSpPr>
          <p:cNvPr id="29" name="High Cust"/>
          <p:cNvSpPr txBox="1"/>
          <p:nvPr/>
        </p:nvSpPr>
        <p:spPr>
          <a:xfrm>
            <a:off x="2926080" y="2419771"/>
            <a:ext cx="822960" cy="274320"/>
          </a:xfrm>
          <a:prstGeom prst="rect">
            <a:avLst/>
          </a:prstGeom>
          <a:noFill/>
        </p:spPr>
        <p:txBody>
          <a:bodyPr lIns="0" tIns="0" rIns="0" bIns="0" anchor="ctr"/>
          <a:lstStyle/>
          <a:p>
            <a:pPr algn="r"/>
            <a:r>
              <a:rPr lang="en-US" sz="1000" b="1" dirty="0">
                <a:solidFill>
                  <a:srgbClr val="FFFFFF"/>
                </a:solidFill>
                <a:latin typeface="Calibri"/>
              </a:rPr>
              <a:t>$17,534</a:t>
            </a:r>
            <a:endParaRPr lang="en-US" sz="700" dirty="0">
              <a:solidFill>
                <a:srgbClr val="8B9CB6"/>
              </a:solidFill>
              <a:latin typeface="Calibri"/>
            </a:endParaRPr>
          </a:p>
        </p:txBody>
      </p:sp>
      <p:sp>
        <p:nvSpPr>
          <p:cNvPr id="32" name="CS S1"/>
          <p:cNvSpPr/>
          <p:nvPr/>
        </p:nvSpPr>
        <p:spPr>
          <a:xfrm>
            <a:off x="640080" y="2743200"/>
            <a:ext cx="3840480" cy="9144"/>
          </a:xfrm>
          <a:prstGeom prst="rect">
            <a:avLst/>
          </a:prstGeom>
          <a:solidFill>
            <a:srgbClr val="243447"/>
          </a:solidFill>
          <a:ln>
            <a:noFill/>
          </a:ln>
        </p:spPr>
        <p:txBody>
          <a:bodyPr/>
          <a:lstStyle/>
          <a:p>
            <a:endParaRPr lang="en-US" dirty="0"/>
          </a:p>
        </p:txBody>
      </p:sp>
      <p:sp>
        <p:nvSpPr>
          <p:cNvPr id="33" name="Mid Dot"/>
          <p:cNvSpPr/>
          <p:nvPr/>
        </p:nvSpPr>
        <p:spPr>
          <a:xfrm>
            <a:off x="640080" y="2882646"/>
            <a:ext cx="91440" cy="91440"/>
          </a:xfrm>
          <a:prstGeom prst="ellipse">
            <a:avLst/>
          </a:prstGeom>
          <a:solidFill>
            <a:srgbClr val="F6C343"/>
          </a:solidFill>
          <a:ln>
            <a:noFill/>
          </a:ln>
        </p:spPr>
        <p:txBody>
          <a:bodyPr/>
          <a:lstStyle/>
          <a:p>
            <a:endParaRPr lang="en-US"/>
          </a:p>
        </p:txBody>
      </p:sp>
      <p:sp>
        <p:nvSpPr>
          <p:cNvPr id="34" name="Mid Label"/>
          <p:cNvSpPr txBox="1"/>
          <p:nvPr/>
        </p:nvSpPr>
        <p:spPr>
          <a:xfrm>
            <a:off x="777240" y="2788920"/>
            <a:ext cx="868680" cy="274320"/>
          </a:xfrm>
          <a:prstGeom prst="rect">
            <a:avLst/>
          </a:prstGeom>
          <a:noFill/>
        </p:spPr>
        <p:txBody>
          <a:bodyPr lIns="0" tIns="0" rIns="0" bIns="0" anchor="ctr"/>
          <a:lstStyle/>
          <a:p>
            <a:r>
              <a:rPr lang="en-US" sz="1000" b="1" dirty="0">
                <a:solidFill>
                  <a:srgbClr val="FFFFFF"/>
                </a:solidFill>
                <a:latin typeface="Calibri"/>
              </a:rPr>
              <a:t>Ben Chang</a:t>
            </a:r>
            <a:endParaRPr lang="en-US" sz="700" dirty="0">
              <a:solidFill>
                <a:srgbClr val="8B9CB6"/>
              </a:solidFill>
              <a:latin typeface="Calibri"/>
            </a:endParaRPr>
          </a:p>
        </p:txBody>
      </p:sp>
      <p:sp>
        <p:nvSpPr>
          <p:cNvPr id="35" name="Mid Cust"/>
          <p:cNvSpPr txBox="1"/>
          <p:nvPr/>
        </p:nvSpPr>
        <p:spPr>
          <a:xfrm>
            <a:off x="2926080" y="2785531"/>
            <a:ext cx="822960" cy="274320"/>
          </a:xfrm>
          <a:prstGeom prst="rect">
            <a:avLst/>
          </a:prstGeom>
          <a:noFill/>
        </p:spPr>
        <p:txBody>
          <a:bodyPr lIns="0" tIns="0" rIns="0" bIns="0" anchor="ctr"/>
          <a:lstStyle/>
          <a:p>
            <a:pPr algn="r"/>
            <a:r>
              <a:rPr lang="en-US" sz="1000" b="1" dirty="0">
                <a:solidFill>
                  <a:srgbClr val="FFFFFF"/>
                </a:solidFill>
                <a:latin typeface="Calibri"/>
              </a:rPr>
              <a:t>$17,494</a:t>
            </a:r>
            <a:endParaRPr lang="en-US" sz="700" dirty="0">
              <a:solidFill>
                <a:srgbClr val="8B9CB6"/>
              </a:solidFill>
              <a:latin typeface="Calibri"/>
            </a:endParaRPr>
          </a:p>
        </p:txBody>
      </p:sp>
      <p:sp>
        <p:nvSpPr>
          <p:cNvPr id="38" name="CS S2"/>
          <p:cNvSpPr/>
          <p:nvPr/>
        </p:nvSpPr>
        <p:spPr>
          <a:xfrm>
            <a:off x="640080" y="3108960"/>
            <a:ext cx="3840480" cy="9144"/>
          </a:xfrm>
          <a:prstGeom prst="rect">
            <a:avLst/>
          </a:prstGeom>
          <a:solidFill>
            <a:srgbClr val="243447"/>
          </a:solidFill>
          <a:ln>
            <a:noFill/>
          </a:ln>
        </p:spPr>
        <p:txBody>
          <a:bodyPr/>
          <a:lstStyle/>
          <a:p>
            <a:endParaRPr lang="en-US"/>
          </a:p>
        </p:txBody>
      </p:sp>
      <p:sp>
        <p:nvSpPr>
          <p:cNvPr id="39" name="Low Dot"/>
          <p:cNvSpPr/>
          <p:nvPr/>
        </p:nvSpPr>
        <p:spPr>
          <a:xfrm>
            <a:off x="640080" y="3266133"/>
            <a:ext cx="91440" cy="91440"/>
          </a:xfrm>
          <a:prstGeom prst="ellipse">
            <a:avLst/>
          </a:prstGeom>
          <a:solidFill>
            <a:srgbClr val="8B9CB6"/>
          </a:solidFill>
          <a:ln>
            <a:noFill/>
          </a:ln>
        </p:spPr>
        <p:txBody>
          <a:bodyPr/>
          <a:lstStyle/>
          <a:p>
            <a:endParaRPr lang="en-US"/>
          </a:p>
        </p:txBody>
      </p:sp>
      <p:sp>
        <p:nvSpPr>
          <p:cNvPr id="40" name="Low Label"/>
          <p:cNvSpPr txBox="1"/>
          <p:nvPr/>
        </p:nvSpPr>
        <p:spPr>
          <a:xfrm>
            <a:off x="777240" y="3196649"/>
            <a:ext cx="868680" cy="274320"/>
          </a:xfrm>
          <a:prstGeom prst="rect">
            <a:avLst/>
          </a:prstGeom>
          <a:noFill/>
        </p:spPr>
        <p:txBody>
          <a:bodyPr lIns="0" tIns="0" rIns="0" bIns="0" anchor="ctr"/>
          <a:lstStyle/>
          <a:p>
            <a:r>
              <a:rPr lang="en-US" sz="1000" b="1" dirty="0">
                <a:solidFill>
                  <a:srgbClr val="FFFFFF"/>
                </a:solidFill>
                <a:latin typeface="Calibri"/>
              </a:rPr>
              <a:t>Cole Brown</a:t>
            </a:r>
            <a:endParaRPr lang="en-US" sz="700" dirty="0">
              <a:solidFill>
                <a:srgbClr val="8B9CB6"/>
              </a:solidFill>
              <a:latin typeface="Calibri"/>
            </a:endParaRPr>
          </a:p>
        </p:txBody>
      </p:sp>
      <p:sp>
        <p:nvSpPr>
          <p:cNvPr id="41" name="Low Cust"/>
          <p:cNvSpPr txBox="1"/>
          <p:nvPr/>
        </p:nvSpPr>
        <p:spPr>
          <a:xfrm>
            <a:off x="2926080" y="3187897"/>
            <a:ext cx="822960" cy="274320"/>
          </a:xfrm>
          <a:prstGeom prst="rect">
            <a:avLst/>
          </a:prstGeom>
          <a:noFill/>
        </p:spPr>
        <p:txBody>
          <a:bodyPr lIns="0" tIns="0" rIns="0" bIns="0" anchor="ctr"/>
          <a:lstStyle/>
          <a:p>
            <a:pPr algn="r"/>
            <a:r>
              <a:rPr lang="en-US" sz="1000" b="1" dirty="0">
                <a:solidFill>
                  <a:srgbClr val="FFFFFF"/>
                </a:solidFill>
                <a:latin typeface="Calibri"/>
              </a:rPr>
              <a:t>$17,440</a:t>
            </a:r>
          </a:p>
        </p:txBody>
      </p:sp>
      <p:sp>
        <p:nvSpPr>
          <p:cNvPr id="50" name="RP Header"/>
          <p:cNvSpPr txBox="1"/>
          <p:nvPr/>
        </p:nvSpPr>
        <p:spPr>
          <a:xfrm>
            <a:off x="4754880" y="1783080"/>
            <a:ext cx="3840480" cy="274320"/>
          </a:xfrm>
          <a:prstGeom prst="rect">
            <a:avLst/>
          </a:prstGeom>
          <a:noFill/>
        </p:spPr>
        <p:txBody>
          <a:bodyPr lIns="0" tIns="0" rIns="0" bIns="0" anchor="b"/>
          <a:lstStyle/>
          <a:p>
            <a:r>
              <a:rPr lang="en-US" sz="1200" b="1" dirty="0">
                <a:solidFill>
                  <a:srgbClr val="F6C343"/>
                </a:solidFill>
                <a:latin typeface="Trebuchet MS"/>
              </a:rPr>
              <a:t>Rewards Participation</a:t>
            </a:r>
          </a:p>
        </p:txBody>
      </p:sp>
      <p:sp>
        <p:nvSpPr>
          <p:cNvPr id="61" name="TC BG"/>
          <p:cNvSpPr/>
          <p:nvPr/>
        </p:nvSpPr>
        <p:spPr>
          <a:xfrm>
            <a:off x="4754880" y="3383280"/>
            <a:ext cx="3840480" cy="1554480"/>
          </a:xfrm>
          <a:prstGeom prst="rect">
            <a:avLst/>
          </a:prstGeom>
          <a:solidFill>
            <a:srgbClr val="1E2D44"/>
          </a:solidFill>
          <a:ln>
            <a:noFill/>
          </a:ln>
        </p:spPr>
        <p:txBody>
          <a:bodyPr/>
          <a:lstStyle/>
          <a:p>
            <a:endParaRPr lang="en-US"/>
          </a:p>
        </p:txBody>
      </p:sp>
      <p:sp>
        <p:nvSpPr>
          <p:cNvPr id="62" name="TC Body"/>
          <p:cNvSpPr txBox="1"/>
          <p:nvPr/>
        </p:nvSpPr>
        <p:spPr>
          <a:xfrm>
            <a:off x="4846320" y="3429000"/>
            <a:ext cx="3657600" cy="1462560"/>
          </a:xfrm>
          <a:prstGeom prst="rect">
            <a:avLst/>
          </a:prstGeom>
          <a:noFill/>
        </p:spPr>
        <p:txBody>
          <a:bodyPr lIns="0" tIns="0" rIns="0" bIns="0" anchor="ctr"/>
          <a:lstStyle/>
          <a:p>
            <a:pPr>
              <a:spcAft>
                <a:spcPts val="500"/>
              </a:spcAft>
            </a:pPr>
            <a:r>
              <a:rPr lang="en-US" sz="900" dirty="0">
                <a:solidFill>
                  <a:srgbClr val="E2E8F0"/>
                </a:solidFill>
                <a:latin typeface="Calibri"/>
              </a:rPr>
              <a:t>Only 10.4% of transactions are tied to rewards members </a:t>
            </a:r>
          </a:p>
          <a:p>
            <a:pPr>
              <a:spcAft>
                <a:spcPts val="500"/>
              </a:spcAft>
            </a:pPr>
            <a:r>
              <a:rPr lang="en-US" sz="900" dirty="0">
                <a:solidFill>
                  <a:srgbClr val="E2E8F0"/>
                </a:solidFill>
                <a:latin typeface="Calibri"/>
              </a:rPr>
              <a:t> Rewards Avg Transaction = $133.38 </a:t>
            </a:r>
          </a:p>
          <a:p>
            <a:pPr>
              <a:spcAft>
                <a:spcPts val="500"/>
              </a:spcAft>
            </a:pPr>
            <a:r>
              <a:rPr lang="en-US" sz="900" dirty="0">
                <a:solidFill>
                  <a:srgbClr val="E2E8F0"/>
                </a:solidFill>
                <a:latin typeface="Calibri"/>
              </a:rPr>
              <a:t>Non-Rewards Avg Transaction = $131.44</a:t>
            </a:r>
          </a:p>
          <a:p>
            <a:pPr>
              <a:spcAft>
                <a:spcPts val="500"/>
              </a:spcAft>
            </a:pPr>
            <a:r>
              <a:rPr lang="en-US" sz="900" dirty="0">
                <a:solidFill>
                  <a:srgbClr val="E2E8F0"/>
                </a:solidFill>
                <a:latin typeface="Calibri"/>
              </a:rPr>
              <a:t>Spending is nearly identical between groups  </a:t>
            </a:r>
          </a:p>
          <a:p>
            <a:pPr>
              <a:spcAft>
                <a:spcPts val="500"/>
              </a:spcAft>
            </a:pPr>
            <a:r>
              <a:rPr lang="en-US" sz="900" dirty="0">
                <a:solidFill>
                  <a:srgbClr val="E2E8F0"/>
                </a:solidFill>
                <a:latin typeface="Calibri"/>
              </a:rPr>
              <a:t>Biggest opportunity = increase rewards enrollment</a:t>
            </a:r>
            <a:endParaRPr lang="en-US" sz="900" b="1" dirty="0">
              <a:solidFill>
                <a:srgbClr val="22C55E"/>
              </a:solidFill>
              <a:latin typeface="Calibri"/>
            </a:endParaRPr>
          </a:p>
        </p:txBody>
      </p:sp>
      <p:sp>
        <p:nvSpPr>
          <p:cNvPr id="70" name="Footnote"/>
          <p:cNvSpPr txBox="1"/>
          <p:nvPr/>
        </p:nvSpPr>
        <p:spPr>
          <a:xfrm>
            <a:off x="548640" y="4576899"/>
            <a:ext cx="4023360" cy="228600"/>
          </a:xfrm>
          <a:prstGeom prst="rect">
            <a:avLst/>
          </a:prstGeom>
          <a:noFill/>
        </p:spPr>
        <p:txBody>
          <a:bodyPr lIns="0" tIns="0" rIns="0" bIns="0" anchor="t"/>
          <a:lstStyle/>
          <a:p>
            <a:r>
              <a:rPr lang="en-US" sz="800" i="1" dirty="0">
                <a:solidFill>
                  <a:srgbClr val="8B9CB6"/>
                </a:solidFill>
                <a:latin typeface="Calibri"/>
              </a:rPr>
              <a:t>Data as of May 2026 | Trailing 12-month period | All spend figures monthly avg</a:t>
            </a:r>
          </a:p>
        </p:txBody>
      </p:sp>
      <p:sp>
        <p:nvSpPr>
          <p:cNvPr id="60" name="TC Header"/>
          <p:cNvSpPr txBox="1"/>
          <p:nvPr/>
        </p:nvSpPr>
        <p:spPr>
          <a:xfrm>
            <a:off x="4800600" y="3333809"/>
            <a:ext cx="3840480" cy="274320"/>
          </a:xfrm>
          <a:prstGeom prst="rect">
            <a:avLst/>
          </a:prstGeom>
          <a:noFill/>
        </p:spPr>
        <p:txBody>
          <a:bodyPr lIns="0" tIns="0" rIns="0" bIns="0" anchor="b"/>
          <a:lstStyle/>
          <a:p>
            <a:r>
              <a:rPr lang="en-US" sz="1200" b="1" dirty="0">
                <a:solidFill>
                  <a:srgbClr val="2DD4BF"/>
                </a:solidFill>
                <a:latin typeface="Trebuchet MS"/>
              </a:rPr>
              <a:t>Key Customer Insights</a:t>
            </a:r>
          </a:p>
        </p:txBody>
      </p:sp>
      <p:graphicFrame>
        <p:nvGraphicFramePr>
          <p:cNvPr id="4" name="Chart 1">
            <a:extLst>
              <a:ext uri="{FF2B5EF4-FFF2-40B4-BE49-F238E27FC236}">
                <a16:creationId xmlns:a16="http://schemas.microsoft.com/office/drawing/2014/main" id="{9E6B31A1-1469-9323-FAA7-167041BAD217}"/>
              </a:ext>
            </a:extLst>
          </p:cNvPr>
          <p:cNvGraphicFramePr/>
          <p:nvPr>
            <p:extLst>
              <p:ext uri="{D42A27DB-BD31-4B8C-83A1-F6EECF244321}">
                <p14:modId xmlns:p14="http://schemas.microsoft.com/office/powerpoint/2010/main" val="779710766"/>
              </p:ext>
            </p:extLst>
          </p:nvPr>
        </p:nvGraphicFramePr>
        <p:xfrm>
          <a:off x="4754880" y="2103120"/>
          <a:ext cx="3840480" cy="982981"/>
        </p:xfrm>
        <a:graphic>
          <a:graphicData uri="http://schemas.openxmlformats.org/drawingml/2006/chart">
            <c:chart xmlns:c="http://schemas.openxmlformats.org/drawingml/2006/chart" xmlns:r="http://schemas.openxmlformats.org/officeDocument/2006/relationships" r:id="rId3"/>
          </a:graphicData>
        </a:graphic>
      </p:graphicFrame>
      <p:sp>
        <p:nvSpPr>
          <p:cNvPr id="5" name="CS S2">
            <a:extLst>
              <a:ext uri="{FF2B5EF4-FFF2-40B4-BE49-F238E27FC236}">
                <a16:creationId xmlns:a16="http://schemas.microsoft.com/office/drawing/2014/main" id="{1108DF49-1E9E-6B07-A43E-D087C54597CB}"/>
              </a:ext>
            </a:extLst>
          </p:cNvPr>
          <p:cNvSpPr/>
          <p:nvPr/>
        </p:nvSpPr>
        <p:spPr>
          <a:xfrm>
            <a:off x="617043" y="3535314"/>
            <a:ext cx="3840480" cy="9144"/>
          </a:xfrm>
          <a:prstGeom prst="rect">
            <a:avLst/>
          </a:prstGeom>
          <a:solidFill>
            <a:srgbClr val="243447"/>
          </a:solidFill>
          <a:ln>
            <a:noFill/>
          </a:ln>
        </p:spPr>
        <p:txBody>
          <a:bodyPr/>
          <a:lstStyle/>
          <a:p>
            <a:endParaRPr lang="en-US"/>
          </a:p>
        </p:txBody>
      </p:sp>
      <p:sp>
        <p:nvSpPr>
          <p:cNvPr id="6" name="CS S2">
            <a:extLst>
              <a:ext uri="{FF2B5EF4-FFF2-40B4-BE49-F238E27FC236}">
                <a16:creationId xmlns:a16="http://schemas.microsoft.com/office/drawing/2014/main" id="{676E8BFB-0CF9-33DC-D7D4-49C3EACBE7EE}"/>
              </a:ext>
            </a:extLst>
          </p:cNvPr>
          <p:cNvSpPr/>
          <p:nvPr/>
        </p:nvSpPr>
        <p:spPr>
          <a:xfrm>
            <a:off x="617043" y="3905646"/>
            <a:ext cx="3840480" cy="9144"/>
          </a:xfrm>
          <a:prstGeom prst="rect">
            <a:avLst/>
          </a:prstGeom>
          <a:solidFill>
            <a:srgbClr val="243447"/>
          </a:solidFill>
          <a:ln>
            <a:noFill/>
          </a:ln>
        </p:spPr>
        <p:txBody>
          <a:bodyPr/>
          <a:lstStyle/>
          <a:p>
            <a:endParaRPr lang="en-US"/>
          </a:p>
        </p:txBody>
      </p:sp>
      <p:sp>
        <p:nvSpPr>
          <p:cNvPr id="7" name="CS S2">
            <a:extLst>
              <a:ext uri="{FF2B5EF4-FFF2-40B4-BE49-F238E27FC236}">
                <a16:creationId xmlns:a16="http://schemas.microsoft.com/office/drawing/2014/main" id="{7FDB4A89-84A8-6172-F429-117E851799A1}"/>
              </a:ext>
            </a:extLst>
          </p:cNvPr>
          <p:cNvSpPr/>
          <p:nvPr/>
        </p:nvSpPr>
        <p:spPr>
          <a:xfrm>
            <a:off x="617043" y="4275978"/>
            <a:ext cx="3840480" cy="9144"/>
          </a:xfrm>
          <a:prstGeom prst="rect">
            <a:avLst/>
          </a:prstGeom>
          <a:solidFill>
            <a:srgbClr val="243447"/>
          </a:solidFill>
          <a:ln>
            <a:noFill/>
          </a:ln>
        </p:spPr>
        <p:txBody>
          <a:bodyPr/>
          <a:lstStyle/>
          <a:p>
            <a:endParaRPr lang="en-US"/>
          </a:p>
        </p:txBody>
      </p:sp>
      <p:sp>
        <p:nvSpPr>
          <p:cNvPr id="8" name="Mid Label">
            <a:extLst>
              <a:ext uri="{FF2B5EF4-FFF2-40B4-BE49-F238E27FC236}">
                <a16:creationId xmlns:a16="http://schemas.microsoft.com/office/drawing/2014/main" id="{854A9295-5D18-5E75-C067-05C100AB3771}"/>
              </a:ext>
            </a:extLst>
          </p:cNvPr>
          <p:cNvSpPr txBox="1"/>
          <p:nvPr/>
        </p:nvSpPr>
        <p:spPr>
          <a:xfrm>
            <a:off x="777240" y="3572217"/>
            <a:ext cx="868680" cy="274320"/>
          </a:xfrm>
          <a:prstGeom prst="rect">
            <a:avLst/>
          </a:prstGeom>
          <a:noFill/>
        </p:spPr>
        <p:txBody>
          <a:bodyPr lIns="0" tIns="0" rIns="0" bIns="0" anchor="ctr"/>
          <a:lstStyle/>
          <a:p>
            <a:r>
              <a:rPr lang="en-US" sz="1000" b="1" dirty="0">
                <a:solidFill>
                  <a:srgbClr val="FFFFFF"/>
                </a:solidFill>
                <a:latin typeface="Calibri"/>
              </a:rPr>
              <a:t>Stanley H.</a:t>
            </a:r>
            <a:endParaRPr lang="en-US" sz="700" dirty="0">
              <a:solidFill>
                <a:srgbClr val="8B9CB6"/>
              </a:solidFill>
              <a:latin typeface="Calibri"/>
            </a:endParaRPr>
          </a:p>
        </p:txBody>
      </p:sp>
      <p:sp>
        <p:nvSpPr>
          <p:cNvPr id="9" name="Mid Label">
            <a:extLst>
              <a:ext uri="{FF2B5EF4-FFF2-40B4-BE49-F238E27FC236}">
                <a16:creationId xmlns:a16="http://schemas.microsoft.com/office/drawing/2014/main" id="{EE73580E-CDA2-CB96-26DB-C478B1B65A07}"/>
              </a:ext>
            </a:extLst>
          </p:cNvPr>
          <p:cNvSpPr txBox="1"/>
          <p:nvPr/>
        </p:nvSpPr>
        <p:spPr>
          <a:xfrm>
            <a:off x="777240" y="3954780"/>
            <a:ext cx="868680" cy="274320"/>
          </a:xfrm>
          <a:prstGeom prst="rect">
            <a:avLst/>
          </a:prstGeom>
          <a:noFill/>
        </p:spPr>
        <p:txBody>
          <a:bodyPr lIns="0" tIns="0" rIns="0" bIns="0" anchor="ctr"/>
          <a:lstStyle/>
          <a:p>
            <a:r>
              <a:rPr lang="en-US" sz="1000" b="1" dirty="0">
                <a:solidFill>
                  <a:srgbClr val="FFFFFF"/>
                </a:solidFill>
                <a:latin typeface="Calibri"/>
              </a:rPr>
              <a:t>C.J. Cregg</a:t>
            </a:r>
            <a:endParaRPr lang="en-US" sz="700" dirty="0">
              <a:solidFill>
                <a:srgbClr val="8B9CB6"/>
              </a:solidFill>
              <a:latin typeface="Calibri"/>
            </a:endParaRPr>
          </a:p>
        </p:txBody>
      </p:sp>
      <p:sp>
        <p:nvSpPr>
          <p:cNvPr id="19" name="High Dot">
            <a:extLst>
              <a:ext uri="{FF2B5EF4-FFF2-40B4-BE49-F238E27FC236}">
                <a16:creationId xmlns:a16="http://schemas.microsoft.com/office/drawing/2014/main" id="{57953C23-0D74-FCD6-915E-C0822C7139C1}"/>
              </a:ext>
            </a:extLst>
          </p:cNvPr>
          <p:cNvSpPr/>
          <p:nvPr/>
        </p:nvSpPr>
        <p:spPr>
          <a:xfrm>
            <a:off x="640080" y="3661074"/>
            <a:ext cx="91440" cy="91440"/>
          </a:xfrm>
          <a:prstGeom prst="ellipse">
            <a:avLst/>
          </a:prstGeom>
          <a:solidFill>
            <a:srgbClr val="2DD4BF"/>
          </a:solidFill>
          <a:ln>
            <a:noFill/>
          </a:ln>
        </p:spPr>
        <p:txBody>
          <a:bodyPr/>
          <a:lstStyle/>
          <a:p>
            <a:endParaRPr lang="en-US"/>
          </a:p>
        </p:txBody>
      </p:sp>
      <p:sp>
        <p:nvSpPr>
          <p:cNvPr id="45" name="Mid Dot">
            <a:extLst>
              <a:ext uri="{FF2B5EF4-FFF2-40B4-BE49-F238E27FC236}">
                <a16:creationId xmlns:a16="http://schemas.microsoft.com/office/drawing/2014/main" id="{FF09846D-7046-61CA-FA81-90757D3D07E2}"/>
              </a:ext>
            </a:extLst>
          </p:cNvPr>
          <p:cNvSpPr/>
          <p:nvPr/>
        </p:nvSpPr>
        <p:spPr>
          <a:xfrm>
            <a:off x="640080" y="4046220"/>
            <a:ext cx="91440" cy="91440"/>
          </a:xfrm>
          <a:prstGeom prst="ellipse">
            <a:avLst/>
          </a:prstGeom>
          <a:solidFill>
            <a:srgbClr val="F6C343"/>
          </a:solidFill>
          <a:ln>
            <a:noFill/>
          </a:ln>
        </p:spPr>
        <p:txBody>
          <a:bodyPr/>
          <a:lstStyle/>
          <a:p>
            <a:endParaRPr lang="en-US"/>
          </a:p>
        </p:txBody>
      </p:sp>
      <p:sp>
        <p:nvSpPr>
          <p:cNvPr id="46" name="High Cust">
            <a:extLst>
              <a:ext uri="{FF2B5EF4-FFF2-40B4-BE49-F238E27FC236}">
                <a16:creationId xmlns:a16="http://schemas.microsoft.com/office/drawing/2014/main" id="{BB0FB63A-14B2-8531-A73A-9BD3A0C80FCB}"/>
              </a:ext>
            </a:extLst>
          </p:cNvPr>
          <p:cNvSpPr txBox="1"/>
          <p:nvPr/>
        </p:nvSpPr>
        <p:spPr>
          <a:xfrm>
            <a:off x="2926080" y="3564335"/>
            <a:ext cx="822960" cy="274320"/>
          </a:xfrm>
          <a:prstGeom prst="rect">
            <a:avLst/>
          </a:prstGeom>
          <a:noFill/>
        </p:spPr>
        <p:txBody>
          <a:bodyPr lIns="0" tIns="0" rIns="0" bIns="0" anchor="ctr"/>
          <a:lstStyle/>
          <a:p>
            <a:pPr algn="r"/>
            <a:r>
              <a:rPr lang="en-US" sz="1000" b="1" dirty="0">
                <a:solidFill>
                  <a:srgbClr val="FFFFFF"/>
                </a:solidFill>
                <a:latin typeface="Calibri"/>
              </a:rPr>
              <a:t> $16,533</a:t>
            </a:r>
            <a:endParaRPr lang="en-US" sz="700" dirty="0">
              <a:solidFill>
                <a:srgbClr val="8B9CB6"/>
              </a:solidFill>
              <a:latin typeface="Calibri"/>
            </a:endParaRPr>
          </a:p>
        </p:txBody>
      </p:sp>
      <p:sp>
        <p:nvSpPr>
          <p:cNvPr id="47" name="High Cust">
            <a:extLst>
              <a:ext uri="{FF2B5EF4-FFF2-40B4-BE49-F238E27FC236}">
                <a16:creationId xmlns:a16="http://schemas.microsoft.com/office/drawing/2014/main" id="{EA0B257B-CB57-ED11-C534-9B50EA3524DC}"/>
              </a:ext>
            </a:extLst>
          </p:cNvPr>
          <p:cNvSpPr txBox="1"/>
          <p:nvPr/>
        </p:nvSpPr>
        <p:spPr>
          <a:xfrm>
            <a:off x="2926080" y="3963949"/>
            <a:ext cx="822960" cy="274320"/>
          </a:xfrm>
          <a:prstGeom prst="rect">
            <a:avLst/>
          </a:prstGeom>
          <a:noFill/>
        </p:spPr>
        <p:txBody>
          <a:bodyPr lIns="0" tIns="0" rIns="0" bIns="0" anchor="ctr"/>
          <a:lstStyle/>
          <a:p>
            <a:pPr algn="r"/>
            <a:r>
              <a:rPr lang="en-US" sz="1000" b="1" dirty="0">
                <a:solidFill>
                  <a:srgbClr val="FFFFFF"/>
                </a:solidFill>
                <a:latin typeface="Calibri"/>
              </a:rPr>
              <a:t>$16,520</a:t>
            </a:r>
            <a:endParaRPr lang="en-US" sz="700" dirty="0">
              <a:solidFill>
                <a:srgbClr val="8B9CB6"/>
              </a:solidFill>
              <a:latin typeface="Calibri"/>
            </a:endParaRPr>
          </a:p>
        </p:txBody>
      </p:sp>
      <p:pic>
        <p:nvPicPr>
          <p:cNvPr id="66" name="Graphic 65" descr="Footprints with solid fill">
            <a:extLst>
              <a:ext uri="{FF2B5EF4-FFF2-40B4-BE49-F238E27FC236}">
                <a16:creationId xmlns:a16="http://schemas.microsoft.com/office/drawing/2014/main" id="{A9C5CE3E-5A40-798F-8C50-85C6771B4A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4464683"/>
            <a:ext cx="437903" cy="375345"/>
          </a:xfrm>
          <a:prstGeom prst="rect">
            <a:avLst/>
          </a:prstGeom>
        </p:spPr>
      </p:pic>
      <p:pic>
        <p:nvPicPr>
          <p:cNvPr id="67" name="Graphic 66" descr="Upward trend with solid fill">
            <a:extLst>
              <a:ext uri="{FF2B5EF4-FFF2-40B4-BE49-F238E27FC236}">
                <a16:creationId xmlns:a16="http://schemas.microsoft.com/office/drawing/2014/main" id="{2B80999D-7113-139B-6512-31F22C2D18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8" y="3914601"/>
            <a:ext cx="437903" cy="375345"/>
          </a:xfrm>
          <a:prstGeom prst="rect">
            <a:avLst/>
          </a:prstGeom>
        </p:spPr>
      </p:pic>
      <p:pic>
        <p:nvPicPr>
          <p:cNvPr id="68" name="Graphic 67" descr="Trophy with solid fill">
            <a:extLst>
              <a:ext uri="{FF2B5EF4-FFF2-40B4-BE49-F238E27FC236}">
                <a16:creationId xmlns:a16="http://schemas.microsoft.com/office/drawing/2014/main" id="{2587B9AB-F26A-F0BE-59D5-904F86EA68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59" y="3275963"/>
            <a:ext cx="437903" cy="375345"/>
          </a:xfrm>
          <a:prstGeom prst="rect">
            <a:avLst/>
          </a:prstGeom>
        </p:spPr>
      </p:pic>
      <p:pic>
        <p:nvPicPr>
          <p:cNvPr id="69" name="Graphic 68" descr="Inventory with solid fill">
            <a:extLst>
              <a:ext uri="{FF2B5EF4-FFF2-40B4-BE49-F238E27FC236}">
                <a16:creationId xmlns:a16="http://schemas.microsoft.com/office/drawing/2014/main" id="{7CB843F1-AA1B-FB0A-9B74-AD8531FA3E2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60" y="2636553"/>
            <a:ext cx="437903" cy="375345"/>
          </a:xfrm>
          <a:prstGeom prst="rect">
            <a:avLst/>
          </a:prstGeom>
        </p:spPr>
      </p:pic>
      <p:pic>
        <p:nvPicPr>
          <p:cNvPr id="71" name="Graphic 70" descr="Topography Map with solid fill">
            <a:extLst>
              <a:ext uri="{FF2B5EF4-FFF2-40B4-BE49-F238E27FC236}">
                <a16:creationId xmlns:a16="http://schemas.microsoft.com/office/drawing/2014/main" id="{C9B125D9-8DA7-BD48-11E2-7BBA2AD3DCB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992919"/>
            <a:ext cx="437903" cy="375345"/>
          </a:xfrm>
          <a:prstGeom prst="rect">
            <a:avLst/>
          </a:prstGeom>
        </p:spPr>
      </p:pic>
      <p:pic>
        <p:nvPicPr>
          <p:cNvPr id="72" name="Graphic 71" descr="Soap with solid fill">
            <a:extLst>
              <a:ext uri="{FF2B5EF4-FFF2-40B4-BE49-F238E27FC236}">
                <a16:creationId xmlns:a16="http://schemas.microsoft.com/office/drawing/2014/main" id="{54DFA380-FFA3-CD3D-87EA-7C2FE1DDF86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7" y="1354281"/>
            <a:ext cx="437903" cy="375345"/>
          </a:xfrm>
          <a:prstGeom prst="rect">
            <a:avLst/>
          </a:prstGeom>
        </p:spPr>
      </p:pic>
      <p:pic>
        <p:nvPicPr>
          <p:cNvPr id="73" name="Graphic 72" descr="List with solid fill">
            <a:extLst>
              <a:ext uri="{FF2B5EF4-FFF2-40B4-BE49-F238E27FC236}">
                <a16:creationId xmlns:a16="http://schemas.microsoft.com/office/drawing/2014/main" id="{B196FECD-47A8-A1F7-DF85-760C92C8ABC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E30"/>
        </a:solidFill>
        <a:effectLst/>
      </p:bgPr>
    </p:bg>
    <p:spTree>
      <p:nvGrpSpPr>
        <p:cNvPr id="1" name=""/>
        <p:cNvGrpSpPr/>
        <p:nvPr/>
      </p:nvGrpSpPr>
      <p:grpSpPr>
        <a:xfrm>
          <a:off x="0" y="0"/>
          <a:ext cx="0" cy="0"/>
          <a:chOff x="0" y="0"/>
          <a:chExt cx="0" cy="0"/>
        </a:xfrm>
      </p:grpSpPr>
      <p:sp>
        <p:nvSpPr>
          <p:cNvPr id="2" name="Title"/>
          <p:cNvSpPr txBox="1"/>
          <p:nvPr/>
        </p:nvSpPr>
        <p:spPr>
          <a:xfrm>
            <a:off x="548640" y="228600"/>
            <a:ext cx="5486400" cy="457200"/>
          </a:xfrm>
          <a:prstGeom prst="rect">
            <a:avLst/>
          </a:prstGeom>
          <a:noFill/>
        </p:spPr>
        <p:txBody>
          <a:bodyPr lIns="0" tIns="0" rIns="0" bIns="0" anchor="ctr"/>
          <a:lstStyle/>
          <a:p>
            <a:r>
              <a:rPr lang="en-US" sz="2800" b="1" dirty="0">
                <a:solidFill>
                  <a:srgbClr val="FFFFFF"/>
                </a:solidFill>
                <a:latin typeface="Trebuchet MS"/>
              </a:rPr>
              <a:t>Dashboard Overview</a:t>
            </a:r>
          </a:p>
        </p:txBody>
      </p:sp>
      <p:sp>
        <p:nvSpPr>
          <p:cNvPr id="3" name="Subtitle"/>
          <p:cNvSpPr txBox="1"/>
          <p:nvPr/>
        </p:nvSpPr>
        <p:spPr>
          <a:xfrm>
            <a:off x="548640" y="685800"/>
            <a:ext cx="6400800" cy="228600"/>
          </a:xfrm>
          <a:prstGeom prst="rect">
            <a:avLst/>
          </a:prstGeom>
          <a:noFill/>
        </p:spPr>
        <p:txBody>
          <a:bodyPr lIns="0" tIns="0" rIns="0" bIns="0" anchor="ctr"/>
          <a:lstStyle/>
          <a:p>
            <a:r>
              <a:rPr lang="en-US" sz="1200" dirty="0">
                <a:solidFill>
                  <a:srgbClr val="8B9CB6"/>
                </a:solidFill>
                <a:latin typeface="Calibri"/>
              </a:rPr>
              <a:t>EmporiUm sales performance, territory trends, and rewards program insights</a:t>
            </a:r>
          </a:p>
        </p:txBody>
      </p:sp>
      <p:sp>
        <p:nvSpPr>
          <p:cNvPr id="10" name="KPI Card 1 BG"/>
          <p:cNvSpPr/>
          <p:nvPr/>
        </p:nvSpPr>
        <p:spPr>
          <a:xfrm>
            <a:off x="548640" y="1005840"/>
            <a:ext cx="1920240" cy="914400"/>
          </a:xfrm>
          <a:prstGeom prst="rect">
            <a:avLst/>
          </a:prstGeom>
          <a:solidFill>
            <a:srgbClr val="1E2D44"/>
          </a:solidFill>
          <a:ln>
            <a:noFill/>
          </a:ln>
        </p:spPr>
        <p:txBody>
          <a:bodyPr/>
          <a:lstStyle/>
          <a:p>
            <a:endParaRPr lang="en-US"/>
          </a:p>
        </p:txBody>
      </p:sp>
      <p:sp>
        <p:nvSpPr>
          <p:cNvPr id="11" name="KPI 1 Value"/>
          <p:cNvSpPr txBox="1"/>
          <p:nvPr/>
        </p:nvSpPr>
        <p:spPr>
          <a:xfrm>
            <a:off x="548640" y="1051560"/>
            <a:ext cx="1920240" cy="457200"/>
          </a:xfrm>
          <a:prstGeom prst="rect">
            <a:avLst/>
          </a:prstGeom>
          <a:noFill/>
        </p:spPr>
        <p:txBody>
          <a:bodyPr lIns="137160" tIns="45720" rIns="91440" bIns="0" anchor="b"/>
          <a:lstStyle/>
          <a:p>
            <a:r>
              <a:rPr lang="en-US" sz="2400" b="1" dirty="0">
                <a:solidFill>
                  <a:srgbClr val="FFFFFF"/>
                </a:solidFill>
                <a:latin typeface="Trebuchet MS"/>
              </a:rPr>
              <a:t>$45.2M</a:t>
            </a:r>
          </a:p>
        </p:txBody>
      </p:sp>
      <p:sp>
        <p:nvSpPr>
          <p:cNvPr id="12" name="KPI 1 Label"/>
          <p:cNvSpPr txBox="1"/>
          <p:nvPr/>
        </p:nvSpPr>
        <p:spPr>
          <a:xfrm>
            <a:off x="548640" y="1561854"/>
            <a:ext cx="1920240" cy="320040"/>
          </a:xfrm>
          <a:prstGeom prst="rect">
            <a:avLst/>
          </a:prstGeom>
          <a:noFill/>
        </p:spPr>
        <p:txBody>
          <a:bodyPr lIns="137160" tIns="0" rIns="91440" bIns="45720" anchor="t"/>
          <a:lstStyle/>
          <a:p>
            <a:r>
              <a:rPr lang="en-US" sz="1000" dirty="0">
                <a:solidFill>
                  <a:srgbClr val="8B9CB6"/>
                </a:solidFill>
                <a:latin typeface="Calibri"/>
              </a:rPr>
              <a:t>Total Revenue</a:t>
            </a:r>
          </a:p>
        </p:txBody>
      </p:sp>
      <p:sp>
        <p:nvSpPr>
          <p:cNvPr id="13" name="KPI Card 2 BG"/>
          <p:cNvSpPr/>
          <p:nvPr/>
        </p:nvSpPr>
        <p:spPr>
          <a:xfrm>
            <a:off x="2606040" y="1005840"/>
            <a:ext cx="1920240" cy="914400"/>
          </a:xfrm>
          <a:prstGeom prst="rect">
            <a:avLst/>
          </a:prstGeom>
          <a:solidFill>
            <a:srgbClr val="1E2D44"/>
          </a:solidFill>
          <a:ln>
            <a:noFill/>
          </a:ln>
        </p:spPr>
        <p:txBody>
          <a:bodyPr/>
          <a:lstStyle/>
          <a:p>
            <a:endParaRPr lang="en-US"/>
          </a:p>
        </p:txBody>
      </p:sp>
      <p:sp>
        <p:nvSpPr>
          <p:cNvPr id="14" name="KPI 2 Value"/>
          <p:cNvSpPr txBox="1"/>
          <p:nvPr/>
        </p:nvSpPr>
        <p:spPr>
          <a:xfrm>
            <a:off x="2606040" y="1051560"/>
            <a:ext cx="1920240" cy="457200"/>
          </a:xfrm>
          <a:prstGeom prst="rect">
            <a:avLst/>
          </a:prstGeom>
          <a:noFill/>
        </p:spPr>
        <p:txBody>
          <a:bodyPr lIns="137160" tIns="45720" rIns="91440" bIns="0" anchor="b"/>
          <a:lstStyle/>
          <a:p>
            <a:r>
              <a:rPr lang="en-US" sz="2400" b="1" dirty="0">
                <a:solidFill>
                  <a:srgbClr val="FFFFFF"/>
                </a:solidFill>
                <a:latin typeface="Trebuchet MS"/>
              </a:rPr>
              <a:t>347K+</a:t>
            </a:r>
          </a:p>
        </p:txBody>
      </p:sp>
      <p:sp>
        <p:nvSpPr>
          <p:cNvPr id="15" name="KPI 2 Label"/>
          <p:cNvSpPr txBox="1"/>
          <p:nvPr/>
        </p:nvSpPr>
        <p:spPr>
          <a:xfrm>
            <a:off x="2606040" y="1561854"/>
            <a:ext cx="1920240" cy="320040"/>
          </a:xfrm>
          <a:prstGeom prst="rect">
            <a:avLst/>
          </a:prstGeom>
          <a:noFill/>
        </p:spPr>
        <p:txBody>
          <a:bodyPr lIns="137160" tIns="0" rIns="91440" bIns="45720" anchor="t"/>
          <a:lstStyle/>
          <a:p>
            <a:r>
              <a:rPr lang="en-US" sz="1000" dirty="0">
                <a:solidFill>
                  <a:srgbClr val="8B9CB6"/>
                </a:solidFill>
                <a:latin typeface="Calibri"/>
              </a:rPr>
              <a:t>Total Transactions</a:t>
            </a:r>
          </a:p>
        </p:txBody>
      </p:sp>
      <p:sp>
        <p:nvSpPr>
          <p:cNvPr id="16" name="KPI Card 3 BG"/>
          <p:cNvSpPr/>
          <p:nvPr/>
        </p:nvSpPr>
        <p:spPr>
          <a:xfrm>
            <a:off x="4663440" y="1005840"/>
            <a:ext cx="1920240" cy="914400"/>
          </a:xfrm>
          <a:prstGeom prst="rect">
            <a:avLst/>
          </a:prstGeom>
          <a:solidFill>
            <a:srgbClr val="1E2D44"/>
          </a:solidFill>
          <a:ln>
            <a:noFill/>
          </a:ln>
        </p:spPr>
        <p:txBody>
          <a:bodyPr/>
          <a:lstStyle/>
          <a:p>
            <a:endParaRPr lang="en-US"/>
          </a:p>
        </p:txBody>
      </p:sp>
      <p:sp>
        <p:nvSpPr>
          <p:cNvPr id="17" name="KPI 3 Value"/>
          <p:cNvSpPr txBox="1"/>
          <p:nvPr/>
        </p:nvSpPr>
        <p:spPr>
          <a:xfrm>
            <a:off x="4663440" y="1051560"/>
            <a:ext cx="1920240" cy="457200"/>
          </a:xfrm>
          <a:prstGeom prst="rect">
            <a:avLst/>
          </a:prstGeom>
          <a:noFill/>
        </p:spPr>
        <p:txBody>
          <a:bodyPr lIns="137160" tIns="45720" rIns="91440" bIns="0" anchor="b"/>
          <a:lstStyle/>
          <a:p>
            <a:r>
              <a:rPr lang="en-US" sz="2400" b="1" dirty="0">
                <a:solidFill>
                  <a:srgbClr val="2DD4BF"/>
                </a:solidFill>
                <a:latin typeface="Trebuchet MS"/>
              </a:rPr>
              <a:t>Colorado</a:t>
            </a:r>
          </a:p>
        </p:txBody>
      </p:sp>
      <p:sp>
        <p:nvSpPr>
          <p:cNvPr id="18" name="KPI 3 Label"/>
          <p:cNvSpPr txBox="1"/>
          <p:nvPr/>
        </p:nvSpPr>
        <p:spPr>
          <a:xfrm>
            <a:off x="4663440" y="1561854"/>
            <a:ext cx="1920240" cy="320040"/>
          </a:xfrm>
          <a:prstGeom prst="rect">
            <a:avLst/>
          </a:prstGeom>
          <a:noFill/>
        </p:spPr>
        <p:txBody>
          <a:bodyPr lIns="137160" tIns="0" rIns="91440" bIns="45720" anchor="t"/>
          <a:lstStyle/>
          <a:p>
            <a:r>
              <a:rPr lang="en-US" sz="1000" dirty="0">
                <a:solidFill>
                  <a:srgbClr val="8B9CB6"/>
                </a:solidFill>
                <a:latin typeface="Calibri"/>
              </a:rPr>
              <a:t>Top Territory</a:t>
            </a:r>
          </a:p>
        </p:txBody>
      </p:sp>
      <p:sp>
        <p:nvSpPr>
          <p:cNvPr id="19" name="KPI Card 4 BG"/>
          <p:cNvSpPr/>
          <p:nvPr/>
        </p:nvSpPr>
        <p:spPr>
          <a:xfrm>
            <a:off x="6720840" y="1005840"/>
            <a:ext cx="1920240" cy="914400"/>
          </a:xfrm>
          <a:prstGeom prst="rect">
            <a:avLst/>
          </a:prstGeom>
          <a:solidFill>
            <a:srgbClr val="1E2D44"/>
          </a:solidFill>
          <a:ln>
            <a:noFill/>
          </a:ln>
        </p:spPr>
        <p:txBody>
          <a:bodyPr/>
          <a:lstStyle/>
          <a:p>
            <a:endParaRPr lang="en-US"/>
          </a:p>
        </p:txBody>
      </p:sp>
      <p:sp>
        <p:nvSpPr>
          <p:cNvPr id="20" name="KPI 4 Value"/>
          <p:cNvSpPr txBox="1"/>
          <p:nvPr/>
        </p:nvSpPr>
        <p:spPr>
          <a:xfrm>
            <a:off x="6720840" y="1109816"/>
            <a:ext cx="1920240" cy="457200"/>
          </a:xfrm>
          <a:prstGeom prst="rect">
            <a:avLst/>
          </a:prstGeom>
          <a:noFill/>
        </p:spPr>
        <p:txBody>
          <a:bodyPr lIns="137160" tIns="45720" rIns="91440" bIns="0" anchor="b"/>
          <a:lstStyle/>
          <a:p>
            <a:r>
              <a:rPr lang="en-US" sz="1800" b="1" dirty="0">
                <a:solidFill>
                  <a:srgbClr val="F6C343"/>
                </a:solidFill>
                <a:latin typeface="Trebuchet MS"/>
              </a:rPr>
              <a:t>Tech &amp; Accessories</a:t>
            </a:r>
          </a:p>
        </p:txBody>
      </p:sp>
      <p:sp>
        <p:nvSpPr>
          <p:cNvPr id="21" name="KPI 4 Label"/>
          <p:cNvSpPr txBox="1"/>
          <p:nvPr/>
        </p:nvSpPr>
        <p:spPr>
          <a:xfrm>
            <a:off x="6720840" y="1597250"/>
            <a:ext cx="1920240" cy="320040"/>
          </a:xfrm>
          <a:prstGeom prst="rect">
            <a:avLst/>
          </a:prstGeom>
          <a:noFill/>
        </p:spPr>
        <p:txBody>
          <a:bodyPr lIns="137160" tIns="0" rIns="91440" bIns="45720" anchor="t"/>
          <a:lstStyle/>
          <a:p>
            <a:r>
              <a:rPr lang="en-US" sz="1000" dirty="0">
                <a:solidFill>
                  <a:srgbClr val="8B9CB6"/>
                </a:solidFill>
                <a:latin typeface="Calibri"/>
              </a:rPr>
              <a:t>Top Product Category</a:t>
            </a:r>
          </a:p>
        </p:txBody>
      </p:sp>
      <p:sp>
        <p:nvSpPr>
          <p:cNvPr id="40" name="Insights BG"/>
          <p:cNvSpPr/>
          <p:nvPr/>
        </p:nvSpPr>
        <p:spPr>
          <a:xfrm>
            <a:off x="5760720" y="2103120"/>
            <a:ext cx="2880360" cy="1325880"/>
          </a:xfrm>
          <a:prstGeom prst="rect">
            <a:avLst/>
          </a:prstGeom>
          <a:solidFill>
            <a:srgbClr val="1E2D44"/>
          </a:solidFill>
          <a:ln>
            <a:noFill/>
          </a:ln>
        </p:spPr>
        <p:txBody>
          <a:bodyPr/>
          <a:lstStyle/>
          <a:p>
            <a:endParaRPr lang="en-US"/>
          </a:p>
        </p:txBody>
      </p:sp>
      <p:sp>
        <p:nvSpPr>
          <p:cNvPr id="41" name="Insights Title"/>
          <p:cNvSpPr txBox="1"/>
          <p:nvPr/>
        </p:nvSpPr>
        <p:spPr>
          <a:xfrm>
            <a:off x="5897880" y="2110494"/>
            <a:ext cx="2606040" cy="274320"/>
          </a:xfrm>
          <a:prstGeom prst="rect">
            <a:avLst/>
          </a:prstGeom>
          <a:noFill/>
        </p:spPr>
        <p:txBody>
          <a:bodyPr lIns="0" tIns="0" rIns="0" bIns="0" anchor="ctr"/>
          <a:lstStyle/>
          <a:p>
            <a:r>
              <a:rPr lang="en-US" sz="1200" b="1" dirty="0">
                <a:solidFill>
                  <a:srgbClr val="2DD4BF"/>
                </a:solidFill>
                <a:latin typeface="Trebuchet MS"/>
              </a:rPr>
              <a:t>Key Insights</a:t>
            </a:r>
          </a:p>
        </p:txBody>
      </p:sp>
      <p:sp>
        <p:nvSpPr>
          <p:cNvPr id="42" name="Insights Body"/>
          <p:cNvSpPr txBox="1"/>
          <p:nvPr/>
        </p:nvSpPr>
        <p:spPr>
          <a:xfrm>
            <a:off x="5897880" y="2338316"/>
            <a:ext cx="2606040" cy="868680"/>
          </a:xfrm>
          <a:prstGeom prst="rect">
            <a:avLst/>
          </a:prstGeom>
          <a:noFill/>
        </p:spPr>
        <p:txBody>
          <a:bodyPr lIns="0" tIns="0" rIns="0" bIns="0" anchor="t"/>
          <a:lstStyle/>
          <a:p>
            <a:pPr>
              <a:spcAft>
                <a:spcPts val="400"/>
              </a:spcAft>
            </a:pPr>
            <a:r>
              <a:rPr lang="en-US" sz="900" dirty="0">
                <a:solidFill>
                  <a:srgbClr val="E2E8F0"/>
                </a:solidFill>
                <a:latin typeface="Calibri"/>
              </a:rPr>
              <a:t>Revenue trended upward across both territories, with a major holiday-season spike.</a:t>
            </a:r>
          </a:p>
          <a:p>
            <a:pPr>
              <a:spcAft>
                <a:spcPts val="400"/>
              </a:spcAft>
            </a:pPr>
            <a:r>
              <a:rPr lang="en-US" sz="900" dirty="0">
                <a:solidFill>
                  <a:srgbClr val="E2E8F0"/>
                </a:solidFill>
                <a:latin typeface="Calibri"/>
              </a:rPr>
              <a:t>Colorado led territory performance, while Florida still showed strong transaction volume.</a:t>
            </a:r>
          </a:p>
          <a:p>
            <a:pPr>
              <a:spcAft>
                <a:spcPts val="400"/>
              </a:spcAft>
            </a:pPr>
            <a:r>
              <a:rPr lang="en-US" sz="900" dirty="0">
                <a:solidFill>
                  <a:srgbClr val="E2E8F0"/>
                </a:solidFill>
                <a:latin typeface="Calibri"/>
              </a:rPr>
              <a:t>Technology &amp; Accessories was the top revenue category, creating a clear seasonal promotion opportunity.</a:t>
            </a:r>
          </a:p>
          <a:p>
            <a:pPr marL="171450" indent="-171450">
              <a:spcAft>
                <a:spcPts val="400"/>
              </a:spcAft>
              <a:buFont typeface="Arial"/>
              <a:buChar char="•"/>
            </a:pPr>
            <a:endParaRPr lang="en-US" sz="900" dirty="0">
              <a:solidFill>
                <a:srgbClr val="E2E8F0"/>
              </a:solidFill>
              <a:latin typeface="Calibri"/>
            </a:endParaRPr>
          </a:p>
          <a:p>
            <a:pPr marL="171450" indent="-171450">
              <a:spcAft>
                <a:spcPts val="400"/>
              </a:spcAft>
              <a:buFont typeface="Arial"/>
              <a:buChar char="•"/>
            </a:pPr>
            <a:r>
              <a:rPr lang="en-US" sz="900" dirty="0">
                <a:solidFill>
                  <a:srgbClr val="E2E8F0"/>
                </a:solidFill>
                <a:latin typeface="Calibri"/>
              </a:rPr>
              <a:t>• Most transactions came from non-rewards customers, showing an opportunity to expand rewards enrollment.</a:t>
            </a:r>
          </a:p>
        </p:txBody>
      </p:sp>
      <p:sp>
        <p:nvSpPr>
          <p:cNvPr id="6" name="Rectangle: Rounded Corners 5">
            <a:extLst>
              <a:ext uri="{FF2B5EF4-FFF2-40B4-BE49-F238E27FC236}">
                <a16:creationId xmlns:a16="http://schemas.microsoft.com/office/drawing/2014/main" id="{8A2077FB-2D9B-00A9-7054-9B6ACEF50563}"/>
              </a:ext>
            </a:extLst>
          </p:cNvPr>
          <p:cNvSpPr/>
          <p:nvPr/>
        </p:nvSpPr>
        <p:spPr>
          <a:xfrm>
            <a:off x="376084" y="2011680"/>
            <a:ext cx="5247476" cy="3032268"/>
          </a:xfrm>
          <a:prstGeom prst="roundRect">
            <a:avLst/>
          </a:prstGeom>
          <a:solidFill>
            <a:srgbClr val="0B17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4B0DE0B-B462-CAF7-8C4D-F9547EFA1D03}"/>
              </a:ext>
            </a:extLst>
          </p:cNvPr>
          <p:cNvPicPr>
            <a:picLocks noChangeAspect="1"/>
          </p:cNvPicPr>
          <p:nvPr/>
        </p:nvPicPr>
        <p:blipFill>
          <a:blip r:embed="rId3"/>
          <a:stretch>
            <a:fillRect/>
          </a:stretch>
        </p:blipFill>
        <p:spPr>
          <a:xfrm>
            <a:off x="548640" y="2240280"/>
            <a:ext cx="4792802" cy="2649347"/>
          </a:xfrm>
          <a:prstGeom prst="rect">
            <a:avLst/>
          </a:prstGeom>
        </p:spPr>
      </p:pic>
      <p:graphicFrame>
        <p:nvGraphicFramePr>
          <p:cNvPr id="7" name="Chart 1">
            <a:extLst>
              <a:ext uri="{FF2B5EF4-FFF2-40B4-BE49-F238E27FC236}">
                <a16:creationId xmlns:a16="http://schemas.microsoft.com/office/drawing/2014/main" id="{3D4E81D8-9DBA-6067-BC3E-D52FE7189A1B}"/>
              </a:ext>
            </a:extLst>
          </p:cNvPr>
          <p:cNvGraphicFramePr/>
          <p:nvPr>
            <p:extLst>
              <p:ext uri="{D42A27DB-BD31-4B8C-83A1-F6EECF244321}">
                <p14:modId xmlns:p14="http://schemas.microsoft.com/office/powerpoint/2010/main" val="1071952284"/>
              </p:ext>
            </p:extLst>
          </p:nvPr>
        </p:nvGraphicFramePr>
        <p:xfrm>
          <a:off x="5760721" y="3520440"/>
          <a:ext cx="2880360" cy="1523508"/>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711CEC4B-348F-25F8-FFE7-C439CE1D492C}"/>
              </a:ext>
            </a:extLst>
          </p:cNvPr>
          <p:cNvSpPr txBox="1"/>
          <p:nvPr/>
        </p:nvSpPr>
        <p:spPr>
          <a:xfrm rot="20521825">
            <a:off x="6213311" y="3778608"/>
            <a:ext cx="571323" cy="230832"/>
          </a:xfrm>
          <a:prstGeom prst="rect">
            <a:avLst/>
          </a:prstGeom>
          <a:noFill/>
        </p:spPr>
        <p:txBody>
          <a:bodyPr wrap="square">
            <a:spAutoFit/>
          </a:bodyPr>
          <a:lstStyle/>
          <a:p>
            <a:pPr algn="ctr"/>
            <a:r>
              <a:rPr lang="en-US" sz="900" b="1" dirty="0">
                <a:solidFill>
                  <a:srgbClr val="FFFFFF"/>
                </a:solidFill>
                <a:latin typeface="Trebuchet MS"/>
              </a:rPr>
              <a:t>10.4%</a:t>
            </a:r>
          </a:p>
        </p:txBody>
      </p:sp>
      <p:sp>
        <p:nvSpPr>
          <p:cNvPr id="22" name="TextBox 21">
            <a:extLst>
              <a:ext uri="{FF2B5EF4-FFF2-40B4-BE49-F238E27FC236}">
                <a16:creationId xmlns:a16="http://schemas.microsoft.com/office/drawing/2014/main" id="{0F853DF8-BC09-9A40-0D22-87E442A6A94B}"/>
              </a:ext>
            </a:extLst>
          </p:cNvPr>
          <p:cNvSpPr txBox="1"/>
          <p:nvPr/>
        </p:nvSpPr>
        <p:spPr>
          <a:xfrm rot="20521825">
            <a:off x="6566844" y="4576295"/>
            <a:ext cx="571323" cy="230832"/>
          </a:xfrm>
          <a:prstGeom prst="rect">
            <a:avLst/>
          </a:prstGeom>
          <a:noFill/>
        </p:spPr>
        <p:txBody>
          <a:bodyPr wrap="square">
            <a:spAutoFit/>
          </a:bodyPr>
          <a:lstStyle/>
          <a:p>
            <a:pPr algn="ctr"/>
            <a:r>
              <a:rPr lang="en-US" sz="900" b="1" dirty="0">
                <a:solidFill>
                  <a:srgbClr val="FFFFFF"/>
                </a:solidFill>
                <a:latin typeface="Trebuchet MS"/>
              </a:rPr>
              <a:t>89.6%</a:t>
            </a:r>
          </a:p>
        </p:txBody>
      </p:sp>
      <p:pic>
        <p:nvPicPr>
          <p:cNvPr id="31" name="Graphic 30" descr="Footprints with solid fill">
            <a:extLst>
              <a:ext uri="{FF2B5EF4-FFF2-40B4-BE49-F238E27FC236}">
                <a16:creationId xmlns:a16="http://schemas.microsoft.com/office/drawing/2014/main" id="{ADD1BF30-6487-B334-5F1F-48C14302DA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8" y="4464683"/>
            <a:ext cx="437903" cy="375345"/>
          </a:xfrm>
          <a:prstGeom prst="rect">
            <a:avLst/>
          </a:prstGeom>
        </p:spPr>
      </p:pic>
      <p:pic>
        <p:nvPicPr>
          <p:cNvPr id="32" name="Graphic 31" descr="Upward trend with solid fill">
            <a:extLst>
              <a:ext uri="{FF2B5EF4-FFF2-40B4-BE49-F238E27FC236}">
                <a16:creationId xmlns:a16="http://schemas.microsoft.com/office/drawing/2014/main" id="{D817230F-0E79-3A06-32CC-186B9EAC355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58" y="3914601"/>
            <a:ext cx="437903" cy="375345"/>
          </a:xfrm>
          <a:prstGeom prst="rect">
            <a:avLst/>
          </a:prstGeom>
        </p:spPr>
      </p:pic>
      <p:pic>
        <p:nvPicPr>
          <p:cNvPr id="33" name="Graphic 32" descr="Trophy with solid fill">
            <a:extLst>
              <a:ext uri="{FF2B5EF4-FFF2-40B4-BE49-F238E27FC236}">
                <a16:creationId xmlns:a16="http://schemas.microsoft.com/office/drawing/2014/main" id="{11805A75-B400-28C1-33D7-2F0110CC606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59" y="3275963"/>
            <a:ext cx="437903" cy="375345"/>
          </a:xfrm>
          <a:prstGeom prst="rect">
            <a:avLst/>
          </a:prstGeom>
        </p:spPr>
      </p:pic>
      <p:pic>
        <p:nvPicPr>
          <p:cNvPr id="34" name="Graphic 33" descr="Inventory with solid fill">
            <a:extLst>
              <a:ext uri="{FF2B5EF4-FFF2-40B4-BE49-F238E27FC236}">
                <a16:creationId xmlns:a16="http://schemas.microsoft.com/office/drawing/2014/main" id="{5987F15C-6D1C-E4DE-19D7-5EA18C844E4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60" y="2636553"/>
            <a:ext cx="437903" cy="375345"/>
          </a:xfrm>
          <a:prstGeom prst="rect">
            <a:avLst/>
          </a:prstGeom>
        </p:spPr>
      </p:pic>
      <p:pic>
        <p:nvPicPr>
          <p:cNvPr id="35" name="Graphic 34" descr="Topography Map with solid fill">
            <a:extLst>
              <a:ext uri="{FF2B5EF4-FFF2-40B4-BE49-F238E27FC236}">
                <a16:creationId xmlns:a16="http://schemas.microsoft.com/office/drawing/2014/main" id="{9953A044-68DA-F4B6-12DE-F51582E772A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7" y="1992919"/>
            <a:ext cx="437903" cy="375345"/>
          </a:xfrm>
          <a:prstGeom prst="rect">
            <a:avLst/>
          </a:prstGeom>
        </p:spPr>
      </p:pic>
      <p:pic>
        <p:nvPicPr>
          <p:cNvPr id="36" name="Graphic 35" descr="Soap with solid fill">
            <a:extLst>
              <a:ext uri="{FF2B5EF4-FFF2-40B4-BE49-F238E27FC236}">
                <a16:creationId xmlns:a16="http://schemas.microsoft.com/office/drawing/2014/main" id="{2377973D-D23A-BAC2-BD48-FC652D57BAC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57" y="1354281"/>
            <a:ext cx="437903" cy="375345"/>
          </a:xfrm>
          <a:prstGeom prst="rect">
            <a:avLst/>
          </a:prstGeom>
        </p:spPr>
      </p:pic>
      <p:pic>
        <p:nvPicPr>
          <p:cNvPr id="37" name="Graphic 36" descr="List with solid fill">
            <a:extLst>
              <a:ext uri="{FF2B5EF4-FFF2-40B4-BE49-F238E27FC236}">
                <a16:creationId xmlns:a16="http://schemas.microsoft.com/office/drawing/2014/main" id="{0B8E9C05-157D-DA44-8E9C-8E4C56C4447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7763" y="715643"/>
            <a:ext cx="437903" cy="375345"/>
          </a:xfrm>
          <a:prstGeom prst="rect">
            <a:avLst/>
          </a:prstGeom>
        </p:spPr>
      </p:pic>
    </p:spTree>
    <p:extLst>
      <p:ext uri="{BB962C8B-B14F-4D97-AF65-F5344CB8AC3E}">
        <p14:creationId xmlns:p14="http://schemas.microsoft.com/office/powerpoint/2010/main" val="3453638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141E30"/>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Marketing Recommendation</a:t>
            </a:r>
            <a:endParaRPr lang="en-US" sz="3600" dirty="0"/>
          </a:p>
        </p:txBody>
      </p:sp>
      <p:sp>
        <p:nvSpPr>
          <p:cNvPr id="3" name="Shape 1"/>
          <p:cNvSpPr/>
          <p:nvPr/>
        </p:nvSpPr>
        <p:spPr>
          <a:xfrm>
            <a:off x="731520" y="1234440"/>
            <a:ext cx="3840480" cy="1554480"/>
          </a:xfrm>
          <a:prstGeom prst="rect">
            <a:avLst/>
          </a:prstGeom>
          <a:solidFill>
            <a:srgbClr val="1E2D44"/>
          </a:solidFill>
          <a:ln/>
          <a:effectLst>
            <a:outerShdw blurRad="76200" dist="25400" dir="8100000" algn="bl" rotWithShape="0">
              <a:srgbClr val="000000">
                <a:alpha val="20000"/>
              </a:srgbClr>
            </a:outerShdw>
          </a:effectLst>
        </p:spPr>
        <p:txBody>
          <a:bodyPr/>
          <a:lstStyle/>
          <a:p>
            <a:endParaRPr lang="en-US"/>
          </a:p>
        </p:txBody>
      </p:sp>
      <p:pic>
        <p:nvPicPr>
          <p:cNvPr id="4" name="Image 0" descr="Holiday tree with solid fill"/>
          <p:cNvPicPr>
            <a:picLocks noChangeAspect="1"/>
          </p:cNvPicPr>
          <p:nvPr/>
        </p:nvPicPr>
        <p:blipFill>
          <a:blip>
            <a:extLst>
              <a:ext uri="{96DAC541-7B7A-43D3-8B79-37D633B846F1}">
                <asvg:svgBlip xmlns:asvg="http://schemas.microsoft.com/office/drawing/2016/SVG/main" r:embed="rId3"/>
              </a:ext>
            </a:extLst>
          </a:blip>
          <a:srcRect/>
          <a:stretch/>
        </p:blipFill>
        <p:spPr>
          <a:xfrm>
            <a:off x="960120" y="1417320"/>
            <a:ext cx="365760" cy="365760"/>
          </a:xfrm>
          <a:prstGeom prst="rect">
            <a:avLst/>
          </a:prstGeom>
        </p:spPr>
      </p:pic>
      <p:sp>
        <p:nvSpPr>
          <p:cNvPr id="5" name="Text 2"/>
          <p:cNvSpPr/>
          <p:nvPr/>
        </p:nvSpPr>
        <p:spPr>
          <a:xfrm>
            <a:off x="1463040" y="1417320"/>
            <a:ext cx="27432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Holiday Promotion Strategy</a:t>
            </a:r>
            <a:endParaRPr lang="en-US" sz="1600" dirty="0"/>
          </a:p>
        </p:txBody>
      </p:sp>
      <p:sp>
        <p:nvSpPr>
          <p:cNvPr id="6" name="Text 3"/>
          <p:cNvSpPr/>
          <p:nvPr/>
        </p:nvSpPr>
        <p:spPr>
          <a:xfrm>
            <a:off x="960120" y="1874520"/>
            <a:ext cx="3383280" cy="45720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Promote top-selling Technology &amp; Accessories products before holiday shopping periods to capture demand earlier and maximize seasonal revenue.</a:t>
            </a:r>
            <a:endParaRPr lang="en-US" sz="1100" dirty="0"/>
          </a:p>
        </p:txBody>
      </p:sp>
      <p:sp>
        <p:nvSpPr>
          <p:cNvPr id="7" name="Text 4"/>
          <p:cNvSpPr/>
          <p:nvPr/>
        </p:nvSpPr>
        <p:spPr>
          <a:xfrm>
            <a:off x="960120" y="2377440"/>
            <a:ext cx="3383280" cy="274320"/>
          </a:xfrm>
          <a:prstGeom prst="rect">
            <a:avLst/>
          </a:prstGeom>
          <a:noFill/>
          <a:ln/>
        </p:spPr>
        <p:txBody>
          <a:bodyPr wrap="square" lIns="0" tIns="0" rIns="0" bIns="0" rtlCol="0" anchor="ctr"/>
          <a:lstStyle/>
          <a:p>
            <a:pPr marL="0" indent="0">
              <a:buNone/>
            </a:pPr>
            <a:r>
              <a:rPr lang="en-US" sz="1000" i="1" dirty="0">
                <a:solidFill>
                  <a:srgbClr val="2DD4BF"/>
                </a:solidFill>
                <a:latin typeface="Calibri" pitchFamily="34" charset="0"/>
                <a:ea typeface="Calibri" pitchFamily="34" charset="-122"/>
                <a:cs typeface="Calibri" pitchFamily="34" charset="-120"/>
              </a:rPr>
              <a:t>Expected Impact: Increase seasonal revenue</a:t>
            </a:r>
            <a:endParaRPr lang="en-US" sz="1000" dirty="0"/>
          </a:p>
        </p:txBody>
      </p:sp>
      <p:sp>
        <p:nvSpPr>
          <p:cNvPr id="8" name="Shape 5"/>
          <p:cNvSpPr/>
          <p:nvPr/>
        </p:nvSpPr>
        <p:spPr>
          <a:xfrm>
            <a:off x="4754880" y="1234440"/>
            <a:ext cx="3840480" cy="1554480"/>
          </a:xfrm>
          <a:prstGeom prst="rect">
            <a:avLst/>
          </a:prstGeom>
          <a:solidFill>
            <a:srgbClr val="1E2D44"/>
          </a:solidFill>
          <a:ln/>
          <a:effectLst>
            <a:outerShdw blurRad="76200" dist="25400" dir="8100000" algn="bl" rotWithShape="0">
              <a:srgbClr val="000000">
                <a:alpha val="20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983480" y="1417320"/>
            <a:ext cx="365760" cy="365760"/>
          </a:xfrm>
          <a:prstGeom prst="rect">
            <a:avLst/>
          </a:prstGeom>
        </p:spPr>
      </p:pic>
      <p:sp>
        <p:nvSpPr>
          <p:cNvPr id="10" name="Text 6"/>
          <p:cNvSpPr/>
          <p:nvPr/>
        </p:nvSpPr>
        <p:spPr>
          <a:xfrm>
            <a:off x="5486400" y="1417320"/>
            <a:ext cx="27432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Rewards Program Expansion</a:t>
            </a:r>
            <a:endParaRPr lang="en-US" sz="1600" dirty="0"/>
          </a:p>
        </p:txBody>
      </p:sp>
      <p:sp>
        <p:nvSpPr>
          <p:cNvPr id="11" name="Text 7"/>
          <p:cNvSpPr/>
          <p:nvPr/>
        </p:nvSpPr>
        <p:spPr>
          <a:xfrm>
            <a:off x="4983480" y="1874520"/>
            <a:ext cx="3383280" cy="45720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Increase rewards enrollment by targeting non-rewards customers and offering bonus points for repeat purchases.</a:t>
            </a:r>
            <a:endParaRPr lang="en-US" sz="1100" dirty="0"/>
          </a:p>
        </p:txBody>
      </p:sp>
      <p:sp>
        <p:nvSpPr>
          <p:cNvPr id="12" name="Text 8"/>
          <p:cNvSpPr/>
          <p:nvPr/>
        </p:nvSpPr>
        <p:spPr>
          <a:xfrm>
            <a:off x="4983480" y="2377440"/>
            <a:ext cx="3383280" cy="274320"/>
          </a:xfrm>
          <a:prstGeom prst="rect">
            <a:avLst/>
          </a:prstGeom>
          <a:noFill/>
          <a:ln/>
        </p:spPr>
        <p:txBody>
          <a:bodyPr wrap="square" lIns="0" tIns="0" rIns="0" bIns="0" rtlCol="0" anchor="ctr"/>
          <a:lstStyle/>
          <a:p>
            <a:pPr marL="0" indent="0">
              <a:buNone/>
            </a:pPr>
            <a:r>
              <a:rPr lang="en-US" sz="1000" i="1" dirty="0">
                <a:solidFill>
                  <a:srgbClr val="2DD4BF"/>
                </a:solidFill>
                <a:latin typeface="Calibri" pitchFamily="34" charset="0"/>
                <a:ea typeface="Calibri" pitchFamily="34" charset="-122"/>
                <a:cs typeface="Calibri" pitchFamily="34" charset="-120"/>
              </a:rPr>
              <a:t>Expected Impact: Improve customer retention</a:t>
            </a:r>
            <a:endParaRPr lang="en-US" sz="1000" dirty="0"/>
          </a:p>
        </p:txBody>
      </p:sp>
      <p:sp>
        <p:nvSpPr>
          <p:cNvPr id="13" name="Shape 9"/>
          <p:cNvSpPr/>
          <p:nvPr/>
        </p:nvSpPr>
        <p:spPr>
          <a:xfrm>
            <a:off x="731520" y="2971800"/>
            <a:ext cx="3840480" cy="1554480"/>
          </a:xfrm>
          <a:prstGeom prst="rect">
            <a:avLst/>
          </a:prstGeom>
          <a:solidFill>
            <a:srgbClr val="1E2D44"/>
          </a:solidFill>
          <a:ln/>
          <a:effectLst>
            <a:outerShdw blurRad="76200" dist="25400" dir="8100000" algn="bl" rotWithShape="0">
              <a:srgbClr val="000000">
                <a:alpha val="20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960120" y="3154680"/>
            <a:ext cx="365760" cy="365760"/>
          </a:xfrm>
          <a:prstGeom prst="rect">
            <a:avLst/>
          </a:prstGeom>
        </p:spPr>
      </p:pic>
      <p:sp>
        <p:nvSpPr>
          <p:cNvPr id="15" name="Text 10"/>
          <p:cNvSpPr/>
          <p:nvPr/>
        </p:nvSpPr>
        <p:spPr>
          <a:xfrm>
            <a:off x="1463040" y="3154680"/>
            <a:ext cx="27432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Customer Retention Focus</a:t>
            </a:r>
            <a:endParaRPr lang="en-US" sz="1600" dirty="0"/>
          </a:p>
        </p:txBody>
      </p:sp>
      <p:sp>
        <p:nvSpPr>
          <p:cNvPr id="16" name="Text 11"/>
          <p:cNvSpPr/>
          <p:nvPr/>
        </p:nvSpPr>
        <p:spPr>
          <a:xfrm>
            <a:off x="960120" y="3611880"/>
            <a:ext cx="3383280" cy="45720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Use customer purchase data to identify high-value shoppers and create targeted offers that encourage repeat visits.</a:t>
            </a:r>
            <a:endParaRPr lang="en-US" sz="1100" dirty="0"/>
          </a:p>
        </p:txBody>
      </p:sp>
      <p:sp>
        <p:nvSpPr>
          <p:cNvPr id="17" name="Text 12"/>
          <p:cNvSpPr/>
          <p:nvPr/>
        </p:nvSpPr>
        <p:spPr>
          <a:xfrm>
            <a:off x="960120" y="4114800"/>
            <a:ext cx="3383280" cy="274320"/>
          </a:xfrm>
          <a:prstGeom prst="rect">
            <a:avLst/>
          </a:prstGeom>
          <a:noFill/>
          <a:ln/>
        </p:spPr>
        <p:txBody>
          <a:bodyPr wrap="square" lIns="0" tIns="0" rIns="0" bIns="0" rtlCol="0" anchor="ctr"/>
          <a:lstStyle/>
          <a:p>
            <a:pPr marL="0" indent="0">
              <a:buNone/>
            </a:pPr>
            <a:r>
              <a:rPr lang="en-US" sz="1000" i="1" dirty="0">
                <a:solidFill>
                  <a:srgbClr val="2DD4BF"/>
                </a:solidFill>
                <a:latin typeface="Calibri" pitchFamily="34" charset="0"/>
                <a:ea typeface="Calibri" pitchFamily="34" charset="-122"/>
                <a:cs typeface="Calibri" pitchFamily="34" charset="-120"/>
              </a:rPr>
              <a:t>Expected Impact: Increase repeat purchases</a:t>
            </a:r>
            <a:endParaRPr lang="en-US" sz="1000" dirty="0"/>
          </a:p>
        </p:txBody>
      </p:sp>
      <p:sp>
        <p:nvSpPr>
          <p:cNvPr id="18" name="Shape 13"/>
          <p:cNvSpPr/>
          <p:nvPr/>
        </p:nvSpPr>
        <p:spPr>
          <a:xfrm>
            <a:off x="4754880" y="2971800"/>
            <a:ext cx="3840480" cy="1554480"/>
          </a:xfrm>
          <a:prstGeom prst="rect">
            <a:avLst/>
          </a:prstGeom>
          <a:solidFill>
            <a:srgbClr val="1E2D44"/>
          </a:solidFill>
          <a:ln/>
          <a:effectLst>
            <a:outerShdw blurRad="76200" dist="25400" dir="8100000" algn="bl" rotWithShape="0">
              <a:srgbClr val="000000">
                <a:alpha val="20000"/>
              </a:srgbClr>
            </a:outerShdw>
          </a:effectLst>
        </p:spPr>
        <p:txBody>
          <a:bodyPr/>
          <a:lstStyle/>
          <a:p>
            <a:endParaRPr lang="en-US"/>
          </a:p>
        </p:txBody>
      </p:sp>
      <p:pic>
        <p:nvPicPr>
          <p:cNvPr id="19" name="Image 3" descr="Open hand with solid fill"/>
          <p:cNvPicPr>
            <a:picLocks noChangeAspect="1"/>
          </p:cNvPicPr>
          <p:nvPr/>
        </p:nvPicPr>
        <p:blipFill>
          <a:blip>
            <a:extLst>
              <a:ext uri="{96DAC541-7B7A-43D3-8B79-37D633B846F1}">
                <asvg:svgBlip xmlns:asvg="http://schemas.microsoft.com/office/drawing/2016/SVG/main" r:embed="rId6"/>
              </a:ext>
            </a:extLst>
          </a:blip>
          <a:srcRect/>
          <a:stretch/>
        </p:blipFill>
        <p:spPr>
          <a:xfrm>
            <a:off x="4983480" y="3154680"/>
            <a:ext cx="365760" cy="365760"/>
          </a:xfrm>
          <a:prstGeom prst="rect">
            <a:avLst/>
          </a:prstGeom>
        </p:spPr>
      </p:pic>
      <p:sp>
        <p:nvSpPr>
          <p:cNvPr id="20" name="Text 14"/>
          <p:cNvSpPr/>
          <p:nvPr/>
        </p:nvSpPr>
        <p:spPr>
          <a:xfrm>
            <a:off x="5486400" y="3154680"/>
            <a:ext cx="27432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Lower Category Support</a:t>
            </a:r>
            <a:endParaRPr lang="en-US" sz="1600" dirty="0"/>
          </a:p>
        </p:txBody>
      </p:sp>
      <p:sp>
        <p:nvSpPr>
          <p:cNvPr id="21" name="Text 15"/>
          <p:cNvSpPr/>
          <p:nvPr/>
        </p:nvSpPr>
        <p:spPr>
          <a:xfrm>
            <a:off x="4983480" y="3611880"/>
            <a:ext cx="3383280" cy="45720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Use bundles, discounts, and rewards incentives to increase sales for lower-performing categories like Stationery, Books, and Art Supplies.</a:t>
            </a:r>
            <a:endParaRPr lang="en-US" sz="1100" dirty="0"/>
          </a:p>
        </p:txBody>
      </p:sp>
      <p:sp>
        <p:nvSpPr>
          <p:cNvPr id="22" name="Text 16"/>
          <p:cNvSpPr/>
          <p:nvPr/>
        </p:nvSpPr>
        <p:spPr>
          <a:xfrm>
            <a:off x="4983480" y="4114800"/>
            <a:ext cx="3383280" cy="274320"/>
          </a:xfrm>
          <a:prstGeom prst="rect">
            <a:avLst/>
          </a:prstGeom>
          <a:noFill/>
          <a:ln/>
        </p:spPr>
        <p:txBody>
          <a:bodyPr wrap="square" lIns="0" tIns="0" rIns="0" bIns="0" rtlCol="0" anchor="ctr"/>
          <a:lstStyle/>
          <a:p>
            <a:pPr marL="0" indent="0">
              <a:buNone/>
            </a:pPr>
            <a:r>
              <a:rPr lang="en-US" sz="1000" i="1" dirty="0">
                <a:solidFill>
                  <a:srgbClr val="2DD4BF"/>
                </a:solidFill>
                <a:latin typeface="Calibri" pitchFamily="34" charset="0"/>
                <a:ea typeface="Calibri" pitchFamily="34" charset="-122"/>
                <a:cs typeface="Calibri" pitchFamily="34" charset="-120"/>
              </a:rPr>
              <a:t>Expected Impact: Diversify revenue sources</a:t>
            </a:r>
            <a:endParaRPr lang="en-US" sz="1000" dirty="0"/>
          </a:p>
        </p:txBody>
      </p:sp>
      <p:sp>
        <p:nvSpPr>
          <p:cNvPr id="23" name="Text 15">
            <a:extLst>
              <a:ext uri="{FF2B5EF4-FFF2-40B4-BE49-F238E27FC236}">
                <a16:creationId xmlns:a16="http://schemas.microsoft.com/office/drawing/2014/main" id="{A38A4503-0C33-EBE0-DC0B-0829FDEAA8A4}"/>
              </a:ext>
            </a:extLst>
          </p:cNvPr>
          <p:cNvSpPr/>
          <p:nvPr/>
        </p:nvSpPr>
        <p:spPr>
          <a:xfrm>
            <a:off x="793462" y="4572000"/>
            <a:ext cx="7801897" cy="457200"/>
          </a:xfrm>
          <a:prstGeom prst="rect">
            <a:avLst/>
          </a:prstGeom>
          <a:noFill/>
          <a:ln/>
        </p:spPr>
        <p:txBody>
          <a:bodyPr wrap="square" lIns="0" tIns="0" rIns="0" bIns="0" rtlCol="0" anchor="ctr"/>
          <a:lstStyle/>
          <a:p>
            <a:r>
              <a:rPr lang="en-US" sz="1100" dirty="0">
                <a:solidFill>
                  <a:schemeClr val="bg1"/>
                </a:solidFill>
                <a:effectLst>
                  <a:outerShdw blurRad="38100" dist="38100" dir="2700000" algn="tl">
                    <a:srgbClr val="000000">
                      <a:alpha val="43137"/>
                    </a:srgbClr>
                  </a:outerShdw>
                </a:effectLst>
                <a:latin typeface="Calibri "/>
              </a:rPr>
              <a:t>The recommendation is based on revenue trends, product category performance, store rankings, and customer rewards behavior.</a:t>
            </a:r>
          </a:p>
        </p:txBody>
      </p:sp>
      <p:pic>
        <p:nvPicPr>
          <p:cNvPr id="31" name="Graphic 30" descr="Footprints with solid fill">
            <a:extLst>
              <a:ext uri="{FF2B5EF4-FFF2-40B4-BE49-F238E27FC236}">
                <a16:creationId xmlns:a16="http://schemas.microsoft.com/office/drawing/2014/main" id="{3628C22C-640A-422A-C75E-7A399B458FA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58" y="4464683"/>
            <a:ext cx="437903" cy="375345"/>
          </a:xfrm>
          <a:prstGeom prst="rect">
            <a:avLst/>
          </a:prstGeom>
        </p:spPr>
      </p:pic>
      <p:pic>
        <p:nvPicPr>
          <p:cNvPr id="32" name="Graphic 31" descr="Upward trend with solid fill">
            <a:extLst>
              <a:ext uri="{FF2B5EF4-FFF2-40B4-BE49-F238E27FC236}">
                <a16:creationId xmlns:a16="http://schemas.microsoft.com/office/drawing/2014/main" id="{DEC5777A-D8A8-ED0B-BDF7-2140964CED5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8" y="3914601"/>
            <a:ext cx="437903" cy="375345"/>
          </a:xfrm>
          <a:prstGeom prst="rect">
            <a:avLst/>
          </a:prstGeom>
        </p:spPr>
      </p:pic>
      <p:pic>
        <p:nvPicPr>
          <p:cNvPr id="33" name="Graphic 32" descr="Trophy with solid fill">
            <a:extLst>
              <a:ext uri="{FF2B5EF4-FFF2-40B4-BE49-F238E27FC236}">
                <a16:creationId xmlns:a16="http://schemas.microsoft.com/office/drawing/2014/main" id="{12F33E7C-0E32-9658-2AD7-EBEB6738406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9" y="3275963"/>
            <a:ext cx="437903" cy="375345"/>
          </a:xfrm>
          <a:prstGeom prst="rect">
            <a:avLst/>
          </a:prstGeom>
        </p:spPr>
      </p:pic>
      <p:pic>
        <p:nvPicPr>
          <p:cNvPr id="34" name="Graphic 33" descr="Inventory with solid fill">
            <a:extLst>
              <a:ext uri="{FF2B5EF4-FFF2-40B4-BE49-F238E27FC236}">
                <a16:creationId xmlns:a16="http://schemas.microsoft.com/office/drawing/2014/main" id="{878EA0B4-1277-9D3F-0E8E-8C6EAE45B87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60" y="2636553"/>
            <a:ext cx="437903" cy="375345"/>
          </a:xfrm>
          <a:prstGeom prst="rect">
            <a:avLst/>
          </a:prstGeom>
        </p:spPr>
      </p:pic>
      <p:pic>
        <p:nvPicPr>
          <p:cNvPr id="35" name="Graphic 34" descr="Topography Map with solid fill">
            <a:extLst>
              <a:ext uri="{FF2B5EF4-FFF2-40B4-BE49-F238E27FC236}">
                <a16:creationId xmlns:a16="http://schemas.microsoft.com/office/drawing/2014/main" id="{D3D842CA-3665-BEE1-350A-06106BC53E7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7757" y="1992919"/>
            <a:ext cx="437903" cy="375345"/>
          </a:xfrm>
          <a:prstGeom prst="rect">
            <a:avLst/>
          </a:prstGeom>
        </p:spPr>
      </p:pic>
      <p:pic>
        <p:nvPicPr>
          <p:cNvPr id="36" name="Graphic 35" descr="Soap with solid fill">
            <a:extLst>
              <a:ext uri="{FF2B5EF4-FFF2-40B4-BE49-F238E27FC236}">
                <a16:creationId xmlns:a16="http://schemas.microsoft.com/office/drawing/2014/main" id="{6C97CB71-02DA-48D4-31A3-FDD4FE98426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7757" y="1354281"/>
            <a:ext cx="437903" cy="375345"/>
          </a:xfrm>
          <a:prstGeom prst="rect">
            <a:avLst/>
          </a:prstGeom>
        </p:spPr>
      </p:pic>
      <p:pic>
        <p:nvPicPr>
          <p:cNvPr id="37" name="Graphic 36" descr="List with solid fill">
            <a:extLst>
              <a:ext uri="{FF2B5EF4-FFF2-40B4-BE49-F238E27FC236}">
                <a16:creationId xmlns:a16="http://schemas.microsoft.com/office/drawing/2014/main" id="{2F4CB6EE-E14C-6E52-8CD4-F34548FFF15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6400800" y="-914400"/>
            <a:ext cx="4114800" cy="4114800"/>
          </a:xfrm>
          <a:prstGeom prst="ellipse">
            <a:avLst/>
          </a:prstGeom>
          <a:solidFill>
            <a:srgbClr val="2DD4BF">
              <a:alpha val="7000"/>
            </a:srgbClr>
          </a:solidFill>
          <a:ln/>
        </p:spPr>
        <p:txBody>
          <a:bodyPr/>
          <a:lstStyle/>
          <a:p>
            <a:endParaRPr lang="en-US"/>
          </a:p>
        </p:txBody>
      </p:sp>
      <p:sp>
        <p:nvSpPr>
          <p:cNvPr id="3" name="Text 1"/>
          <p:cNvSpPr/>
          <p:nvPr/>
        </p:nvSpPr>
        <p:spPr>
          <a:xfrm>
            <a:off x="731520" y="36576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Conclusion &amp; Next Steps</a:t>
            </a:r>
            <a:endParaRPr lang="en-US" sz="3600" dirty="0"/>
          </a:p>
        </p:txBody>
      </p:sp>
      <p:sp>
        <p:nvSpPr>
          <p:cNvPr id="4" name="Shape 2"/>
          <p:cNvSpPr/>
          <p:nvPr/>
        </p:nvSpPr>
        <p:spPr>
          <a:xfrm>
            <a:off x="731520" y="1234440"/>
            <a:ext cx="3657600" cy="3200400"/>
          </a:xfrm>
          <a:prstGeom prst="rect">
            <a:avLst/>
          </a:prstGeom>
          <a:solidFill>
            <a:srgbClr val="1E2D44"/>
          </a:solidFill>
          <a:ln/>
        </p:spPr>
        <p:txBody>
          <a:bodyPr/>
          <a:lstStyle/>
          <a:p>
            <a:endParaRPr lang="en-US"/>
          </a:p>
        </p:txBody>
      </p:sp>
      <p:sp>
        <p:nvSpPr>
          <p:cNvPr id="5" name="Text 3"/>
          <p:cNvSpPr/>
          <p:nvPr/>
        </p:nvSpPr>
        <p:spPr>
          <a:xfrm>
            <a:off x="960120" y="1371600"/>
            <a:ext cx="3383280" cy="365760"/>
          </a:xfrm>
          <a:prstGeom prst="rect">
            <a:avLst/>
          </a:prstGeom>
          <a:noFill/>
          <a:ln/>
        </p:spPr>
        <p:txBody>
          <a:bodyPr wrap="square" lIns="0" tIns="0" rIns="0" bIns="0" rtlCol="0" anchor="ctr"/>
          <a:lstStyle/>
          <a:p>
            <a:pPr marL="0" indent="0">
              <a:buNone/>
            </a:pPr>
            <a:r>
              <a:rPr lang="en-US" sz="1600" b="1" dirty="0">
                <a:solidFill>
                  <a:srgbClr val="2DD4BF"/>
                </a:solidFill>
                <a:latin typeface="Trebuchet MS" pitchFamily="34" charset="0"/>
                <a:ea typeface="Trebuchet MS" pitchFamily="34" charset="-122"/>
                <a:cs typeface="Trebuchet MS" pitchFamily="34" charset="-120"/>
              </a:rPr>
              <a:t>Key Takeaways</a:t>
            </a:r>
            <a:endParaRPr lang="en-US" sz="1600" dirty="0"/>
          </a:p>
        </p:txBody>
      </p:sp>
      <p:pic>
        <p:nvPicPr>
          <p:cNvPr id="6" name="Image 0" descr="preencoded.png"/>
          <p:cNvPicPr>
            <a:picLocks noChangeAspect="1"/>
          </p:cNvPicPr>
          <p:nvPr/>
        </p:nvPicPr>
        <p:blipFill>
          <a:blip r:embed="rId3"/>
          <a:stretch>
            <a:fillRect/>
          </a:stretch>
        </p:blipFill>
        <p:spPr>
          <a:xfrm>
            <a:off x="950480" y="1846592"/>
            <a:ext cx="201168" cy="201168"/>
          </a:xfrm>
          <a:prstGeom prst="rect">
            <a:avLst/>
          </a:prstGeom>
        </p:spPr>
      </p:pic>
      <p:sp>
        <p:nvSpPr>
          <p:cNvPr id="7" name="Text 4"/>
          <p:cNvSpPr/>
          <p:nvPr/>
        </p:nvSpPr>
        <p:spPr>
          <a:xfrm>
            <a:off x="1234440" y="1737360"/>
            <a:ext cx="3063240" cy="54864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Generated $45.2M in total revenue across the analysis period</a:t>
            </a:r>
            <a:endParaRPr lang="en-US" sz="1050" dirty="0"/>
          </a:p>
        </p:txBody>
      </p:sp>
      <p:pic>
        <p:nvPicPr>
          <p:cNvPr id="8" name="Image 1" descr="preencoded.png"/>
          <p:cNvPicPr>
            <a:picLocks noChangeAspect="1"/>
          </p:cNvPicPr>
          <p:nvPr/>
        </p:nvPicPr>
        <p:blipFill>
          <a:blip r:embed="rId3"/>
          <a:stretch>
            <a:fillRect/>
          </a:stretch>
        </p:blipFill>
        <p:spPr>
          <a:xfrm>
            <a:off x="950480" y="2331720"/>
            <a:ext cx="201168" cy="201168"/>
          </a:xfrm>
          <a:prstGeom prst="rect">
            <a:avLst/>
          </a:prstGeom>
        </p:spPr>
      </p:pic>
      <p:sp>
        <p:nvSpPr>
          <p:cNvPr id="9" name="Text 5"/>
          <p:cNvSpPr/>
          <p:nvPr/>
        </p:nvSpPr>
        <p:spPr>
          <a:xfrm>
            <a:off x="1257300" y="2157984"/>
            <a:ext cx="3063240" cy="54864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Colorado outperformed Florida in total revenue</a:t>
            </a:r>
            <a:endParaRPr lang="en-US" sz="1050" dirty="0"/>
          </a:p>
        </p:txBody>
      </p:sp>
      <p:pic>
        <p:nvPicPr>
          <p:cNvPr id="10" name="Image 2" descr="preencoded.png"/>
          <p:cNvPicPr>
            <a:picLocks noChangeAspect="1"/>
          </p:cNvPicPr>
          <p:nvPr/>
        </p:nvPicPr>
        <p:blipFill>
          <a:blip r:embed="rId3"/>
          <a:stretch>
            <a:fillRect/>
          </a:stretch>
        </p:blipFill>
        <p:spPr>
          <a:xfrm>
            <a:off x="960120" y="2811780"/>
            <a:ext cx="201168" cy="201168"/>
          </a:xfrm>
          <a:prstGeom prst="rect">
            <a:avLst/>
          </a:prstGeom>
        </p:spPr>
      </p:pic>
      <p:sp>
        <p:nvSpPr>
          <p:cNvPr id="11" name="Text 6"/>
          <p:cNvSpPr/>
          <p:nvPr/>
        </p:nvSpPr>
        <p:spPr>
          <a:xfrm>
            <a:off x="1266940" y="2642616"/>
            <a:ext cx="3063240" cy="54864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Technology &amp; Accessories generated over $31.9M, making it the strongest category</a:t>
            </a:r>
            <a:endParaRPr lang="en-US" sz="1050" dirty="0"/>
          </a:p>
        </p:txBody>
      </p:sp>
      <p:pic>
        <p:nvPicPr>
          <p:cNvPr id="12" name="Image 3" descr="preencoded.png"/>
          <p:cNvPicPr>
            <a:picLocks noChangeAspect="1"/>
          </p:cNvPicPr>
          <p:nvPr/>
        </p:nvPicPr>
        <p:blipFill>
          <a:blip r:embed="rId3"/>
          <a:stretch>
            <a:fillRect/>
          </a:stretch>
        </p:blipFill>
        <p:spPr>
          <a:xfrm>
            <a:off x="960120" y="3291840"/>
            <a:ext cx="201168" cy="201168"/>
          </a:xfrm>
          <a:prstGeom prst="rect">
            <a:avLst/>
          </a:prstGeom>
        </p:spPr>
      </p:pic>
      <p:sp>
        <p:nvSpPr>
          <p:cNvPr id="13" name="Text 7"/>
          <p:cNvSpPr/>
          <p:nvPr/>
        </p:nvSpPr>
        <p:spPr>
          <a:xfrm>
            <a:off x="1280160" y="3611880"/>
            <a:ext cx="3063240" cy="54864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Revenue consistently increased over time, with strong holiday-season spikes</a:t>
            </a:r>
            <a:endParaRPr lang="en-US" sz="1050" dirty="0"/>
          </a:p>
        </p:txBody>
      </p:sp>
      <p:sp>
        <p:nvSpPr>
          <p:cNvPr id="14" name="Shape 8"/>
          <p:cNvSpPr/>
          <p:nvPr/>
        </p:nvSpPr>
        <p:spPr>
          <a:xfrm>
            <a:off x="4709160" y="1234440"/>
            <a:ext cx="3977640" cy="3200400"/>
          </a:xfrm>
          <a:prstGeom prst="rect">
            <a:avLst/>
          </a:prstGeom>
          <a:solidFill>
            <a:srgbClr val="1E2D44"/>
          </a:solidFill>
          <a:ln/>
        </p:spPr>
        <p:txBody>
          <a:bodyPr/>
          <a:lstStyle/>
          <a:p>
            <a:endParaRPr lang="en-US"/>
          </a:p>
        </p:txBody>
      </p:sp>
      <p:sp>
        <p:nvSpPr>
          <p:cNvPr id="15" name="Text 9"/>
          <p:cNvSpPr/>
          <p:nvPr/>
        </p:nvSpPr>
        <p:spPr>
          <a:xfrm>
            <a:off x="4937760" y="1371600"/>
            <a:ext cx="3474720" cy="365760"/>
          </a:xfrm>
          <a:prstGeom prst="rect">
            <a:avLst/>
          </a:prstGeom>
          <a:noFill/>
          <a:ln/>
        </p:spPr>
        <p:txBody>
          <a:bodyPr wrap="square" lIns="0" tIns="0" rIns="0" bIns="0" rtlCol="0" anchor="ctr"/>
          <a:lstStyle/>
          <a:p>
            <a:pPr marL="0" indent="0">
              <a:buNone/>
            </a:pPr>
            <a:r>
              <a:rPr lang="en-US" sz="1600" b="1" dirty="0">
                <a:solidFill>
                  <a:srgbClr val="F6C343"/>
                </a:solidFill>
                <a:latin typeface="Trebuchet MS" pitchFamily="34" charset="0"/>
                <a:ea typeface="Trebuchet MS" pitchFamily="34" charset="-122"/>
                <a:cs typeface="Trebuchet MS" pitchFamily="34" charset="-120"/>
              </a:rPr>
              <a:t>Recommended Next Steps</a:t>
            </a:r>
            <a:endParaRPr lang="en-US" sz="1600" dirty="0"/>
          </a:p>
        </p:txBody>
      </p:sp>
      <p:sp>
        <p:nvSpPr>
          <p:cNvPr id="16" name="Text 10"/>
          <p:cNvSpPr/>
          <p:nvPr/>
        </p:nvSpPr>
        <p:spPr>
          <a:xfrm>
            <a:off x="4937760" y="1874520"/>
            <a:ext cx="201168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Expand Rewards Enrollment</a:t>
            </a:r>
            <a:endParaRPr lang="en-US" sz="1200" dirty="0"/>
          </a:p>
        </p:txBody>
      </p:sp>
      <p:sp>
        <p:nvSpPr>
          <p:cNvPr id="17" name="Text 11"/>
          <p:cNvSpPr/>
          <p:nvPr/>
        </p:nvSpPr>
        <p:spPr>
          <a:xfrm>
            <a:off x="7040880" y="1874520"/>
            <a:ext cx="1371600" cy="228600"/>
          </a:xfrm>
          <a:prstGeom prst="rect">
            <a:avLst/>
          </a:prstGeom>
          <a:noFill/>
          <a:ln/>
        </p:spPr>
        <p:txBody>
          <a:bodyPr wrap="square" lIns="0" tIns="0" rIns="0" bIns="0" rtlCol="0" anchor="ctr"/>
          <a:lstStyle/>
          <a:p>
            <a:pPr marL="0" indent="0" algn="r">
              <a:buNone/>
            </a:pPr>
            <a:r>
              <a:rPr lang="en-US" sz="1000" dirty="0">
                <a:solidFill>
                  <a:srgbClr val="2DD4BF"/>
                </a:solidFill>
                <a:latin typeface="Calibri" pitchFamily="34" charset="0"/>
                <a:ea typeface="Calibri" pitchFamily="34" charset="-122"/>
                <a:cs typeface="Calibri" pitchFamily="34" charset="-120"/>
              </a:rPr>
              <a:t>Q1</a:t>
            </a:r>
            <a:endParaRPr lang="en-US" sz="1000" dirty="0"/>
          </a:p>
        </p:txBody>
      </p:sp>
      <p:sp>
        <p:nvSpPr>
          <p:cNvPr id="18" name="Text 12"/>
          <p:cNvSpPr/>
          <p:nvPr/>
        </p:nvSpPr>
        <p:spPr>
          <a:xfrm>
            <a:off x="4937760" y="2103120"/>
            <a:ext cx="3474720" cy="27432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Offer sign-up incentives at checkout</a:t>
            </a:r>
          </a:p>
          <a:p>
            <a:pPr marL="0" indent="0">
              <a:buNone/>
            </a:pPr>
            <a:r>
              <a:rPr lang="en-US" sz="1000" dirty="0">
                <a:solidFill>
                  <a:srgbClr val="8B9CB6"/>
                </a:solidFill>
                <a:latin typeface="Calibri" pitchFamily="34" charset="0"/>
                <a:ea typeface="Calibri" pitchFamily="34" charset="-122"/>
                <a:cs typeface="Calibri" pitchFamily="34" charset="-120"/>
              </a:rPr>
              <a:t>Promote bonus point campaigns</a:t>
            </a:r>
            <a:endParaRPr lang="en-US" sz="1000" dirty="0"/>
          </a:p>
        </p:txBody>
      </p:sp>
      <p:sp>
        <p:nvSpPr>
          <p:cNvPr id="19" name="Text 13"/>
          <p:cNvSpPr/>
          <p:nvPr/>
        </p:nvSpPr>
        <p:spPr>
          <a:xfrm>
            <a:off x="4937759" y="2468880"/>
            <a:ext cx="2845273"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Launch Holiday Marketing Campaigns</a:t>
            </a:r>
            <a:endParaRPr lang="en-US" sz="1200" dirty="0"/>
          </a:p>
        </p:txBody>
      </p:sp>
      <p:sp>
        <p:nvSpPr>
          <p:cNvPr id="20" name="Text 14"/>
          <p:cNvSpPr/>
          <p:nvPr/>
        </p:nvSpPr>
        <p:spPr>
          <a:xfrm>
            <a:off x="7040880" y="2468880"/>
            <a:ext cx="1371600" cy="228600"/>
          </a:xfrm>
          <a:prstGeom prst="rect">
            <a:avLst/>
          </a:prstGeom>
          <a:noFill/>
          <a:ln/>
        </p:spPr>
        <p:txBody>
          <a:bodyPr wrap="square" lIns="0" tIns="0" rIns="0" bIns="0" rtlCol="0" anchor="ctr"/>
          <a:lstStyle/>
          <a:p>
            <a:pPr marL="0" indent="0" algn="r">
              <a:buNone/>
            </a:pPr>
            <a:r>
              <a:rPr lang="en-US" sz="1000" dirty="0">
                <a:solidFill>
                  <a:srgbClr val="2DD4BF"/>
                </a:solidFill>
                <a:latin typeface="Calibri" pitchFamily="34" charset="0"/>
                <a:ea typeface="Calibri" pitchFamily="34" charset="-122"/>
                <a:cs typeface="Calibri" pitchFamily="34" charset="-120"/>
              </a:rPr>
              <a:t>Q2</a:t>
            </a:r>
            <a:endParaRPr lang="en-US" sz="1000" dirty="0"/>
          </a:p>
        </p:txBody>
      </p:sp>
      <p:sp>
        <p:nvSpPr>
          <p:cNvPr id="21" name="Text 15"/>
          <p:cNvSpPr/>
          <p:nvPr/>
        </p:nvSpPr>
        <p:spPr>
          <a:xfrm>
            <a:off x="4937760" y="2697480"/>
            <a:ext cx="3474720" cy="27432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Focus on Technology &amp; Accessories</a:t>
            </a:r>
          </a:p>
          <a:p>
            <a:pPr marL="0" indent="0">
              <a:buNone/>
            </a:pPr>
            <a:r>
              <a:rPr lang="en-US" sz="1000" dirty="0">
                <a:solidFill>
                  <a:srgbClr val="8B9CB6"/>
                </a:solidFill>
                <a:latin typeface="Calibri" pitchFamily="34" charset="0"/>
                <a:ea typeface="Calibri" pitchFamily="34" charset="-122"/>
                <a:cs typeface="Calibri" pitchFamily="34" charset="-120"/>
              </a:rPr>
              <a:t>Start promotions before peak shopping periods</a:t>
            </a:r>
            <a:endParaRPr lang="en-US" sz="1000" dirty="0"/>
          </a:p>
        </p:txBody>
      </p:sp>
      <p:sp>
        <p:nvSpPr>
          <p:cNvPr id="22" name="Text 16"/>
          <p:cNvSpPr/>
          <p:nvPr/>
        </p:nvSpPr>
        <p:spPr>
          <a:xfrm>
            <a:off x="4937760" y="3063240"/>
            <a:ext cx="201168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Retain Top Customers</a:t>
            </a:r>
            <a:endParaRPr lang="en-US" sz="1200" dirty="0"/>
          </a:p>
        </p:txBody>
      </p:sp>
      <p:sp>
        <p:nvSpPr>
          <p:cNvPr id="23" name="Text 17"/>
          <p:cNvSpPr/>
          <p:nvPr/>
        </p:nvSpPr>
        <p:spPr>
          <a:xfrm>
            <a:off x="7040880" y="3063240"/>
            <a:ext cx="1371600" cy="228600"/>
          </a:xfrm>
          <a:prstGeom prst="rect">
            <a:avLst/>
          </a:prstGeom>
          <a:noFill/>
          <a:ln/>
        </p:spPr>
        <p:txBody>
          <a:bodyPr wrap="square" lIns="0" tIns="0" rIns="0" bIns="0" rtlCol="0" anchor="ctr"/>
          <a:lstStyle/>
          <a:p>
            <a:pPr marL="0" indent="0" algn="r">
              <a:buNone/>
            </a:pPr>
            <a:r>
              <a:rPr lang="en-US" sz="1000" dirty="0">
                <a:solidFill>
                  <a:srgbClr val="2DD4BF"/>
                </a:solidFill>
                <a:latin typeface="Calibri" pitchFamily="34" charset="0"/>
                <a:ea typeface="Calibri" pitchFamily="34" charset="-122"/>
                <a:cs typeface="Calibri" pitchFamily="34" charset="-120"/>
              </a:rPr>
              <a:t>Q3</a:t>
            </a:r>
            <a:endParaRPr lang="en-US" sz="1000" dirty="0"/>
          </a:p>
        </p:txBody>
      </p:sp>
      <p:sp>
        <p:nvSpPr>
          <p:cNvPr id="24" name="Text 18"/>
          <p:cNvSpPr/>
          <p:nvPr/>
        </p:nvSpPr>
        <p:spPr>
          <a:xfrm>
            <a:off x="4937760" y="3291840"/>
            <a:ext cx="3474720" cy="27432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Personalized offers</a:t>
            </a:r>
          </a:p>
          <a:p>
            <a:pPr marL="0" indent="0">
              <a:buNone/>
            </a:pPr>
            <a:r>
              <a:rPr lang="en-US" sz="1000" dirty="0">
                <a:solidFill>
                  <a:srgbClr val="8B9CB6"/>
                </a:solidFill>
                <a:latin typeface="Calibri" pitchFamily="34" charset="0"/>
                <a:ea typeface="Calibri" pitchFamily="34" charset="-122"/>
                <a:cs typeface="Calibri" pitchFamily="34" charset="-120"/>
              </a:rPr>
              <a:t>Exclusive rewards benefits</a:t>
            </a:r>
            <a:endParaRPr lang="en-US" sz="1000" dirty="0"/>
          </a:p>
        </p:txBody>
      </p:sp>
      <p:sp>
        <p:nvSpPr>
          <p:cNvPr id="25" name="Text 19"/>
          <p:cNvSpPr/>
          <p:nvPr/>
        </p:nvSpPr>
        <p:spPr>
          <a:xfrm>
            <a:off x="4937759" y="3657600"/>
            <a:ext cx="2668063"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Grow Lower Performing Categories</a:t>
            </a:r>
            <a:endParaRPr lang="en-US" sz="1200" dirty="0"/>
          </a:p>
        </p:txBody>
      </p:sp>
      <p:sp>
        <p:nvSpPr>
          <p:cNvPr id="26" name="Text 20"/>
          <p:cNvSpPr/>
          <p:nvPr/>
        </p:nvSpPr>
        <p:spPr>
          <a:xfrm>
            <a:off x="7040880" y="3657600"/>
            <a:ext cx="1371600" cy="228600"/>
          </a:xfrm>
          <a:prstGeom prst="rect">
            <a:avLst/>
          </a:prstGeom>
          <a:noFill/>
          <a:ln/>
        </p:spPr>
        <p:txBody>
          <a:bodyPr wrap="square" lIns="0" tIns="0" rIns="0" bIns="0" rtlCol="0" anchor="ctr"/>
          <a:lstStyle/>
          <a:p>
            <a:pPr marL="0" indent="0" algn="r">
              <a:buNone/>
            </a:pPr>
            <a:r>
              <a:rPr lang="en-US" sz="1000" dirty="0">
                <a:solidFill>
                  <a:srgbClr val="2DD4BF"/>
                </a:solidFill>
                <a:latin typeface="Calibri" pitchFamily="34" charset="0"/>
                <a:ea typeface="Calibri" pitchFamily="34" charset="-122"/>
                <a:cs typeface="Calibri" pitchFamily="34" charset="-120"/>
              </a:rPr>
              <a:t>Q4</a:t>
            </a:r>
            <a:endParaRPr lang="en-US" sz="1000" dirty="0"/>
          </a:p>
        </p:txBody>
      </p:sp>
      <p:sp>
        <p:nvSpPr>
          <p:cNvPr id="27" name="Text 21"/>
          <p:cNvSpPr/>
          <p:nvPr/>
        </p:nvSpPr>
        <p:spPr>
          <a:xfrm>
            <a:off x="4937760" y="3965625"/>
            <a:ext cx="3474720" cy="274320"/>
          </a:xfrm>
          <a:prstGeom prst="rect">
            <a:avLst/>
          </a:prstGeom>
          <a:noFill/>
          <a:ln/>
        </p:spPr>
        <p:txBody>
          <a:bodyPr wrap="square" lIns="0" tIns="0" rIns="0" bIns="0" rtlCol="0" anchor="ctr"/>
          <a:lstStyle/>
          <a:p>
            <a:pPr marL="0" indent="0">
              <a:buNone/>
            </a:pPr>
            <a:r>
              <a:rPr lang="en-US" sz="1000" dirty="0">
                <a:solidFill>
                  <a:srgbClr val="8B9CB6"/>
                </a:solidFill>
                <a:latin typeface="Calibri" pitchFamily="34" charset="0"/>
                <a:ea typeface="Calibri" pitchFamily="34" charset="-122"/>
                <a:cs typeface="Calibri" pitchFamily="34" charset="-120"/>
              </a:rPr>
              <a:t>Bundle products</a:t>
            </a:r>
          </a:p>
          <a:p>
            <a:pPr marL="0" indent="0">
              <a:buNone/>
            </a:pPr>
            <a:r>
              <a:rPr lang="en-US" sz="1000" dirty="0">
                <a:solidFill>
                  <a:srgbClr val="8B9CB6"/>
                </a:solidFill>
                <a:latin typeface="Calibri" pitchFamily="34" charset="0"/>
                <a:ea typeface="Calibri" pitchFamily="34" charset="-122"/>
                <a:cs typeface="Calibri" pitchFamily="34" charset="-120"/>
              </a:rPr>
              <a:t>Cross-sell during checkout</a:t>
            </a:r>
          </a:p>
          <a:p>
            <a:pPr marL="0" indent="0">
              <a:buNone/>
            </a:pPr>
            <a:r>
              <a:rPr lang="en-US" sz="1000" dirty="0">
                <a:solidFill>
                  <a:srgbClr val="8B9CB6"/>
                </a:solidFill>
                <a:latin typeface="Calibri" pitchFamily="34" charset="0"/>
                <a:ea typeface="Calibri" pitchFamily="34" charset="-122"/>
                <a:cs typeface="Calibri" pitchFamily="34" charset="-120"/>
              </a:rPr>
              <a:t>Category-specific discounts</a:t>
            </a:r>
            <a:endParaRPr lang="en-US" sz="1000" dirty="0"/>
          </a:p>
        </p:txBody>
      </p:sp>
      <p:pic>
        <p:nvPicPr>
          <p:cNvPr id="28" name="Image 3" descr="preencoded.png">
            <a:extLst>
              <a:ext uri="{FF2B5EF4-FFF2-40B4-BE49-F238E27FC236}">
                <a16:creationId xmlns:a16="http://schemas.microsoft.com/office/drawing/2014/main" id="{3EA8DB96-2F22-BD73-E26F-08E28517A0C1}"/>
              </a:ext>
            </a:extLst>
          </p:cNvPr>
          <p:cNvPicPr>
            <a:picLocks noChangeAspect="1"/>
          </p:cNvPicPr>
          <p:nvPr/>
        </p:nvPicPr>
        <p:blipFill>
          <a:blip r:embed="rId3"/>
          <a:stretch>
            <a:fillRect/>
          </a:stretch>
        </p:blipFill>
        <p:spPr>
          <a:xfrm>
            <a:off x="960120" y="3771900"/>
            <a:ext cx="201168" cy="201168"/>
          </a:xfrm>
          <a:prstGeom prst="rect">
            <a:avLst/>
          </a:prstGeom>
        </p:spPr>
      </p:pic>
      <p:sp>
        <p:nvSpPr>
          <p:cNvPr id="29" name="Text 6">
            <a:extLst>
              <a:ext uri="{FF2B5EF4-FFF2-40B4-BE49-F238E27FC236}">
                <a16:creationId xmlns:a16="http://schemas.microsoft.com/office/drawing/2014/main" id="{9A396F40-EB3B-0F44-819B-6938A680B709}"/>
              </a:ext>
            </a:extLst>
          </p:cNvPr>
          <p:cNvSpPr/>
          <p:nvPr/>
        </p:nvSpPr>
        <p:spPr>
          <a:xfrm>
            <a:off x="1266940" y="3118104"/>
            <a:ext cx="3063240" cy="54864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Only 10.4% of transactions were tied to rewards members, creating a major growth opportunity</a:t>
            </a:r>
            <a:endParaRPr lang="en-US" sz="1050" dirty="0"/>
          </a:p>
        </p:txBody>
      </p:sp>
      <p:pic>
        <p:nvPicPr>
          <p:cNvPr id="37" name="Graphic 36" descr="Footprints with solid fill">
            <a:extLst>
              <a:ext uri="{FF2B5EF4-FFF2-40B4-BE49-F238E27FC236}">
                <a16:creationId xmlns:a16="http://schemas.microsoft.com/office/drawing/2014/main" id="{C5199238-D85C-323E-7CAB-B3FA6A427C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58" y="4464683"/>
            <a:ext cx="437903" cy="375345"/>
          </a:xfrm>
          <a:prstGeom prst="rect">
            <a:avLst/>
          </a:prstGeom>
        </p:spPr>
      </p:pic>
      <p:pic>
        <p:nvPicPr>
          <p:cNvPr id="38" name="Graphic 37" descr="Upward trend with solid fill">
            <a:extLst>
              <a:ext uri="{FF2B5EF4-FFF2-40B4-BE49-F238E27FC236}">
                <a16:creationId xmlns:a16="http://schemas.microsoft.com/office/drawing/2014/main" id="{B610000F-4D34-F0AD-BCFA-E826551B68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758" y="3914601"/>
            <a:ext cx="437903" cy="375345"/>
          </a:xfrm>
          <a:prstGeom prst="rect">
            <a:avLst/>
          </a:prstGeom>
        </p:spPr>
      </p:pic>
      <p:pic>
        <p:nvPicPr>
          <p:cNvPr id="39" name="Graphic 38" descr="Trophy with solid fill">
            <a:extLst>
              <a:ext uri="{FF2B5EF4-FFF2-40B4-BE49-F238E27FC236}">
                <a16:creationId xmlns:a16="http://schemas.microsoft.com/office/drawing/2014/main" id="{781ED7CF-0417-6C80-C2A1-0612BBBA32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759" y="3275963"/>
            <a:ext cx="437903" cy="375345"/>
          </a:xfrm>
          <a:prstGeom prst="rect">
            <a:avLst/>
          </a:prstGeom>
        </p:spPr>
      </p:pic>
      <p:pic>
        <p:nvPicPr>
          <p:cNvPr id="40" name="Graphic 39" descr="Inventory with solid fill">
            <a:extLst>
              <a:ext uri="{FF2B5EF4-FFF2-40B4-BE49-F238E27FC236}">
                <a16:creationId xmlns:a16="http://schemas.microsoft.com/office/drawing/2014/main" id="{987B9EB0-6005-4AEF-3AD2-43B14411112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60" y="2636553"/>
            <a:ext cx="437903" cy="375345"/>
          </a:xfrm>
          <a:prstGeom prst="rect">
            <a:avLst/>
          </a:prstGeom>
        </p:spPr>
      </p:pic>
      <p:pic>
        <p:nvPicPr>
          <p:cNvPr id="41" name="Graphic 40" descr="Topography Map with solid fill">
            <a:extLst>
              <a:ext uri="{FF2B5EF4-FFF2-40B4-BE49-F238E27FC236}">
                <a16:creationId xmlns:a16="http://schemas.microsoft.com/office/drawing/2014/main" id="{6D557BC3-5270-8E25-AB3E-71AC589712B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757" y="1992919"/>
            <a:ext cx="437903" cy="375345"/>
          </a:xfrm>
          <a:prstGeom prst="rect">
            <a:avLst/>
          </a:prstGeom>
        </p:spPr>
      </p:pic>
      <p:pic>
        <p:nvPicPr>
          <p:cNvPr id="42" name="Graphic 41" descr="Soap with solid fill">
            <a:extLst>
              <a:ext uri="{FF2B5EF4-FFF2-40B4-BE49-F238E27FC236}">
                <a16:creationId xmlns:a16="http://schemas.microsoft.com/office/drawing/2014/main" id="{351C1A0B-54FA-ABFF-53C5-2E6F62EF5F8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757" y="1354281"/>
            <a:ext cx="437903" cy="375345"/>
          </a:xfrm>
          <a:prstGeom prst="rect">
            <a:avLst/>
          </a:prstGeom>
        </p:spPr>
      </p:pic>
      <p:pic>
        <p:nvPicPr>
          <p:cNvPr id="43" name="Graphic 42" descr="List with solid fill">
            <a:extLst>
              <a:ext uri="{FF2B5EF4-FFF2-40B4-BE49-F238E27FC236}">
                <a16:creationId xmlns:a16="http://schemas.microsoft.com/office/drawing/2014/main" id="{4755EEA9-11CC-E6E0-C228-61606C6505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63" y="715643"/>
            <a:ext cx="437903" cy="37534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E30"/>
        </a:solidFill>
        <a:effectLst/>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2DD4BF">
              <a:alpha val="8000"/>
            </a:srgbClr>
          </a:solidFill>
          <a:ln/>
        </p:spPr>
        <p:txBody>
          <a:bodyPr/>
          <a:lstStyle/>
          <a:p>
            <a:endParaRPr lang="en-US"/>
          </a:p>
        </p:txBody>
      </p:sp>
      <p:sp>
        <p:nvSpPr>
          <p:cNvPr id="3" name="Shape 1"/>
          <p:cNvSpPr/>
          <p:nvPr/>
        </p:nvSpPr>
        <p:spPr>
          <a:xfrm>
            <a:off x="6858000" y="2286000"/>
            <a:ext cx="3657600" cy="3657600"/>
          </a:xfrm>
          <a:prstGeom prst="ellipse">
            <a:avLst/>
          </a:prstGeom>
          <a:solidFill>
            <a:srgbClr val="F6C343">
              <a:alpha val="6000"/>
            </a:srgbClr>
          </a:solidFill>
          <a:ln/>
        </p:spPr>
        <p:txBody>
          <a:bodyPr/>
          <a:lstStyle/>
          <a:p>
            <a:endParaRPr lang="en-US"/>
          </a:p>
        </p:txBody>
      </p:sp>
      <p:sp>
        <p:nvSpPr>
          <p:cNvPr id="4" name="Title"/>
          <p:cNvSpPr/>
          <p:nvPr/>
        </p:nvSpPr>
        <p:spPr>
          <a:xfrm>
            <a:off x="731520" y="640080"/>
            <a:ext cx="7680960" cy="1188720"/>
          </a:xfrm>
          <a:prstGeom prst="rect">
            <a:avLst/>
          </a:prstGeom>
          <a:noFill/>
          <a:ln/>
        </p:spPr>
        <p:txBody>
          <a:bodyPr wrap="square" lIns="0" tIns="0" rIns="0" bIns="0" rtlCol="0" anchor="b"/>
          <a:lstStyle/>
          <a:p>
            <a:pPr marL="0" indent="0">
              <a:buNone/>
            </a:pPr>
            <a:r>
              <a:rPr lang="en-US" sz="4400" b="1">
                <a:solidFill>
                  <a:srgbClr val="FFFFFF"/>
                </a:solidFill>
                <a:latin typeface="Trebuchet MS" pitchFamily="34" charset="0"/>
                <a:ea typeface="Trebuchet MS" pitchFamily="34" charset="-122"/>
                <a:cs typeface="Trebuchet MS" pitchFamily="34" charset="-120"/>
              </a:rPr>
              <a:t>Thank You</a:t>
            </a:r>
          </a:p>
        </p:txBody>
      </p:sp>
      <p:sp>
        <p:nvSpPr>
          <p:cNvPr id="5" name="Subtitle"/>
          <p:cNvSpPr/>
          <p:nvPr/>
        </p:nvSpPr>
        <p:spPr>
          <a:xfrm>
            <a:off x="731520" y="1828800"/>
            <a:ext cx="7680960" cy="365760"/>
          </a:xfrm>
          <a:prstGeom prst="rect">
            <a:avLst/>
          </a:prstGeom>
          <a:noFill/>
          <a:ln/>
        </p:spPr>
        <p:txBody>
          <a:bodyPr wrap="square" lIns="0" tIns="0" rIns="0" bIns="0" rtlCol="0" anchor="t"/>
          <a:lstStyle/>
          <a:p>
            <a:pPr marL="0" indent="0">
              <a:buNone/>
            </a:pPr>
            <a:r>
              <a:rPr lang="en-US" sz="1600">
                <a:solidFill>
                  <a:srgbClr val="8B9CB6"/>
                </a:solidFill>
                <a:latin typeface="Calibri" pitchFamily="34" charset="0"/>
                <a:ea typeface="Calibri" pitchFamily="34" charset="-122"/>
                <a:cs typeface="Calibri" pitchFamily="34" charset="-120"/>
              </a:rPr>
              <a:t>EmporiUm Sales Analysis  |  May 2026</a:t>
            </a:r>
          </a:p>
        </p:txBody>
      </p:sp>
      <p:sp>
        <p:nvSpPr>
          <p:cNvPr id="6" name="Divider"/>
          <p:cNvSpPr/>
          <p:nvPr/>
        </p:nvSpPr>
        <p:spPr>
          <a:xfrm>
            <a:off x="731520" y="2377440"/>
            <a:ext cx="2286000" cy="36576"/>
          </a:xfrm>
          <a:prstGeom prst="rect">
            <a:avLst/>
          </a:prstGeom>
          <a:solidFill>
            <a:srgbClr val="2DD4BF"/>
          </a:solidFill>
          <a:ln/>
        </p:spPr>
        <p:txBody>
          <a:bodyPr/>
          <a:lstStyle/>
          <a:p>
            <a:endParaRPr lang="en-US"/>
          </a:p>
        </p:txBody>
      </p:sp>
      <p:sp>
        <p:nvSpPr>
          <p:cNvPr id="7" name="Name"/>
          <p:cNvSpPr/>
          <p:nvPr/>
        </p:nvSpPr>
        <p:spPr>
          <a:xfrm>
            <a:off x="731520" y="2560320"/>
            <a:ext cx="5943600" cy="365760"/>
          </a:xfrm>
          <a:prstGeom prst="rect">
            <a:avLst/>
          </a:prstGeom>
          <a:noFill/>
          <a:ln/>
        </p:spPr>
        <p:txBody>
          <a:bodyPr wrap="square" lIns="0" tIns="0" rIns="0" bIns="0" rtlCol="0" anchor="t"/>
          <a:lstStyle/>
          <a:p>
            <a:pPr marL="0" indent="0">
              <a:buNone/>
            </a:pPr>
            <a:r>
              <a:rPr lang="en-US" sz="1800" b="1">
                <a:solidFill>
                  <a:srgbClr val="2DD4BF"/>
                </a:solidFill>
                <a:latin typeface="Calibri" pitchFamily="34" charset="0"/>
                <a:ea typeface="Calibri" pitchFamily="34" charset="-122"/>
                <a:cs typeface="Calibri" pitchFamily="34" charset="-120"/>
              </a:rPr>
              <a:t>Jordan Worrobah</a:t>
            </a:r>
          </a:p>
        </p:txBody>
      </p:sp>
      <p:sp>
        <p:nvSpPr>
          <p:cNvPr id="8" name="Role"/>
          <p:cNvSpPr/>
          <p:nvPr/>
        </p:nvSpPr>
        <p:spPr>
          <a:xfrm>
            <a:off x="731520" y="2926080"/>
            <a:ext cx="5943600" cy="274320"/>
          </a:xfrm>
          <a:prstGeom prst="rect">
            <a:avLst/>
          </a:prstGeom>
          <a:noFill/>
          <a:ln/>
        </p:spPr>
        <p:txBody>
          <a:bodyPr wrap="square" lIns="0" tIns="0" rIns="0" bIns="0" rtlCol="0" anchor="t"/>
          <a:lstStyle/>
          <a:p>
            <a:pPr marL="0" indent="0">
              <a:buNone/>
            </a:pPr>
            <a:r>
              <a:rPr lang="en-US" sz="1400">
                <a:solidFill>
                  <a:srgbClr val="8B9CB6"/>
                </a:solidFill>
                <a:latin typeface="Calibri" pitchFamily="34" charset="0"/>
                <a:ea typeface="Calibri" pitchFamily="34" charset="-122"/>
                <a:cs typeface="Calibri" pitchFamily="34" charset="-120"/>
              </a:rPr>
              <a:t>Year Up United Data Analytics Academy</a:t>
            </a:r>
          </a:p>
        </p:txBody>
      </p:sp>
      <p:sp>
        <p:nvSpPr>
          <p:cNvPr id="9" name="Contact"/>
          <p:cNvSpPr/>
          <p:nvPr/>
        </p:nvSpPr>
        <p:spPr>
          <a:xfrm>
            <a:off x="731520" y="3383280"/>
            <a:ext cx="5943600" cy="914400"/>
          </a:xfrm>
          <a:prstGeom prst="rect">
            <a:avLst/>
          </a:prstGeom>
          <a:noFill/>
          <a:ln/>
        </p:spPr>
        <p:txBody>
          <a:bodyPr wrap="square" lIns="0" tIns="0" rIns="0" bIns="0" rtlCol="0" anchor="t"/>
          <a:lstStyle/>
          <a:p>
            <a:pPr marL="0" indent="0">
              <a:lnSpc>
                <a:spcPct val="180000"/>
              </a:lnSpc>
              <a:buNone/>
            </a:pPr>
            <a:r>
              <a:rPr lang="en-US" sz="1200" b="1" dirty="0">
                <a:solidFill>
                  <a:srgbClr val="FFFFFF"/>
                </a:solidFill>
                <a:latin typeface="Calibri" pitchFamily="34" charset="0"/>
                <a:ea typeface="Calibri" pitchFamily="34" charset="-122"/>
                <a:cs typeface="Calibri" pitchFamily="34" charset="-120"/>
              </a:rPr>
              <a:t>Email:</a:t>
            </a:r>
            <a:r>
              <a:rPr lang="en-US" sz="1200" dirty="0">
                <a:solidFill>
                  <a:srgbClr val="8B9CB6"/>
                </a:solidFill>
                <a:latin typeface="Calibri" pitchFamily="34" charset="0"/>
                <a:ea typeface="Calibri" pitchFamily="34" charset="-122"/>
                <a:cs typeface="Calibri" pitchFamily="34" charset="-120"/>
              </a:rPr>
              <a:t>  JordanWorrobah@gmail.com</a:t>
            </a:r>
          </a:p>
          <a:p>
            <a:pPr>
              <a:lnSpc>
                <a:spcPct val="180000"/>
              </a:lnSpc>
            </a:pPr>
            <a:r>
              <a:rPr lang="en-US" sz="1200" b="1" dirty="0">
                <a:solidFill>
                  <a:srgbClr val="FFFFFF"/>
                </a:solidFill>
                <a:latin typeface="Calibri" pitchFamily="34" charset="0"/>
                <a:ea typeface="Calibri" pitchFamily="34" charset="-122"/>
                <a:cs typeface="Calibri" pitchFamily="34" charset="-120"/>
              </a:rPr>
              <a:t>LinkedIn:</a:t>
            </a:r>
            <a:r>
              <a:rPr lang="en-US" sz="1200" dirty="0">
                <a:solidFill>
                  <a:srgbClr val="8B9CB6"/>
                </a:solidFill>
                <a:latin typeface="Calibri" pitchFamily="34" charset="0"/>
                <a:ea typeface="Calibri" pitchFamily="34" charset="-122"/>
                <a:cs typeface="Calibri" pitchFamily="34" charset="-120"/>
              </a:rPr>
              <a:t>  </a:t>
            </a:r>
            <a:r>
              <a:rPr lang="en-US" sz="1200" dirty="0">
                <a:solidFill>
                  <a:srgbClr val="8B9CB6"/>
                </a:solidFill>
                <a:latin typeface="Calibri" pitchFamily="34" charset="0"/>
                <a:ea typeface="Calibri" pitchFamily="34" charset="-122"/>
                <a:cs typeface="Calibri" pitchFamily="34" charset="-120"/>
                <a:hlinkClick r:id="rId2"/>
              </a:rPr>
              <a:t>Jordan Worrobah</a:t>
            </a:r>
            <a:endParaRPr lang="en-US" sz="1200" dirty="0">
              <a:solidFill>
                <a:srgbClr val="8B9CB6"/>
              </a:solidFill>
              <a:latin typeface="Calibri" pitchFamily="34" charset="0"/>
              <a:ea typeface="Calibri" pitchFamily="34" charset="-122"/>
              <a:cs typeface="Calibri" pitchFamily="34" charset="-120"/>
            </a:endParaRPr>
          </a:p>
          <a:p>
            <a:pPr>
              <a:lnSpc>
                <a:spcPct val="180000"/>
              </a:lnSpc>
            </a:pPr>
            <a:r>
              <a:rPr lang="en-US" sz="1200" b="1" dirty="0">
                <a:solidFill>
                  <a:srgbClr val="FFFFFF"/>
                </a:solidFill>
                <a:latin typeface="Calibri" pitchFamily="34" charset="0"/>
                <a:ea typeface="Calibri" pitchFamily="34" charset="-122"/>
                <a:cs typeface="Calibri" pitchFamily="34" charset="-120"/>
              </a:rPr>
              <a:t>Date:</a:t>
            </a:r>
            <a:r>
              <a:rPr lang="en-US" sz="1200" dirty="0">
                <a:solidFill>
                  <a:srgbClr val="8B9CB6"/>
                </a:solidFill>
                <a:latin typeface="Calibri" pitchFamily="34" charset="0"/>
                <a:ea typeface="Calibri" pitchFamily="34" charset="-122"/>
                <a:cs typeface="Calibri" pitchFamily="34" charset="-120"/>
              </a:rPr>
              <a:t>  May 2026</a:t>
            </a:r>
          </a:p>
          <a:p>
            <a:pPr>
              <a:lnSpc>
                <a:spcPct val="180000"/>
              </a:lnSpc>
            </a:pPr>
            <a:r>
              <a:rPr lang="en-US" sz="1200" b="1" dirty="0">
                <a:solidFill>
                  <a:schemeClr val="bg1"/>
                </a:solidFill>
                <a:latin typeface="Calibri" pitchFamily="34" charset="0"/>
                <a:ea typeface="Calibri" pitchFamily="34" charset="-122"/>
                <a:cs typeface="Calibri" pitchFamily="34" charset="-120"/>
              </a:rPr>
              <a:t>GitHub: </a:t>
            </a:r>
            <a:r>
              <a:rPr lang="en-US" sz="1200" dirty="0">
                <a:solidFill>
                  <a:srgbClr val="8B9CB6"/>
                </a:solidFill>
                <a:latin typeface="Calibri" pitchFamily="34" charset="0"/>
                <a:ea typeface="Calibri" pitchFamily="34" charset="-122"/>
                <a:cs typeface="Calibri" pitchFamily="34" charset="-120"/>
              </a:rPr>
              <a:t>https://github.com/Fire-Cricket</a:t>
            </a:r>
          </a:p>
        </p:txBody>
      </p:sp>
    </p:spTree>
    <p:extLst>
      <p:ext uri="{BB962C8B-B14F-4D97-AF65-F5344CB8AC3E}">
        <p14:creationId xmlns:p14="http://schemas.microsoft.com/office/powerpoint/2010/main" val="3967012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602</TotalTime>
  <Words>2128</Words>
  <Application>Microsoft Office PowerPoint</Application>
  <PresentationFormat>On-screen Show (16:9)</PresentationFormat>
  <Paragraphs>425</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worrobah</dc:creator>
  <cp:lastModifiedBy>jordan worrobah</cp:lastModifiedBy>
  <cp:revision>10</cp:revision>
  <dcterms:created xsi:type="dcterms:W3CDTF">2026-05-28T20:01:05Z</dcterms:created>
  <dcterms:modified xsi:type="dcterms:W3CDTF">2026-05-29T06:03:42Z</dcterms:modified>
</cp:coreProperties>
</file>